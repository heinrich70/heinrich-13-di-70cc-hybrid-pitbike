
<file path=[Content_Types].xml><?xml version="1.0" encoding="utf-8"?>
<Types xmlns="http://schemas.openxmlformats.org/package/2006/content-types">
  <Default Extension="jpeg" ContentType="image/jpeg"/>
  <Default Extension="MOV" ContentType="video/quicktime"/>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1_FFE3B6F5.xml" ContentType="application/vnd.ms-powerpoint.comments+xml"/>
  <Override PartName="/ppt/comments/modernComment_102_8F82B503.xml" ContentType="application/vnd.ms-powerpoint.comments+xml"/>
  <Override PartName="/ppt/comments/modernComment_10D_B08B0791.xml" ContentType="application/vnd.ms-powerpoint.comments+xml"/>
  <Override PartName="/ppt/comments/modernComment_11D_F491498A.xml" ContentType="application/vnd.ms-powerpoint.comments+xml"/>
  <Override PartName="/ppt/comments/modernComment_117_E97C5DDB.xml" ContentType="application/vnd.ms-powerpoint.comments+xml"/>
  <Override PartName="/ppt/comments/modernComment_120_B005E26D.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97" r:id="rId8"/>
    <p:sldId id="285" r:id="rId9"/>
    <p:sldId id="268" r:id="rId10"/>
    <p:sldId id="261" r:id="rId11"/>
    <p:sldId id="287" r:id="rId12"/>
    <p:sldId id="279" r:id="rId13"/>
    <p:sldId id="303" r:id="rId14"/>
    <p:sldId id="304" r:id="rId15"/>
    <p:sldId id="289" r:id="rId16"/>
    <p:sldId id="280" r:id="rId17"/>
    <p:sldId id="288" r:id="rId18"/>
    <p:sldId id="292" r:id="rId19"/>
    <p:sldId id="302" r:id="rId20"/>
    <p:sldId id="294" r:id="rId21"/>
    <p:sldId id="295" r:id="rId22"/>
    <p:sldId id="296" r:id="rId23"/>
    <p:sldId id="298" r:id="rId24"/>
    <p:sldId id="299" r:id="rId25"/>
    <p:sldId id="300" r:id="rId26"/>
    <p:sldId id="282" r:id="rId27"/>
    <p:sldId id="277" r:id="rId28"/>
    <p:sldId id="265" r:id="rId29"/>
    <p:sldId id="266" r:id="rId30"/>
    <p:sldId id="278" r:id="rId31"/>
    <p:sldId id="283"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C077F8-8573-EEE0-B7B7-42F83088B50D}" name="Heinrich Venter" initials="HV" userId="694de3c8351853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B3EF88-C134-4ECF-A8E1-33D5E10640B0}" v="107" dt="2026-10-23T10:57:31.24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64" autoAdjust="0"/>
    <p:restoredTop sz="94660"/>
  </p:normalViewPr>
  <p:slideViewPr>
    <p:cSldViewPr snapToGrid="0">
      <p:cViewPr varScale="1">
        <p:scale>
          <a:sx n="105" d="100"/>
          <a:sy n="105" d="100"/>
        </p:scale>
        <p:origin x="100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8/10/relationships/authors" Target="authors.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sldOrd">
      <pc:chgData name="Heinrich Venter" userId="694de3c83518532c" providerId="LiveId" clId="{10CD68D7-CBE1-4750-A2D1-7DEE064E9363}" dt="2026-10-23T11:02:14.707" v="12865" actId="20577"/>
      <pc:docMkLst>
        <pc:docMk/>
      </pc:docMkLst>
      <pc:sldChg chg="modSp mod">
        <pc:chgData name="Heinrich Venter" userId="694de3c83518532c" providerId="LiveId" clId="{10CD68D7-CBE1-4750-A2D1-7DEE064E9363}" dt="2026-10-21T10:38:19.606" v="11474" actId="20577"/>
        <pc:sldMkLst>
          <pc:docMk/>
          <pc:sldMk cId="730004332" sldId="256"/>
        </pc:sldMkLst>
        <pc:spChg chg="mod">
          <ac:chgData name="Heinrich Venter" userId="694de3c83518532c" providerId="LiveId" clId="{10CD68D7-CBE1-4750-A2D1-7DEE064E9363}" dt="2026-10-21T10:38:19.606" v="11474" actId="20577"/>
          <ac:spMkLst>
            <pc:docMk/>
            <pc:sldMk cId="730004332" sldId="256"/>
            <ac:spMk id="3" creationId="{F66D802B-CDB6-E9D2-44F0-86BC0E80FB38}"/>
          </ac:spMkLst>
        </pc:spChg>
      </pc:sldChg>
      <pc:sldChg chg="modSp mod">
        <pc:chgData name="Heinrich Venter" userId="694de3c83518532c" providerId="LiveId" clId="{10CD68D7-CBE1-4750-A2D1-7DEE064E9363}" dt="2026-10-10T22:13:37.923" v="10666" actId="20577"/>
        <pc:sldMkLst>
          <pc:docMk/>
          <pc:sldMk cId="4293113589" sldId="257"/>
        </pc:sldMkLst>
        <pc:spChg chg="mod">
          <ac:chgData name="Heinrich Venter" userId="694de3c83518532c" providerId="LiveId" clId="{10CD68D7-CBE1-4750-A2D1-7DEE064E9363}" dt="2026-10-10T22:13:37.923" v="10666" actId="20577"/>
          <ac:spMkLst>
            <pc:docMk/>
            <pc:sldMk cId="4293113589" sldId="257"/>
            <ac:spMk id="3" creationId="{EB73A0B0-8C2E-99B2-DFB1-974EF0CDEB52}"/>
          </ac:spMkLst>
        </pc:spChg>
      </pc:sldChg>
      <pc:sldChg chg="modSp mod">
        <pc:chgData name="Heinrich Venter" userId="694de3c83518532c" providerId="LiveId" clId="{10CD68D7-CBE1-4750-A2D1-7DEE064E9363}" dt="2026-10-10T21:13:59.022" v="10373" actId="20577"/>
        <pc:sldMkLst>
          <pc:docMk/>
          <pc:sldMk cId="2407707907" sldId="258"/>
        </pc:sldMkLst>
        <pc:spChg chg="mod">
          <ac:chgData name="Heinrich Venter" userId="694de3c83518532c" providerId="LiveId" clId="{10CD68D7-CBE1-4750-A2D1-7DEE064E9363}" dt="2026-10-10T21:13:59.022" v="10373" actId="20577"/>
          <ac:spMkLst>
            <pc:docMk/>
            <pc:sldMk cId="2407707907" sldId="258"/>
            <ac:spMk id="3" creationId="{48517805-ABAD-9125-D5EB-9C37B582DC52}"/>
          </ac:spMkLst>
        </pc:spChg>
      </pc:sldChg>
      <pc:sldChg chg="modSp mod">
        <pc:chgData name="Heinrich Venter" userId="694de3c83518532c" providerId="LiveId" clId="{10CD68D7-CBE1-4750-A2D1-7DEE064E9363}" dt="2026-10-23T10:59:55.603" v="12658" actId="255"/>
        <pc:sldMkLst>
          <pc:docMk/>
          <pc:sldMk cId="4279029636" sldId="259"/>
        </pc:sldMkLst>
        <pc:graphicFrameChg chg="mod modGraphic">
          <ac:chgData name="Heinrich Venter" userId="694de3c83518532c" providerId="LiveId" clId="{10CD68D7-CBE1-4750-A2D1-7DEE064E9363}" dt="2026-10-23T10:59:55.603" v="12658" actId="255"/>
          <ac:graphicFrameMkLst>
            <pc:docMk/>
            <pc:sldMk cId="4279029636" sldId="259"/>
            <ac:graphicFrameMk id="5" creationId="{F519459D-F748-3377-4E55-D51E89AF6AC2}"/>
          </ac:graphicFrameMkLst>
        </pc:graphicFrameChg>
      </pc:sldChg>
      <pc:sldChg chg="modSp mod">
        <pc:chgData name="Heinrich Venter" userId="694de3c83518532c" providerId="LiveId" clId="{10CD68D7-CBE1-4750-A2D1-7DEE064E9363}" dt="2026-10-23T05:46:09.678" v="12022" actId="20577"/>
        <pc:sldMkLst>
          <pc:docMk/>
          <pc:sldMk cId="1182900355" sldId="266"/>
        </pc:sldMkLst>
        <pc:spChg chg="mod">
          <ac:chgData name="Heinrich Venter" userId="694de3c83518532c" providerId="LiveId" clId="{10CD68D7-CBE1-4750-A2D1-7DEE064E9363}" dt="2026-10-23T03:16:09.631" v="11975" actId="1076"/>
          <ac:spMkLst>
            <pc:docMk/>
            <pc:sldMk cId="1182900355" sldId="266"/>
            <ac:spMk id="6" creationId="{5BAC52E2-2C3C-BC90-EF54-64DBDDEEF08B}"/>
          </ac:spMkLst>
        </pc:spChg>
        <pc:graphicFrameChg chg="mod modGraphic">
          <ac:chgData name="Heinrich Venter" userId="694de3c83518532c" providerId="LiveId" clId="{10CD68D7-CBE1-4750-A2D1-7DEE064E9363}" dt="2026-10-23T05:46:09.678" v="12022" actId="20577"/>
          <ac:graphicFrameMkLst>
            <pc:docMk/>
            <pc:sldMk cId="1182900355" sldId="266"/>
            <ac:graphicFrameMk id="4" creationId="{F61ED25F-F8C6-770A-0FAD-E0AAB8D900DA}"/>
          </ac:graphicFrameMkLst>
        </pc:graphicFrameChg>
      </pc:sldChg>
      <pc:sldChg chg="addSp delSp modSp mod">
        <pc:chgData name="Heinrich Venter" userId="694de3c83518532c" providerId="LiveId" clId="{10CD68D7-CBE1-4750-A2D1-7DEE064E9363}" dt="2026-10-10T21:56:43.140" v="10380" actId="1076"/>
        <pc:sldMkLst>
          <pc:docMk/>
          <pc:sldMk cId="974559019" sldId="268"/>
        </pc:sldMkLst>
        <pc:picChg chg="add mod">
          <ac:chgData name="Heinrich Venter" userId="694de3c83518532c" providerId="LiveId" clId="{10CD68D7-CBE1-4750-A2D1-7DEE064E9363}" dt="2026-10-10T21:56:43.140" v="10380" actId="1076"/>
          <ac:picMkLst>
            <pc:docMk/>
            <pc:sldMk cId="974559019" sldId="268"/>
            <ac:picMk id="8" creationId="{A92DCFDB-72A7-6C02-0E60-B8B3F2A80071}"/>
          </ac:picMkLst>
        </pc:picChg>
      </pc:sldChg>
      <pc:sldChg chg="modSp mod">
        <pc:chgData name="Heinrich Venter" userId="694de3c83518532c" providerId="LiveId" clId="{10CD68D7-CBE1-4750-A2D1-7DEE064E9363}" dt="2026-10-23T05:51:23.696" v="12054" actId="255"/>
        <pc:sldMkLst>
          <pc:docMk/>
          <pc:sldMk cId="3713859363" sldId="278"/>
        </pc:sldMkLst>
        <pc:graphicFrameChg chg="mod modGraphic">
          <ac:chgData name="Heinrich Venter" userId="694de3c83518532c" providerId="LiveId" clId="{10CD68D7-CBE1-4750-A2D1-7DEE064E9363}" dt="2026-10-23T05:51:23.696" v="12054" actId="255"/>
          <ac:graphicFrameMkLst>
            <pc:docMk/>
            <pc:sldMk cId="3713859363" sldId="278"/>
            <ac:graphicFrameMk id="6" creationId="{613A281D-E603-3C09-229D-4F4B7BF80DC1}"/>
          </ac:graphicFrameMkLst>
        </pc:graphicFrameChg>
      </pc:sldChg>
      <pc:sldChg chg="addSp delSp modSp mod">
        <pc:chgData name="Heinrich Venter" userId="694de3c83518532c" providerId="LiveId" clId="{10CD68D7-CBE1-4750-A2D1-7DEE064E9363}" dt="2026-10-23T10:53:22.299" v="12558" actId="20577"/>
        <pc:sldMkLst>
          <pc:docMk/>
          <pc:sldMk cId="3917241819" sldId="279"/>
        </pc:sldMkLst>
        <pc:spChg chg="mod">
          <ac:chgData name="Heinrich Venter" userId="694de3c83518532c" providerId="LiveId" clId="{10CD68D7-CBE1-4750-A2D1-7DEE064E9363}" dt="2026-10-10T22:26:12.307" v="10692" actId="20577"/>
          <ac:spMkLst>
            <pc:docMk/>
            <pc:sldMk cId="3917241819" sldId="279"/>
            <ac:spMk id="3" creationId="{109C2FE0-6991-DDAF-C4F7-B3415EC34474}"/>
          </ac:spMkLst>
        </pc:spChg>
        <pc:spChg chg="mod">
          <ac:chgData name="Heinrich Venter" userId="694de3c83518532c" providerId="LiveId" clId="{10CD68D7-CBE1-4750-A2D1-7DEE064E9363}" dt="2026-10-23T10:53:22.299" v="12558" actId="20577"/>
          <ac:spMkLst>
            <pc:docMk/>
            <pc:sldMk cId="3917241819" sldId="279"/>
            <ac:spMk id="5" creationId="{F10EB81D-A986-42AD-847E-FF3A1F656CEB}"/>
          </ac:spMkLst>
        </pc:spChg>
        <pc:picChg chg="add mod">
          <ac:chgData name="Heinrich Venter" userId="694de3c83518532c" providerId="LiveId" clId="{10CD68D7-CBE1-4750-A2D1-7DEE064E9363}" dt="2026-10-10T22:21:42.482" v="10688" actId="1076"/>
          <ac:picMkLst>
            <pc:docMk/>
            <pc:sldMk cId="3917241819" sldId="279"/>
            <ac:picMk id="7" creationId="{6A8339F2-099A-A5DA-1381-4B912633BE7E}"/>
          </ac:picMkLst>
        </pc:picChg>
      </pc:sldChg>
      <pc:sldChg chg="modSp mod">
        <pc:chgData name="Heinrich Venter" userId="694de3c83518532c" providerId="LiveId" clId="{10CD68D7-CBE1-4750-A2D1-7DEE064E9363}" dt="2026-10-10T22:42:22.516" v="11218" actId="20577"/>
        <pc:sldMkLst>
          <pc:docMk/>
          <pc:sldMk cId="3469156485" sldId="280"/>
        </pc:sldMkLst>
        <pc:spChg chg="mod">
          <ac:chgData name="Heinrich Venter" userId="694de3c83518532c" providerId="LiveId" clId="{10CD68D7-CBE1-4750-A2D1-7DEE064E9363}" dt="2026-10-10T22:41:33.684" v="11117" actId="20577"/>
          <ac:spMkLst>
            <pc:docMk/>
            <pc:sldMk cId="3469156485" sldId="280"/>
            <ac:spMk id="5" creationId="{50C57F65-7853-E45D-CA58-31BCC9DE7B02}"/>
          </ac:spMkLst>
        </pc:spChg>
        <pc:spChg chg="mod">
          <ac:chgData name="Heinrich Venter" userId="694de3c83518532c" providerId="LiveId" clId="{10CD68D7-CBE1-4750-A2D1-7DEE064E9363}" dt="2026-10-10T22:42:22.516" v="11218" actId="20577"/>
          <ac:spMkLst>
            <pc:docMk/>
            <pc:sldMk cId="3469156485" sldId="280"/>
            <ac:spMk id="11" creationId="{E3D936A8-CA08-48BB-AA98-F3A8B43B31CF}"/>
          </ac:spMkLst>
        </pc:spChg>
      </pc:sldChg>
      <pc:sldChg chg="modSp mod">
        <pc:chgData name="Heinrich Venter" userId="694de3c83518532c" providerId="LiveId" clId="{10CD68D7-CBE1-4750-A2D1-7DEE064E9363}" dt="2026-10-23T05:55:05.374" v="12071" actId="255"/>
        <pc:sldMkLst>
          <pc:docMk/>
          <pc:sldMk cId="3830495599" sldId="283"/>
        </pc:sldMkLst>
        <pc:spChg chg="mod">
          <ac:chgData name="Heinrich Venter" userId="694de3c83518532c" providerId="LiveId" clId="{10CD68D7-CBE1-4750-A2D1-7DEE064E9363}" dt="2026-10-23T05:54:08.107" v="12058" actId="27636"/>
          <ac:spMkLst>
            <pc:docMk/>
            <pc:sldMk cId="3830495599" sldId="283"/>
            <ac:spMk id="3" creationId="{5A1D233B-220B-493E-C461-4F4088BAB28F}"/>
          </ac:spMkLst>
        </pc:spChg>
        <pc:spChg chg="mod">
          <ac:chgData name="Heinrich Venter" userId="694de3c83518532c" providerId="LiveId" clId="{10CD68D7-CBE1-4750-A2D1-7DEE064E9363}" dt="2026-10-23T05:55:05.374" v="12071" actId="255"/>
          <ac:spMkLst>
            <pc:docMk/>
            <pc:sldMk cId="3830495599" sldId="283"/>
            <ac:spMk id="4" creationId="{699A2878-C266-8972-451C-90B30E57A1FB}"/>
          </ac:spMkLst>
        </pc:spChg>
      </pc:sldChg>
      <pc:sldChg chg="modSp mod">
        <pc:chgData name="Heinrich Venter" userId="694de3c83518532c" providerId="LiveId" clId="{10CD68D7-CBE1-4750-A2D1-7DEE064E9363}" dt="2026-10-23T11:01:45.930" v="12858" actId="20577"/>
        <pc:sldMkLst>
          <pc:docMk/>
          <pc:sldMk cId="4103162250" sldId="285"/>
        </pc:sldMkLst>
        <pc:spChg chg="mod">
          <ac:chgData name="Heinrich Venter" userId="694de3c83518532c" providerId="LiveId" clId="{10CD68D7-CBE1-4750-A2D1-7DEE064E9363}" dt="2026-10-23T11:01:45.930" v="12858" actId="20577"/>
          <ac:spMkLst>
            <pc:docMk/>
            <pc:sldMk cId="4103162250" sldId="285"/>
            <ac:spMk id="3" creationId="{A52EF0A1-3D21-8BB7-02F3-33253F2DFB43}"/>
          </ac:spMkLst>
        </pc:spChg>
      </pc:sldChg>
      <pc:sldChg chg="modSp mod">
        <pc:chgData name="Heinrich Venter" userId="694de3c83518532c" providerId="LiveId" clId="{10CD68D7-CBE1-4750-A2D1-7DEE064E9363}" dt="2026-10-10T22:08:25.990" v="10645" actId="20577"/>
        <pc:sldMkLst>
          <pc:docMk/>
          <pc:sldMk cId="4188302786" sldId="287"/>
        </pc:sldMkLst>
        <pc:spChg chg="mod">
          <ac:chgData name="Heinrich Venter" userId="694de3c83518532c" providerId="LiveId" clId="{10CD68D7-CBE1-4750-A2D1-7DEE064E9363}" dt="2026-10-10T22:07:44.357" v="10617" actId="20577"/>
          <ac:spMkLst>
            <pc:docMk/>
            <pc:sldMk cId="4188302786" sldId="287"/>
            <ac:spMk id="5" creationId="{208AF426-607B-1936-143C-7541AD8896ED}"/>
          </ac:spMkLst>
        </pc:spChg>
        <pc:spChg chg="mod">
          <ac:chgData name="Heinrich Venter" userId="694de3c83518532c" providerId="LiveId" clId="{10CD68D7-CBE1-4750-A2D1-7DEE064E9363}" dt="2026-10-10T22:08:15.841" v="10627" actId="20577"/>
          <ac:spMkLst>
            <pc:docMk/>
            <pc:sldMk cId="4188302786" sldId="287"/>
            <ac:spMk id="8" creationId="{DFB8CE4C-97AF-7F3E-9CAC-E06101B7E86D}"/>
          </ac:spMkLst>
        </pc:spChg>
        <pc:spChg chg="mod">
          <ac:chgData name="Heinrich Venter" userId="694de3c83518532c" providerId="LiveId" clId="{10CD68D7-CBE1-4750-A2D1-7DEE064E9363}" dt="2026-10-10T22:08:25.990" v="10645" actId="20577"/>
          <ac:spMkLst>
            <pc:docMk/>
            <pc:sldMk cId="4188302786" sldId="287"/>
            <ac:spMk id="9" creationId="{0A4F4AF7-5E5A-2D76-3F73-6A09F3F31537}"/>
          </ac:spMkLst>
        </pc:spChg>
        <pc:picChg chg="mod">
          <ac:chgData name="Heinrich Venter" userId="694de3c83518532c" providerId="LiveId" clId="{10CD68D7-CBE1-4750-A2D1-7DEE064E9363}" dt="2026-10-10T21:58:36.051" v="10384" actId="1076"/>
          <ac:picMkLst>
            <pc:docMk/>
            <pc:sldMk cId="4188302786" sldId="287"/>
            <ac:picMk id="4" creationId="{DB5BC4F3-C531-1D3F-2F74-03D6ADDD369B}"/>
          </ac:picMkLst>
        </pc:picChg>
        <pc:picChg chg="mod">
          <ac:chgData name="Heinrich Venter" userId="694de3c83518532c" providerId="LiveId" clId="{10CD68D7-CBE1-4750-A2D1-7DEE064E9363}" dt="2026-10-10T21:58:31.424" v="10383" actId="1076"/>
          <ac:picMkLst>
            <pc:docMk/>
            <pc:sldMk cId="4188302786" sldId="287"/>
            <ac:picMk id="6" creationId="{0738B815-EC1C-C22B-E05D-CE494F7F36C9}"/>
          </ac:picMkLst>
        </pc:picChg>
      </pc:sldChg>
      <pc:sldChg chg="modSp mod">
        <pc:chgData name="Heinrich Venter" userId="694de3c83518532c" providerId="LiveId" clId="{10CD68D7-CBE1-4750-A2D1-7DEE064E9363}" dt="2026-10-10T23:01:30.688" v="11447" actId="20577"/>
        <pc:sldMkLst>
          <pc:docMk/>
          <pc:sldMk cId="2953175661" sldId="288"/>
        </pc:sldMkLst>
        <pc:spChg chg="mod">
          <ac:chgData name="Heinrich Venter" userId="694de3c83518532c" providerId="LiveId" clId="{10CD68D7-CBE1-4750-A2D1-7DEE064E9363}" dt="2026-10-10T23:01:30.688" v="11447" actId="20577"/>
          <ac:spMkLst>
            <pc:docMk/>
            <pc:sldMk cId="2953175661" sldId="288"/>
            <ac:spMk id="5" creationId="{208AF426-607B-1936-143C-7541AD8896ED}"/>
          </ac:spMkLst>
        </pc:spChg>
      </pc:sldChg>
      <pc:sldChg chg="modSp mod">
        <pc:chgData name="Heinrich Venter" userId="694de3c83518532c" providerId="LiveId" clId="{10CD68D7-CBE1-4750-A2D1-7DEE064E9363}" dt="2026-10-10T22:41:13.668" v="11115" actId="20577"/>
        <pc:sldMkLst>
          <pc:docMk/>
          <pc:sldMk cId="708745857" sldId="289"/>
        </pc:sldMkLst>
        <pc:spChg chg="mod">
          <ac:chgData name="Heinrich Venter" userId="694de3c83518532c" providerId="LiveId" clId="{10CD68D7-CBE1-4750-A2D1-7DEE064E9363}" dt="2026-10-10T22:27:07.768" v="10724" actId="20577"/>
          <ac:spMkLst>
            <pc:docMk/>
            <pc:sldMk cId="708745857" sldId="289"/>
            <ac:spMk id="3" creationId="{109C2FE0-6991-DDAF-C4F7-B3415EC34474}"/>
          </ac:spMkLst>
        </pc:spChg>
        <pc:spChg chg="mod">
          <ac:chgData name="Heinrich Venter" userId="694de3c83518532c" providerId="LiveId" clId="{10CD68D7-CBE1-4750-A2D1-7DEE064E9363}" dt="2026-10-10T22:41:13.668" v="11115" actId="20577"/>
          <ac:spMkLst>
            <pc:docMk/>
            <pc:sldMk cId="708745857" sldId="289"/>
            <ac:spMk id="5" creationId="{F10EB81D-A986-42AD-847E-FF3A1F656CEB}"/>
          </ac:spMkLst>
        </pc:spChg>
      </pc:sldChg>
      <pc:sldChg chg="modSp mod">
        <pc:chgData name="Heinrich Venter" userId="694de3c83518532c" providerId="LiveId" clId="{10CD68D7-CBE1-4750-A2D1-7DEE064E9363}" dt="2026-10-23T07:24:57.309" v="12344" actId="20577"/>
        <pc:sldMkLst>
          <pc:docMk/>
          <pc:sldMk cId="3091740916" sldId="292"/>
        </pc:sldMkLst>
        <pc:spChg chg="mod">
          <ac:chgData name="Heinrich Venter" userId="694de3c83518532c" providerId="LiveId" clId="{10CD68D7-CBE1-4750-A2D1-7DEE064E9363}" dt="2026-10-21T11:42:10.908" v="11967" actId="27636"/>
          <ac:spMkLst>
            <pc:docMk/>
            <pc:sldMk cId="3091740916" sldId="292"/>
            <ac:spMk id="3" creationId="{109C2FE0-6991-DDAF-C4F7-B3415EC34474}"/>
          </ac:spMkLst>
        </pc:spChg>
        <pc:spChg chg="mod">
          <ac:chgData name="Heinrich Venter" userId="694de3c83518532c" providerId="LiveId" clId="{10CD68D7-CBE1-4750-A2D1-7DEE064E9363}" dt="2026-10-23T07:24:57.309" v="12344" actId="20577"/>
          <ac:spMkLst>
            <pc:docMk/>
            <pc:sldMk cId="3091740916" sldId="292"/>
            <ac:spMk id="5" creationId="{F10EB81D-A986-42AD-847E-FF3A1F656CEB}"/>
          </ac:spMkLst>
        </pc:spChg>
      </pc:sldChg>
      <pc:sldChg chg="modSp mod">
        <pc:chgData name="Heinrich Venter" userId="694de3c83518532c" providerId="LiveId" clId="{10CD68D7-CBE1-4750-A2D1-7DEE064E9363}" dt="2026-10-10T22:20:05.190" v="10669" actId="20577"/>
        <pc:sldMkLst>
          <pc:docMk/>
          <pc:sldMk cId="2786755706" sldId="297"/>
        </pc:sldMkLst>
        <pc:spChg chg="mod">
          <ac:chgData name="Heinrich Venter" userId="694de3c83518532c" providerId="LiveId" clId="{10CD68D7-CBE1-4750-A2D1-7DEE064E9363}" dt="2026-10-10T22:20:05.190" v="10669" actId="20577"/>
          <ac:spMkLst>
            <pc:docMk/>
            <pc:sldMk cId="2786755706" sldId="297"/>
            <ac:spMk id="3" creationId="{5ACC3126-8DD8-8C54-83C8-B51AC26F67BA}"/>
          </ac:spMkLst>
        </pc:spChg>
      </pc:sldChg>
      <pc:sldChg chg="modSp mod">
        <pc:chgData name="Heinrich Venter" userId="694de3c83518532c" providerId="LiveId" clId="{10CD68D7-CBE1-4750-A2D1-7DEE064E9363}" dt="2026-10-23T11:02:14.707" v="12865" actId="20577"/>
        <pc:sldMkLst>
          <pc:docMk/>
          <pc:sldMk cId="3865693267" sldId="302"/>
        </pc:sldMkLst>
        <pc:spChg chg="mod">
          <ac:chgData name="Heinrich Venter" userId="694de3c83518532c" providerId="LiveId" clId="{10CD68D7-CBE1-4750-A2D1-7DEE064E9363}" dt="2026-10-23T11:02:14.707" v="12865" actId="20577"/>
          <ac:spMkLst>
            <pc:docMk/>
            <pc:sldMk cId="3865693267" sldId="302"/>
            <ac:spMk id="5" creationId="{9A2E10AF-E8DC-77CD-AEF5-92874F19D3A0}"/>
          </ac:spMkLst>
        </pc:spChg>
        <pc:spChg chg="mod">
          <ac:chgData name="Heinrich Venter" userId="694de3c83518532c" providerId="LiveId" clId="{10CD68D7-CBE1-4750-A2D1-7DEE064E9363}" dt="2026-10-23T10:51:48.697" v="12346" actId="27636"/>
          <ac:spMkLst>
            <pc:docMk/>
            <pc:sldMk cId="3865693267" sldId="302"/>
            <ac:spMk id="11" creationId="{B6A71E36-4483-2584-CCFF-D3DA0E228EAB}"/>
          </ac:spMkLst>
        </pc:spChg>
      </pc:sldChg>
      <pc:sldChg chg="modSp mod">
        <pc:chgData name="Heinrich Venter" userId="694de3c83518532c" providerId="LiveId" clId="{10CD68D7-CBE1-4750-A2D1-7DEE064E9363}" dt="2026-10-23T10:57:31.294" v="12606" actId="27636"/>
        <pc:sldMkLst>
          <pc:docMk/>
          <pc:sldMk cId="3889581368" sldId="303"/>
        </pc:sldMkLst>
        <pc:spChg chg="mod">
          <ac:chgData name="Heinrich Venter" userId="694de3c83518532c" providerId="LiveId" clId="{10CD68D7-CBE1-4750-A2D1-7DEE064E9363}" dt="2026-10-23T10:57:31.294" v="12606" actId="27636"/>
          <ac:spMkLst>
            <pc:docMk/>
            <pc:sldMk cId="3889581368" sldId="303"/>
            <ac:spMk id="5" creationId="{7BB92E76-E3F6-6C1B-4C93-7DF5D363240A}"/>
          </ac:spMkLst>
        </pc:spChg>
        <pc:spChg chg="mod">
          <ac:chgData name="Heinrich Venter" userId="694de3c83518532c" providerId="LiveId" clId="{10CD68D7-CBE1-4750-A2D1-7DEE064E9363}" dt="2026-10-23T10:57:09.025" v="12604" actId="20577"/>
          <ac:spMkLst>
            <pc:docMk/>
            <pc:sldMk cId="3889581368" sldId="303"/>
            <ac:spMk id="11" creationId="{44929486-D4C8-D2C0-400A-3937434FA30D}"/>
          </ac:spMkLst>
        </pc:spChg>
      </pc:sldChg>
    </pc:docChg>
  </pc:docChgLst>
</pc:chgInfo>
</file>

<file path=ppt/comments/modernComment_10D_B08B0791.xml><?xml version="1.0" encoding="utf-8"?>
<p188:cmLst xmlns:a="http://schemas.openxmlformats.org/drawingml/2006/main" xmlns:r="http://schemas.openxmlformats.org/officeDocument/2006/relationships" xmlns:p188="http://schemas.microsoft.com/office/powerpoint/2018/8/main">
  <p188:cm id="{439A6A2D-3C6E-47F9-9737-920456A2F210}" authorId="{13C077F8-8573-EEE0-B7B7-42F83088B50D}" created="2026-06-01T23:41:17.764">
    <ac:deMkLst xmlns:ac="http://schemas.microsoft.com/office/drawing/2013/main/command">
      <pc:docMk xmlns:pc="http://schemas.microsoft.com/office/powerpoint/2013/main/command"/>
      <pc:sldMk xmlns:pc="http://schemas.microsoft.com/office/powerpoint/2013/main/command" cId="2961901457" sldId="269"/>
      <ac:spMk id="3" creationId="{A52EF0A1-3D21-8BB7-02F3-33253F2DFB43}"/>
    </ac:deMkLst>
    <p188:txBody>
      <a:bodyPr/>
      <a:lstStyle/>
      <a:p>
        <a:r>
          <a:rPr lang="en-NZ"/>
          <a:t>Break this into parts use two slides if possible and use headings</a:t>
        </a:r>
      </a:p>
    </p188:txBody>
  </p188:cm>
</p188:cmLst>
</file>

<file path=ppt/comments/modernComment_11D_F491498A.xml><?xml version="1.0" encoding="utf-8"?>
<p188:cmLst xmlns:a="http://schemas.openxmlformats.org/drawingml/2006/main" xmlns:r="http://schemas.openxmlformats.org/officeDocument/2006/relationships" xmlns:p188="http://schemas.microsoft.com/office/powerpoint/2018/8/main">
  <p188:cm id="{BCCFE238-01DD-4648-9036-2578AD0A7E92}" authorId="{13C077F8-8573-EEE0-B7B7-42F83088B50D}" created="2026-06-01T23:40:54.990">
    <pc:sldMkLst xmlns:pc="http://schemas.microsoft.com/office/powerpoint/2013/main/command">
      <pc:docMk/>
      <pc:sldMk cId="4103162250" sldId="285"/>
    </pc:sldMkLst>
    <p188:txBody>
      <a:bodyPr/>
      <a:lstStyle/>
      <a:p>
        <a:r>
          <a:rPr lang="en-NZ"/>
          <a:t>Doesn’t show that you understand
For example: I am using I2C between this and that. The way I2C works is
The reason why I am using it is</a:t>
        </a:r>
      </a:p>
    </p188:txBody>
  </p188:cm>
</p188:cmLst>
</file>

<file path=ppt/comments/modernComment_101_FFE3B6F5.xml><?xml version="1.0" encoding="utf-8"?>
<p188:cmLst xmlns:a="http://schemas.openxmlformats.org/drawingml/2006/main" xmlns:r="http://schemas.openxmlformats.org/officeDocument/2006/relationships" xmlns:p188="http://schemas.microsoft.com/office/powerpoint/2018/8/main">
  <p188:cm id="{9462C05B-E1ED-4E00-AD90-239CB99C6C27}" authorId="{13C077F8-8573-EEE0-B7B7-42F83088B50D}" created="2026-06-01T23:35:41.899">
    <ac:deMkLst xmlns:ac="http://schemas.microsoft.com/office/drawing/2013/main/command">
      <pc:docMk xmlns:pc="http://schemas.microsoft.com/office/powerpoint/2013/main/command"/>
      <pc:sldMk xmlns:pc="http://schemas.microsoft.com/office/powerpoint/2013/main/command" cId="4293113589" sldId="257"/>
      <ac:spMk id="3" creationId="{EB73A0B0-8C2E-99B2-DFB1-974EF0CDEB52}"/>
    </ac:deMkLst>
    <p188:txBody>
      <a:bodyPr/>
      <a:lstStyle/>
      <a:p>
        <a:r>
          <a:rPr lang="en-NZ"/>
          <a:t>With this try and talk about exactly what your project is, it is not clear with this. Get really specific about the electronics parts of this outcome</a:t>
        </a:r>
      </a:p>
    </p188:txBody>
  </p188:cm>
</p188:cmLst>
</file>

<file path=ppt/comments/modernComment_102_8F82B503.xml><?xml version="1.0" encoding="utf-8"?>
<p188:cmLst xmlns:a="http://schemas.openxmlformats.org/drawingml/2006/main" xmlns:r="http://schemas.openxmlformats.org/officeDocument/2006/relationships" xmlns:p188="http://schemas.microsoft.com/office/powerpoint/2018/8/main">
  <p188:cm id="{4366C09B-AEC2-46F9-A41F-DF04B9AB752B}" authorId="{13C077F8-8573-EEE0-B7B7-42F83088B50D}" created="2026-06-01T23:36:47.084">
    <ac:deMkLst xmlns:ac="http://schemas.microsoft.com/office/drawing/2013/main/command">
      <pc:docMk xmlns:pc="http://schemas.microsoft.com/office/powerpoint/2013/main/command"/>
      <pc:sldMk xmlns:pc="http://schemas.microsoft.com/office/powerpoint/2013/main/command" cId="2407707907" sldId="258"/>
      <ac:spMk id="3" creationId="{48517805-ABAD-9125-D5EB-9C37B582DC52}"/>
    </ac:deMkLst>
    <p188:txBody>
      <a:bodyPr/>
      <a:lstStyle/>
      <a:p>
        <a:r>
          <a:rPr lang="en-NZ"/>
          <a:t>Re write in own words, and don’t go too much in depth all it is asking is how you are meeting these techniques. So simply :I am going meet this by including x</a:t>
        </a:r>
      </a:p>
    </p188:txBody>
  </p188:cm>
</p188:cmLst>
</file>

<file path=ppt/comments/modernComment_117_E97C5DDB.xml><?xml version="1.0" encoding="utf-8"?>
<p188:cmLst xmlns:a="http://schemas.openxmlformats.org/drawingml/2006/main" xmlns:r="http://schemas.openxmlformats.org/officeDocument/2006/relationships" xmlns:p188="http://schemas.microsoft.com/office/powerpoint/2018/8/main">
  <p188:cm id="{14EA2BAC-3D7E-4AD0-8925-75C71D51EC5E}" authorId="{13C077F8-8573-EEE0-B7B7-42F83088B50D}" created="2026-06-01T23:42:31.183">
    <pc:sldMkLst xmlns:pc="http://schemas.microsoft.com/office/powerpoint/2013/main/command">
      <pc:docMk/>
      <pc:sldMk cId="3917241819" sldId="279"/>
    </pc:sldMkLst>
    <p188:txBody>
      <a:bodyPr/>
      <a:lstStyle/>
      <a:p>
        <a:r>
          <a:rPr lang="en-NZ"/>
          <a:t>Really use own language</a:t>
        </a:r>
      </a:p>
    </p188:txBody>
  </p188:cm>
</p188:cmLst>
</file>

<file path=ppt/comments/modernComment_120_B005E26D.xml><?xml version="1.0" encoding="utf-8"?>
<p188:cmLst xmlns:a="http://schemas.openxmlformats.org/drawingml/2006/main" xmlns:r="http://schemas.openxmlformats.org/officeDocument/2006/relationships" xmlns:p188="http://schemas.microsoft.com/office/powerpoint/2018/8/main">
  <p188:cm id="{7BCE5537-69C4-4ECE-925D-538EA70AB39C}" authorId="{13C077F8-8573-EEE0-B7B7-42F83088B50D}" created="2026-06-01T23:42:42.580">
    <ac:deMkLst xmlns:ac="http://schemas.microsoft.com/office/drawing/2013/main/command">
      <pc:docMk xmlns:pc="http://schemas.microsoft.com/office/powerpoint/2013/main/command"/>
      <pc:sldMk xmlns:pc="http://schemas.microsoft.com/office/powerpoint/2013/main/command" cId="2953175661" sldId="288"/>
      <ac:spMk id="5" creationId="{208AF426-607B-1936-143C-7541AD8896ED}"/>
    </ac:deMkLst>
    <p188:txBody>
      <a:bodyPr/>
      <a:lstStyle/>
      <a:p>
        <a:r>
          <a:rPr lang="en-NZ"/>
          <a:t>AI</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23/10/2026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23/10/2026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FE3B6F5.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8F82B50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D_B08B079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1D_F491498A.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2.xml.rels><?xml version="1.0" encoding="UTF-8" standalone="yes"?>
<Relationships xmlns="http://schemas.openxmlformats.org/package/2006/relationships"><Relationship Id="rId3" Type="http://schemas.openxmlformats.org/officeDocument/2006/relationships/image" Target="../media/image4.jpeg"/><Relationship Id="rId2" Type="http://schemas.microsoft.com/office/2018/10/relationships/comments" Target="../comments/modernComment_117_E97C5DDB.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jpeg"/><Relationship Id="rId2" Type="http://schemas.microsoft.com/office/2018/10/relationships/comments" Target="../comments/modernComment_120_B005E26D.xml"/><Relationship Id="rId1" Type="http://schemas.openxmlformats.org/officeDocument/2006/relationships/slideLayout" Target="../slideLayouts/slideLayout2.xml"/><Relationship Id="rId5" Type="http://schemas.openxmlformats.org/officeDocument/2006/relationships/image" Target="../media/image11.jpeg"/><Relationship Id="rId4" Type="http://schemas.openxmlformats.org/officeDocument/2006/relationships/image" Target="../media/image10.jpeg"/></Relationships>
</file>

<file path=ppt/slides/_rels/slide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microsoft.com/office/2007/relationships/media" Target="../media/media2.MOV"/><Relationship Id="rId7" Type="http://schemas.openxmlformats.org/officeDocument/2006/relationships/image" Target="../media/image19.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8.png"/><Relationship Id="rId5" Type="http://schemas.openxmlformats.org/officeDocument/2006/relationships/slideLayout" Target="../slideLayouts/slideLayout2.xml"/><Relationship Id="rId4" Type="http://schemas.openxmlformats.org/officeDocument/2006/relationships/video" Target="../media/media2.MOV"/></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a:t>
            </a:r>
            <a:r>
              <a:rPr lang="en-NZ" dirty="0"/>
              <a:t>hybrid </a:t>
            </a:r>
            <a:r>
              <a:rPr lang="en-NZ" dirty="0" err="1"/>
              <a:t>pitbike</a:t>
            </a:r>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a:t>
            </a:r>
            <a:r>
              <a:rPr lang="en-NZ" dirty="0"/>
              <a:t> This project is a hybrid 70cc pit bike that combines a petrol engine with an 800 W, 36 V electric motor to improve low-speed torque and acceleration. An ESP32 uses analogue and digital Hall effect sensors to monitor throttle position and engine speed, then controls the electric motor through a motor controller. An electromagnetic clutch engages the motor only when assistance is needed, creating a hybrid drivetrain that combines mechanical and electronic systems.</a:t>
            </a: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70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NZ" dirty="0"/>
              <a:t>I will meet this requirement by using I2C communication to connect the ESP32 to the OLED dashboard display. This allows important information such as speed and RPM data to be transferred to the display while only using two communication pins, leaving the remaining pins available for other sensors and system components.</a:t>
            </a: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NZ" dirty="0"/>
              <a:t>I will meet this requirement by adding filtering components, such as 0.1µF ceramic capacitors, to reduce electrical noise caused by the high-current electric motor. This will improve the reliability of the Hall effect sensors, LED indicators, and battery monitoring system by providing more stable and accurate readings.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852638046"/>
              </p:ext>
            </p:extLst>
          </p:nvPr>
        </p:nvGraphicFramePr>
        <p:xfrm>
          <a:off x="392784" y="1951294"/>
          <a:ext cx="11406432" cy="1160175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b="1" kern="1200" dirty="0">
                          <a:solidFill>
                            <a:schemeClr val="dk1"/>
                          </a:solidFill>
                          <a:effectLst/>
                          <a:latin typeface="+mn-lt"/>
                          <a:ea typeface="+mn-ea"/>
                          <a:cs typeface="+mn-cs"/>
                        </a:rPr>
                        <a:t>Accessibility </a:t>
                      </a:r>
                      <a:r>
                        <a:rPr lang="en-US" sz="1800" kern="1200" dirty="0">
                          <a:solidFill>
                            <a:schemeClr val="dk1"/>
                          </a:solidFill>
                          <a:effectLst/>
                          <a:latin typeface="+mn-lt"/>
                          <a:ea typeface="+mn-ea"/>
                          <a:cs typeface="+mn-cs"/>
                        </a:rPr>
                        <a:t>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r>
                        <a:rPr lang="en-NZ" sz="1800" noProof="0" dirty="0"/>
                        <a:t>This was done by coding and producing a dashboard with 2 lines of leds one for the motor rpm and the other for the engine rpm to see when the clutch has to disengage and when the gear on the engine has to change as well as a Oled screen to see the speed of the bike as well as a second screen for sensor values so that troubleshooting can be done on the fly without needing a phone (for simpler usability)</a:t>
                      </a:r>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r>
                        <a:rPr lang="en-NZ" sz="1800" dirty="0"/>
                        <a:t>Mapping the analogue throttle Hall sensors linearly alongside the petrol throttle, using software constraints (</a:t>
                      </a:r>
                      <a:r>
                        <a:rPr lang="en-NZ" sz="1800" b="0" u="none" strike="noStrike" kern="1200" dirty="0">
                          <a:solidFill>
                            <a:schemeClr val="dk1"/>
                          </a:solidFill>
                          <a:effectLst/>
                          <a:latin typeface="+mn-lt"/>
                          <a:ea typeface="+mn-ea"/>
                          <a:cs typeface="+mn-cs"/>
                        </a:rPr>
                        <a:t>constrain(</a:t>
                      </a:r>
                      <a:r>
                        <a:rPr lang="en-NZ" sz="1800" b="0" u="none" strike="noStrike" kern="1200" dirty="0" err="1">
                          <a:solidFill>
                            <a:schemeClr val="dk1"/>
                          </a:solidFill>
                          <a:effectLst/>
                          <a:latin typeface="+mn-lt"/>
                          <a:ea typeface="+mn-ea"/>
                          <a:cs typeface="+mn-cs"/>
                        </a:rPr>
                        <a:t>throttlePercent</a:t>
                      </a:r>
                      <a:r>
                        <a:rPr lang="en-NZ" sz="1800" b="0" u="none" strike="noStrike" kern="1200" dirty="0">
                          <a:solidFill>
                            <a:schemeClr val="dk1"/>
                          </a:solidFill>
                          <a:effectLst/>
                          <a:latin typeface="+mn-lt"/>
                          <a:ea typeface="+mn-ea"/>
                          <a:cs typeface="+mn-cs"/>
                        </a:rPr>
                        <a:t>, 0, 100)</a:t>
                      </a:r>
                      <a:r>
                        <a:rPr lang="en-NZ" sz="1800" dirty="0"/>
                        <a:t>).</a:t>
                      </a:r>
                      <a:endParaRPr lang="en-NZ" sz="18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r>
                        <a:rPr lang="en-NZ" sz="1800" dirty="0"/>
                        <a:t>Offloading sensor pulses to low-overhead interrupts (</a:t>
                      </a:r>
                      <a:r>
                        <a:rPr lang="en-NZ" sz="1800" b="0" u="none" strike="noStrike" kern="1200" dirty="0" err="1">
                          <a:solidFill>
                            <a:schemeClr val="dk1"/>
                          </a:solidFill>
                          <a:effectLst/>
                          <a:latin typeface="+mn-lt"/>
                          <a:ea typeface="+mn-ea"/>
                          <a:cs typeface="+mn-cs"/>
                        </a:rPr>
                        <a:t>enginePulse</a:t>
                      </a:r>
                      <a:r>
                        <a:rPr lang="en-NZ" sz="1800" dirty="0"/>
                        <a:t>, </a:t>
                      </a:r>
                      <a:r>
                        <a:rPr lang="en-NZ" sz="1800" b="0" u="none" strike="noStrike" kern="1200" dirty="0" err="1">
                          <a:solidFill>
                            <a:schemeClr val="dk1"/>
                          </a:solidFill>
                          <a:effectLst/>
                          <a:latin typeface="+mn-lt"/>
                          <a:ea typeface="+mn-ea"/>
                          <a:cs typeface="+mn-cs"/>
                        </a:rPr>
                        <a:t>matchPulse</a:t>
                      </a:r>
                      <a:r>
                        <a:rPr lang="en-NZ" sz="1800" dirty="0"/>
                        <a:t>, </a:t>
                      </a:r>
                      <a:r>
                        <a:rPr lang="en-NZ" sz="1800" b="0" u="none" strike="noStrike" kern="1200" dirty="0" err="1">
                          <a:solidFill>
                            <a:schemeClr val="dk1"/>
                          </a:solidFill>
                          <a:effectLst/>
                          <a:latin typeface="+mn-lt"/>
                          <a:ea typeface="+mn-ea"/>
                          <a:cs typeface="+mn-cs"/>
                        </a:rPr>
                        <a:t>motorPulse</a:t>
                      </a:r>
                      <a:r>
                        <a:rPr lang="en-NZ" sz="1800" dirty="0"/>
                        <a:t>), allowing the VCU (vehicle control unit)to match shaft speeds before engaging the 24V clutch.</a:t>
                      </a:r>
                      <a:endParaRPr lang="en-NZ" sz="18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r>
                        <a:rPr lang="en-NZ" sz="1800" dirty="0"/>
                        <a:t>Consolidating loose jumper wires onto a custom dual-layer PCB enclosed in a watertight, form-fitting 3D-printed ABS structural housing shell. </a:t>
                      </a:r>
                      <a:endParaRPr lang="en-NZ" sz="18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a:p>
            <a:pPr marL="0" indent="0">
              <a:buNone/>
            </a:pPr>
            <a:r>
              <a:rPr lang="en-NZ" noProof="0"/>
              <a:t>v</a:t>
            </a:r>
            <a:endParaRPr lang="en-NZ" noProof="0" dirty="0"/>
          </a:p>
        </p:txBody>
      </p:sp>
      <p:pic>
        <p:nvPicPr>
          <p:cNvPr id="6" name="Picture 5">
            <a:extLst>
              <a:ext uri="{FF2B5EF4-FFF2-40B4-BE49-F238E27FC236}">
                <a16:creationId xmlns:a16="http://schemas.microsoft.com/office/drawing/2014/main" id="{492AF9CD-BEC7-1A70-4B88-CD503A3E326B}"/>
              </a:ext>
            </a:extLst>
          </p:cNvPr>
          <p:cNvPicPr>
            <a:picLocks noChangeAspect="1"/>
          </p:cNvPicPr>
          <p:nvPr/>
        </p:nvPicPr>
        <p:blipFill>
          <a:blip r:embed="rId2"/>
          <a:stretch>
            <a:fillRect/>
          </a:stretch>
        </p:blipFill>
        <p:spPr>
          <a:xfrm>
            <a:off x="838200" y="2307001"/>
            <a:ext cx="6735115" cy="4258269"/>
          </a:xfrm>
          <a:prstGeom prst="rect">
            <a:avLst/>
          </a:prstGeom>
        </p:spPr>
      </p:pic>
      <p:sp>
        <p:nvSpPr>
          <p:cNvPr id="4" name="TextBox 3">
            <a:extLst>
              <a:ext uri="{FF2B5EF4-FFF2-40B4-BE49-F238E27FC236}">
                <a16:creationId xmlns:a16="http://schemas.microsoft.com/office/drawing/2014/main" id="{81A5D173-99A8-51AD-67D3-349F5CFE1C53}"/>
              </a:ext>
            </a:extLst>
          </p:cNvPr>
          <p:cNvSpPr txBox="1"/>
          <p:nvPr/>
        </p:nvSpPr>
        <p:spPr>
          <a:xfrm>
            <a:off x="9281160" y="5797296"/>
            <a:ext cx="1291700" cy="369332"/>
          </a:xfrm>
          <a:prstGeom prst="rect">
            <a:avLst/>
          </a:prstGeom>
          <a:noFill/>
        </p:spPr>
        <p:txBody>
          <a:bodyPr wrap="none" rtlCol="0">
            <a:spAutoFit/>
          </a:bodyPr>
          <a:lstStyle/>
          <a:p>
            <a:r>
              <a:rPr lang="en-GB" dirty="0"/>
              <a:t>Made by ai </a:t>
            </a:r>
            <a:endParaRPr lang="en-NZ" dirty="0"/>
          </a:p>
        </p:txBody>
      </p:sp>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fontScale="85000" lnSpcReduction="10000"/>
          </a:bodyPr>
          <a:lstStyle/>
          <a:p>
            <a:pPr marL="0" indent="0">
              <a:buNone/>
            </a:pPr>
            <a:r>
              <a:rPr lang="en-US" sz="1800" i="1" noProof="0" dirty="0"/>
              <a:t>The </a:t>
            </a:r>
            <a:r>
              <a:rPr lang="en-US" sz="1800" i="1" noProof="0" dirty="0" err="1"/>
              <a:t>behaviour</a:t>
            </a:r>
            <a:r>
              <a:rPr lang="en-US" sz="1800" i="1" noProof="0" dirty="0"/>
              <a:t> of the electronics is as follows. </a:t>
            </a:r>
          </a:p>
          <a:p>
            <a:pPr marL="0" indent="0">
              <a:buNone/>
            </a:pPr>
            <a:r>
              <a:rPr lang="en-NZ" sz="1800" u="sng" dirty="0"/>
              <a:t>Electric Motor Control</a:t>
            </a:r>
          </a:p>
          <a:p>
            <a:pPr marL="0" indent="0">
              <a:buNone/>
            </a:pPr>
            <a:r>
              <a:rPr lang="en-NZ" sz="1800" dirty="0"/>
              <a:t>An analogue Hall effect sensor is used as the throttle input to send a signal to the 36 V motor controller, which controls the 800 W electric motor. </a:t>
            </a:r>
          </a:p>
          <a:p>
            <a:pPr marL="0" indent="0">
              <a:buNone/>
            </a:pPr>
            <a:r>
              <a:rPr lang="en-NZ" sz="1800" dirty="0"/>
              <a:t>A 36 V to 12 V DC-DC buck converter is used to safely power the Arduino Uno R4 </a:t>
            </a:r>
            <a:r>
              <a:rPr lang="en-NZ" sz="1800" dirty="0" err="1"/>
              <a:t>WiFi</a:t>
            </a:r>
            <a:r>
              <a:rPr lang="en-NZ" sz="1800" dirty="0"/>
              <a:t> from the bike’s main battery system. </a:t>
            </a:r>
          </a:p>
          <a:p>
            <a:pPr marL="0" indent="0">
              <a:buNone/>
            </a:pPr>
            <a:r>
              <a:rPr lang="en-NZ" sz="1800" u="sng" dirty="0"/>
              <a:t>Hybrid Power Switching</a:t>
            </a:r>
          </a:p>
          <a:p>
            <a:pPr marL="0" indent="0">
              <a:buNone/>
            </a:pPr>
            <a:r>
              <a:rPr lang="en-NZ" sz="1800" dirty="0"/>
              <a:t>A 24 V electromagnetic clutch is used to connect and disconnect the electric motor from the drivetrain. </a:t>
            </a:r>
          </a:p>
          <a:p>
            <a:pPr marL="0" indent="0">
              <a:buNone/>
            </a:pPr>
            <a:r>
              <a:rPr lang="en-NZ" sz="1800" dirty="0"/>
              <a:t>Both the petrol engine and electric motor provide power during acceleration to improve low-speed torque. </a:t>
            </a:r>
          </a:p>
          <a:p>
            <a:pPr marL="0" indent="0">
              <a:buNone/>
            </a:pPr>
            <a:r>
              <a:rPr lang="en-NZ" sz="1800" dirty="0"/>
              <a:t>At higher speeds, the electric motor disengages because the petrol engine can operate at a higher RPM. </a:t>
            </a:r>
          </a:p>
          <a:p>
            <a:pPr marL="0" indent="0">
              <a:buNone/>
            </a:pPr>
            <a:r>
              <a:rPr lang="en-NZ" sz="1800" dirty="0"/>
              <a:t>A second Hall effect sensor is connected to the clutch lever, allowing the rider to manually disengage the electric motor when required. </a:t>
            </a:r>
          </a:p>
          <a:p>
            <a:pPr marL="0" indent="0">
              <a:buNone/>
            </a:pPr>
            <a:r>
              <a:rPr lang="en-NZ" sz="1800" u="sng" dirty="0"/>
              <a:t>RPM Matching System</a:t>
            </a:r>
          </a:p>
          <a:p>
            <a:pPr marL="0" indent="0">
              <a:buNone/>
            </a:pPr>
            <a:r>
              <a:rPr lang="en-NZ" sz="1800" dirty="0"/>
              <a:t>Two digital Hall effect sensors measure the RPM on both sides of the electromagnetic clutch. </a:t>
            </a:r>
          </a:p>
          <a:p>
            <a:pPr marL="0" indent="0">
              <a:buNone/>
            </a:pPr>
            <a:r>
              <a:rPr lang="en-NZ" sz="1800" dirty="0"/>
              <a:t>The Arduino uses this data to match the electric motor speed with the drivetrain before engaging the clutch, preventing drivetrain damage and sudden speed changes.</a:t>
            </a:r>
          </a:p>
          <a:p>
            <a:pPr marL="0" indent="0">
              <a:buNone/>
            </a:pPr>
            <a:endParaRPr lang="en-NZ" sz="1800" i="1" noProof="0" dirty="0"/>
          </a:p>
        </p:txBody>
      </p:sp>
    </p:spTree>
    <p:extLst>
      <p:ext uri="{BB962C8B-B14F-4D97-AF65-F5344CB8AC3E}">
        <p14:creationId xmlns:p14="http://schemas.microsoft.com/office/powerpoint/2010/main" val="29619014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63D47-06A1-3925-FCDA-1F2C3981A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CC3126-8DD8-8C54-83C8-B51AC26F67BA}"/>
              </a:ext>
            </a:extLst>
          </p:cNvPr>
          <p:cNvSpPr>
            <a:spLocks noGrp="1"/>
          </p:cNvSpPr>
          <p:nvPr>
            <p:ph idx="1"/>
          </p:nvPr>
        </p:nvSpPr>
        <p:spPr>
          <a:xfrm>
            <a:off x="838200" y="612648"/>
            <a:ext cx="10515600" cy="5564315"/>
          </a:xfrm>
          <a:solidFill>
            <a:srgbClr val="FFCCCC"/>
          </a:solidFill>
        </p:spPr>
        <p:txBody>
          <a:bodyPr>
            <a:normAutofit/>
          </a:bodyPr>
          <a:lstStyle/>
          <a:p>
            <a:pPr marL="0" indent="0">
              <a:buNone/>
            </a:pPr>
            <a:r>
              <a:rPr lang="en-NZ" sz="1900" u="sng" dirty="0"/>
              <a:t>Speed Monitoring</a:t>
            </a:r>
          </a:p>
          <a:p>
            <a:pPr marL="0" indent="0">
              <a:buNone/>
            </a:pPr>
            <a:r>
              <a:rPr lang="en-NZ" sz="1900" dirty="0"/>
              <a:t>A digital Hall effect sensor mounted near the rear wheel measures wheel rotation speed. </a:t>
            </a:r>
          </a:p>
          <a:p>
            <a:pPr marL="0" indent="0">
              <a:buNone/>
            </a:pPr>
            <a:r>
              <a:rPr lang="en-NZ" sz="1900" dirty="0"/>
              <a:t>The Arduino calculates the bike’s speed and displays it on the dashboard. </a:t>
            </a:r>
          </a:p>
          <a:p>
            <a:pPr marL="0" indent="0">
              <a:buNone/>
            </a:pPr>
            <a:r>
              <a:rPr lang="en-NZ" sz="1900" u="sng" dirty="0"/>
              <a:t>Dashboard Display</a:t>
            </a:r>
          </a:p>
          <a:p>
            <a:pPr marL="0" indent="0">
              <a:buNone/>
            </a:pPr>
            <a:r>
              <a:rPr lang="en-NZ" sz="1900" dirty="0"/>
              <a:t>An OLED display and LED indicators provide the rider with real-time information. </a:t>
            </a:r>
          </a:p>
          <a:p>
            <a:pPr marL="0" indent="0">
              <a:buNone/>
            </a:pPr>
            <a:r>
              <a:rPr lang="en-NZ" sz="1900" dirty="0"/>
              <a:t>The dashboard displays: </a:t>
            </a:r>
          </a:p>
          <a:p>
            <a:pPr marL="0" indent="0">
              <a:buNone/>
            </a:pPr>
            <a:r>
              <a:rPr lang="en-NZ" sz="1900" dirty="0"/>
              <a:t>Vehicle speed </a:t>
            </a:r>
          </a:p>
          <a:p>
            <a:pPr marL="0" indent="0">
              <a:buNone/>
            </a:pPr>
            <a:r>
              <a:rPr lang="en-NZ" sz="1900" dirty="0"/>
              <a:t>Engine RPM </a:t>
            </a:r>
          </a:p>
          <a:p>
            <a:pPr marL="0" indent="0">
              <a:buNone/>
            </a:pPr>
            <a:r>
              <a:rPr lang="en-NZ" sz="1900" dirty="0"/>
              <a:t>Electric motor RPM </a:t>
            </a:r>
          </a:p>
          <a:p>
            <a:pPr marL="0" indent="0">
              <a:buNone/>
            </a:pPr>
            <a:r>
              <a:rPr lang="en-NZ" sz="1900" dirty="0"/>
              <a:t>Battery percentage </a:t>
            </a:r>
          </a:p>
          <a:p>
            <a:pPr marL="0" indent="0">
              <a:buNone/>
            </a:pPr>
            <a:endParaRPr lang="en-NZ" sz="1800" i="1" noProof="0" dirty="0"/>
          </a:p>
        </p:txBody>
      </p:sp>
    </p:spTree>
    <p:extLst>
      <p:ext uri="{BB962C8B-B14F-4D97-AF65-F5344CB8AC3E}">
        <p14:creationId xmlns:p14="http://schemas.microsoft.com/office/powerpoint/2010/main" val="2786755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NZ" sz="1800" dirty="0"/>
              <a:t>I am using I2C communication between the ESP32and the OLED dashboard display. I2C works by using two communication lines: SDA (Serial Data) to transfer information and SCL (Serial Clock) to synchronise the data transfer. The  ESP32 acts as the master device, sending information to the OLED display, which acts as the slave device. This allows the system to display real-time information such as speed rpm and current gear position </a:t>
            </a:r>
            <a:r>
              <a:rPr lang="en-NZ" sz="1800" dirty="0" err="1"/>
              <a:t>aswell</a:t>
            </a:r>
            <a:r>
              <a:rPr lang="en-NZ" sz="1800" dirty="0"/>
              <a:t> as sensor values so that the rider/user can diagnose the system if there is one and the don’t have access to the esp32s </a:t>
            </a:r>
            <a:r>
              <a:rPr lang="en-NZ" sz="1800" dirty="0" err="1"/>
              <a:t>wifi</a:t>
            </a:r>
            <a:r>
              <a:rPr lang="en-NZ" sz="1800" dirty="0"/>
              <a:t> signal</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1800" dirty="0"/>
              <a:t>I selected I2C because it only requires two Arduino pins, leaving more available pins for the other sensors used in the bike, such as Hall effect sensors and RPM sensors. I2C also provides enough communication speed for a small OLED display while allowing additional devices to be added to the same communication bus in the future.</a:t>
            </a:r>
            <a:endParaRPr lang="en-NZ" sz="1800" i="1" dirty="0"/>
          </a:p>
        </p:txBody>
      </p:sp>
    </p:spTree>
    <p:extLst>
      <p:ext uri="{BB962C8B-B14F-4D97-AF65-F5344CB8AC3E}">
        <p14:creationId xmlns:p14="http://schemas.microsoft.com/office/powerpoint/2010/main" val="410316225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xfrm>
            <a:off x="838200" y="365126"/>
            <a:ext cx="10515600" cy="878246"/>
          </a:xfrm>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243372"/>
            <a:ext cx="10515600" cy="54133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NZ" noProof="0" dirty="0"/>
          </a:p>
        </p:txBody>
      </p:sp>
      <p:sp>
        <p:nvSpPr>
          <p:cNvPr id="6" name="TextBox 5">
            <a:extLst>
              <a:ext uri="{FF2B5EF4-FFF2-40B4-BE49-F238E27FC236}">
                <a16:creationId xmlns:a16="http://schemas.microsoft.com/office/drawing/2014/main" id="{92E838D8-6EAC-C0AF-8820-D8D3D7E132B8}"/>
              </a:ext>
            </a:extLst>
          </p:cNvPr>
          <p:cNvSpPr txBox="1"/>
          <p:nvPr/>
        </p:nvSpPr>
        <p:spPr>
          <a:xfrm>
            <a:off x="8193024" y="6428232"/>
            <a:ext cx="1245213" cy="369332"/>
          </a:xfrm>
          <a:prstGeom prst="rect">
            <a:avLst/>
          </a:prstGeom>
          <a:noFill/>
        </p:spPr>
        <p:txBody>
          <a:bodyPr wrap="none" rtlCol="0">
            <a:spAutoFit/>
          </a:bodyPr>
          <a:lstStyle/>
          <a:p>
            <a:r>
              <a:rPr lang="en-GB" dirty="0"/>
              <a:t>Made by ai</a:t>
            </a:r>
            <a:endParaRPr lang="en-NZ" dirty="0"/>
          </a:p>
        </p:txBody>
      </p:sp>
      <p:pic>
        <p:nvPicPr>
          <p:cNvPr id="8" name="Picture 7">
            <a:extLst>
              <a:ext uri="{FF2B5EF4-FFF2-40B4-BE49-F238E27FC236}">
                <a16:creationId xmlns:a16="http://schemas.microsoft.com/office/drawing/2014/main" id="{A92DCFDB-72A7-6C02-0E60-B8B3F2A800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5975" y="1991083"/>
            <a:ext cx="7379208" cy="4919472"/>
          </a:xfrm>
          <a:prstGeom prst="rect">
            <a:avLst/>
          </a:prstGeom>
        </p:spPr>
      </p:pic>
    </p:spTree>
    <p:extLst>
      <p:ext uri="{BB962C8B-B14F-4D97-AF65-F5344CB8AC3E}">
        <p14:creationId xmlns:p14="http://schemas.microsoft.com/office/powerpoint/2010/main" val="974559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365125"/>
            <a:ext cx="10515600" cy="720725"/>
          </a:xfrm>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esp32 for its native </a:t>
            </a:r>
            <a:r>
              <a:rPr lang="en-NZ" dirty="0" err="1"/>
              <a:t>wifi</a:t>
            </a:r>
            <a:r>
              <a:rPr lang="en-NZ" dirty="0"/>
              <a:t> and Bluetooth capabilities </a:t>
            </a:r>
            <a:r>
              <a:rPr lang="en-NZ" dirty="0" err="1"/>
              <a:t>aswell</a:t>
            </a:r>
            <a:r>
              <a:rPr lang="en-NZ" dirty="0"/>
              <a:t> as its increased </a:t>
            </a:r>
            <a:r>
              <a:rPr lang="en-NZ" dirty="0" err="1"/>
              <a:t>gpio</a:t>
            </a:r>
            <a:r>
              <a:rPr lang="en-NZ" dirty="0"/>
              <a:t> pins compared to other boards, another reason is that it is faster at reading sensor readings </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085850"/>
            <a:ext cx="3723968" cy="1325563"/>
          </a:xfrm>
        </p:spPr>
        <p:txBody>
          <a:bodyPr/>
          <a:lstStyle/>
          <a:p>
            <a:pPr marL="0" indent="0">
              <a:buNone/>
            </a:pPr>
            <a:r>
              <a:rPr lang="en-NZ" noProof="0" dirty="0"/>
              <a:t>Chosen</a:t>
            </a:r>
          </a:p>
          <a:p>
            <a:pPr marL="0" indent="0">
              <a:buNone/>
            </a:pPr>
            <a:r>
              <a:rPr lang="en-NZ" dirty="0"/>
              <a:t>ESP32-s3</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085849"/>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noProof="0" dirty="0"/>
              <a:t>Arduino r4 </a:t>
            </a:r>
            <a:r>
              <a:rPr lang="en-NZ" noProof="0" dirty="0" err="1"/>
              <a:t>wifi</a:t>
            </a: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1085848"/>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p>
          <a:p>
            <a:pPr marL="0" indent="0">
              <a:buFont typeface="Arial" panose="020B0604020202020204" pitchFamily="34" charset="0"/>
              <a:buNone/>
            </a:pPr>
            <a:r>
              <a:rPr lang="en-NZ" noProof="0" dirty="0"/>
              <a:t> </a:t>
            </a:r>
          </a:p>
        </p:txBody>
      </p:sp>
      <p:pic>
        <p:nvPicPr>
          <p:cNvPr id="4" name="Picture 3" descr="Arduino UNO R4 WiFi - SparkFun Electronics">
            <a:extLst>
              <a:ext uri="{FF2B5EF4-FFF2-40B4-BE49-F238E27FC236}">
                <a16:creationId xmlns:a16="http://schemas.microsoft.com/office/drawing/2014/main" id="{DB5BC4F3-C531-1D3F-2F74-03D6ADDD369B}"/>
              </a:ext>
            </a:extLst>
          </p:cNvPr>
          <p:cNvPicPr>
            <a:picLocks noChangeAspect="1"/>
          </p:cNvPicPr>
          <p:nvPr/>
        </p:nvPicPr>
        <p:blipFill>
          <a:blip r:embed="rId2"/>
          <a:stretch>
            <a:fillRect/>
          </a:stretch>
        </p:blipFill>
        <p:spPr>
          <a:xfrm>
            <a:off x="4086857" y="1962483"/>
            <a:ext cx="1704974" cy="1704974"/>
          </a:xfrm>
          <a:prstGeom prst="rect">
            <a:avLst/>
          </a:prstGeom>
        </p:spPr>
      </p:pic>
      <p:pic>
        <p:nvPicPr>
          <p:cNvPr id="6" name="Picture 5" descr="Buy ESP32 ESP-32S WiFi+ Bluetooth Development Board">
            <a:extLst>
              <a:ext uri="{FF2B5EF4-FFF2-40B4-BE49-F238E27FC236}">
                <a16:creationId xmlns:a16="http://schemas.microsoft.com/office/drawing/2014/main" id="{0738B815-EC1C-C22B-E05D-CE494F7F36C9}"/>
              </a:ext>
            </a:extLst>
          </p:cNvPr>
          <p:cNvPicPr>
            <a:picLocks noChangeAspect="1"/>
          </p:cNvPicPr>
          <p:nvPr/>
        </p:nvPicPr>
        <p:blipFill>
          <a:blip r:embed="rId3"/>
          <a:stretch>
            <a:fillRect/>
          </a:stretch>
        </p:blipFill>
        <p:spPr>
          <a:xfrm>
            <a:off x="838199" y="1956925"/>
            <a:ext cx="1246583" cy="1662110"/>
          </a:xfrm>
          <a:prstGeom prst="rect">
            <a:avLst/>
          </a:prstGeom>
        </p:spPr>
      </p:pic>
      <p:pic>
        <p:nvPicPr>
          <p:cNvPr id="7" name="Picture 6" descr="Arduino Uno Rev 3 SMD, A000073">
            <a:extLst>
              <a:ext uri="{FF2B5EF4-FFF2-40B4-BE49-F238E27FC236}">
                <a16:creationId xmlns:a16="http://schemas.microsoft.com/office/drawing/2014/main" id="{A3CFC61C-74CA-3081-5974-868F80B6B667}"/>
              </a:ext>
            </a:extLst>
          </p:cNvPr>
          <p:cNvPicPr>
            <a:picLocks noChangeAspect="1"/>
          </p:cNvPicPr>
          <p:nvPr/>
        </p:nvPicPr>
        <p:blipFill>
          <a:blip r:embed="rId4"/>
          <a:stretch>
            <a:fillRect/>
          </a:stretch>
        </p:blipFill>
        <p:spPr>
          <a:xfrm>
            <a:off x="7793907" y="1983916"/>
            <a:ext cx="2230497" cy="1662108"/>
          </a:xfrm>
          <a:prstGeom prst="rect">
            <a:avLst/>
          </a:prstGeom>
        </p:spPr>
      </p:pic>
    </p:spTree>
    <p:extLst>
      <p:ext uri="{BB962C8B-B14F-4D97-AF65-F5344CB8AC3E}">
        <p14:creationId xmlns:p14="http://schemas.microsoft.com/office/powerpoint/2010/main" val="4188302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85000" lnSpcReduction="20000"/>
          </a:bodyPr>
          <a:lstStyle/>
          <a:p>
            <a:pPr marL="0" indent="0">
              <a:buNone/>
            </a:pPr>
            <a:r>
              <a:rPr lang="en-NZ" noProof="0" dirty="0"/>
              <a:t>Explanation of component-brain</a:t>
            </a:r>
          </a:p>
          <a:p>
            <a:pPr marL="0" indent="0">
              <a:buNone/>
            </a:pPr>
            <a:r>
              <a:rPr lang="en-NZ" dirty="0"/>
              <a:t>The ESP32 is the main microcontroller used in my project. It is a microcontroller with a </a:t>
            </a:r>
            <a:r>
              <a:rPr lang="en-NZ" dirty="0" err="1"/>
              <a:t>wifi</a:t>
            </a:r>
            <a:r>
              <a:rPr lang="en-NZ" dirty="0"/>
              <a:t> component onboard meaning it can be controlled wirelessly using </a:t>
            </a:r>
            <a:r>
              <a:rPr lang="en-NZ" dirty="0" err="1"/>
              <a:t>wifi</a:t>
            </a:r>
            <a:r>
              <a:rPr lang="en-NZ" dirty="0"/>
              <a:t>, it also has </a:t>
            </a:r>
            <a:r>
              <a:rPr lang="en-NZ" dirty="0" err="1"/>
              <a:t>gpio</a:t>
            </a:r>
            <a:r>
              <a:rPr lang="en-NZ" dirty="0"/>
              <a:t> pins on the side so that sensors and components like a PCB can be added for adding more components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Font typeface="Arial" panose="020B0604020202020204" pitchFamily="34" charset="0"/>
              <a:buNone/>
            </a:pPr>
            <a:r>
              <a:rPr lang="en-NZ" dirty="0"/>
              <a:t>Have been found to be much more reliable and easier to use compared to the r4 and the r3 </a:t>
            </a:r>
            <a:r>
              <a:rPr lang="en-NZ" dirty="0" err="1"/>
              <a:t>arduinos</a:t>
            </a:r>
            <a:r>
              <a:rPr lang="en-NZ" dirty="0"/>
              <a:t> </a:t>
            </a:r>
            <a:r>
              <a:rPr lang="en-NZ" dirty="0" err="1"/>
              <a:t>aswll</a:t>
            </a:r>
            <a:r>
              <a:rPr lang="en-NZ" dirty="0"/>
              <a:t> as the </a:t>
            </a:r>
            <a:r>
              <a:rPr lang="en-NZ" dirty="0" err="1"/>
              <a:t>wifi</a:t>
            </a:r>
            <a:r>
              <a:rPr lang="en-NZ" dirty="0"/>
              <a:t> capabilities natively on the </a:t>
            </a:r>
            <a:r>
              <a:rPr lang="en-NZ" dirty="0" err="1"/>
              <a:t>esp</a:t>
            </a:r>
            <a:r>
              <a:rPr lang="en-NZ" dirty="0"/>
              <a:t> compared to the </a:t>
            </a:r>
            <a:r>
              <a:rPr lang="en-NZ" dirty="0" err="1"/>
              <a:t>wifi</a:t>
            </a:r>
            <a:r>
              <a:rPr lang="en-NZ" dirty="0"/>
              <a:t> connection on the r4 </a:t>
            </a:r>
            <a:r>
              <a:rPr lang="en-NZ" noProof="0" dirty="0"/>
              <a:t> </a:t>
            </a:r>
          </a:p>
        </p:txBody>
      </p:sp>
      <p:pic>
        <p:nvPicPr>
          <p:cNvPr id="7" name="Picture 6" descr="Buy ESP32 ESP-32S WiFi+ Bluetooth Development Board">
            <a:extLst>
              <a:ext uri="{FF2B5EF4-FFF2-40B4-BE49-F238E27FC236}">
                <a16:creationId xmlns:a16="http://schemas.microsoft.com/office/drawing/2014/main" id="{6A8339F2-099A-A5DA-1381-4B912633BE7E}"/>
              </a:ext>
            </a:extLst>
          </p:cNvPr>
          <p:cNvPicPr>
            <a:picLocks noChangeAspect="1"/>
          </p:cNvPicPr>
          <p:nvPr/>
        </p:nvPicPr>
        <p:blipFill>
          <a:blip r:embed="rId3"/>
          <a:stretch>
            <a:fillRect/>
          </a:stretch>
        </p:blipFill>
        <p:spPr>
          <a:xfrm>
            <a:off x="943897" y="3909550"/>
            <a:ext cx="1246583" cy="1662110"/>
          </a:xfrm>
          <a:prstGeom prst="rect">
            <a:avLst/>
          </a:prstGeom>
        </p:spPr>
      </p:pic>
    </p:spTree>
    <p:extLst>
      <p:ext uri="{BB962C8B-B14F-4D97-AF65-F5344CB8AC3E}">
        <p14:creationId xmlns:p14="http://schemas.microsoft.com/office/powerpoint/2010/main" val="3917241819"/>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DE6CF-B445-2DC3-DAC3-8D1AA76DC0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07242-68C4-C11B-D99F-A2DCAB543E47}"/>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7BB92E76-E3F6-6C1B-4C93-7DF5D363240A}"/>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noProof="0" dirty="0"/>
              <a:t>Analyse notes from testing and note changes to be made:</a:t>
            </a:r>
            <a:r>
              <a:rPr lang="en-NZ" dirty="0"/>
              <a:t>To fix the interface lag, I chose to use a dual-core ESP32 chip. This lets the processor handle multiple tasks at once: Core 0 runs the local code loop to handle instant switch inputs and refresh the U8g2 OLED screens without any delay, while Core 1 runs the background web server to host the JSON dashboard page. This ensures the live user interfaces update quickly and smoothly without crashing.</a:t>
            </a:r>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8561BD7D-2184-D401-94A5-899C74EC469D}"/>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44929486-D4C8-D2C0-400A-3937434FA30D}"/>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a:t>
            </a:r>
            <a:r>
              <a:rPr lang="en-NZ" dirty="0" err="1"/>
              <a:t>testing:When</a:t>
            </a:r>
            <a:r>
              <a:rPr lang="en-NZ" dirty="0"/>
              <a:t> testing the original single-core Arduinos, the display setup had a bit of lag. Every time the controller had to refresh the OLED layout or stream data over the network, it would momentarily freeze up, missing live switch changes and slowing down the screen update rate. The hardware simply didn't have enough processing power to keep the graphical interface smooth while managing the wireless network connection at the same time.</a:t>
            </a:r>
          </a:p>
          <a:p>
            <a:pPr marL="0" indent="0">
              <a:buNone/>
            </a:pPr>
            <a:endParaRPr lang="en-NZ" noProof="0" dirty="0"/>
          </a:p>
        </p:txBody>
      </p:sp>
    </p:spTree>
    <p:extLst>
      <p:ext uri="{BB962C8B-B14F-4D97-AF65-F5344CB8AC3E}">
        <p14:creationId xmlns:p14="http://schemas.microsoft.com/office/powerpoint/2010/main" val="38895813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E3CD5-AD13-3CED-8541-FFF36FE096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89EDAD-08EF-0BF2-303D-015961EDDF03}"/>
              </a:ext>
            </a:extLst>
          </p:cNvPr>
          <p:cNvSpPr>
            <a:spLocks noGrp="1"/>
          </p:cNvSpPr>
          <p:nvPr>
            <p:ph type="title"/>
          </p:nvPr>
        </p:nvSpPr>
        <p:spPr>
          <a:xfrm>
            <a:off x="838200" y="365125"/>
            <a:ext cx="10515600" cy="720725"/>
          </a:xfrm>
          <a:solidFill>
            <a:schemeClr val="accent3">
              <a:lumMod val="20000"/>
              <a:lumOff val="80000"/>
            </a:schemeClr>
          </a:solidFill>
        </p:spPr>
        <p:txBody>
          <a:bodyPr>
            <a:normAutofit fontScale="90000"/>
          </a:bodyPr>
          <a:lstStyle/>
          <a:p>
            <a:r>
              <a:rPr lang="en-NZ" noProof="0" dirty="0"/>
              <a:t>Choice of Component/System 2:physical controls </a:t>
            </a:r>
          </a:p>
        </p:txBody>
      </p:sp>
      <p:sp>
        <p:nvSpPr>
          <p:cNvPr id="5" name="Content Placeholder 2">
            <a:extLst>
              <a:ext uri="{FF2B5EF4-FFF2-40B4-BE49-F238E27FC236}">
                <a16:creationId xmlns:a16="http://schemas.microsoft.com/office/drawing/2014/main" id="{2EEF68AF-73CE-D67A-CD84-BEC0EFDE6C33}"/>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The reason why I chose the hall effect sensor  is due to simplicity and the fact that it use magnets for signal input meaning nothing is touching so no friction and near zero wear in the parts, it is also very easy to make a custom casing for it to be held in place where ever its needed  </a:t>
            </a:r>
            <a:endParaRPr lang="en-NZ" noProof="0" dirty="0"/>
          </a:p>
        </p:txBody>
      </p:sp>
      <p:sp>
        <p:nvSpPr>
          <p:cNvPr id="8" name="Content Placeholder 7">
            <a:extLst>
              <a:ext uri="{FF2B5EF4-FFF2-40B4-BE49-F238E27FC236}">
                <a16:creationId xmlns:a16="http://schemas.microsoft.com/office/drawing/2014/main" id="{2437FB4A-C1CF-2945-BDF4-05A3E375C32A}"/>
              </a:ext>
            </a:extLst>
          </p:cNvPr>
          <p:cNvSpPr>
            <a:spLocks noGrp="1"/>
          </p:cNvSpPr>
          <p:nvPr>
            <p:ph idx="1"/>
          </p:nvPr>
        </p:nvSpPr>
        <p:spPr>
          <a:xfrm>
            <a:off x="838200" y="1085850"/>
            <a:ext cx="3723968" cy="1325563"/>
          </a:xfrm>
        </p:spPr>
        <p:txBody>
          <a:bodyPr/>
          <a:lstStyle/>
          <a:p>
            <a:pPr marL="0" indent="0">
              <a:buNone/>
            </a:pPr>
            <a:r>
              <a:rPr lang="en-NZ" noProof="0" dirty="0"/>
              <a:t>Chosen</a:t>
            </a:r>
          </a:p>
          <a:p>
            <a:pPr marL="0" indent="0">
              <a:buNone/>
            </a:pPr>
            <a:r>
              <a:rPr lang="en-NZ" dirty="0"/>
              <a:t>Hall effect sensor</a:t>
            </a:r>
          </a:p>
          <a:p>
            <a:pPr marL="0" indent="0">
              <a:buNone/>
            </a:pPr>
            <a:endParaRPr lang="en-NZ" noProof="0" dirty="0"/>
          </a:p>
        </p:txBody>
      </p:sp>
      <p:sp>
        <p:nvSpPr>
          <p:cNvPr id="9" name="Content Placeholder 7">
            <a:extLst>
              <a:ext uri="{FF2B5EF4-FFF2-40B4-BE49-F238E27FC236}">
                <a16:creationId xmlns:a16="http://schemas.microsoft.com/office/drawing/2014/main" id="{F0228A46-E104-EC79-C468-348E78F19B26}"/>
              </a:ext>
            </a:extLst>
          </p:cNvPr>
          <p:cNvSpPr txBox="1">
            <a:spLocks/>
          </p:cNvSpPr>
          <p:nvPr/>
        </p:nvSpPr>
        <p:spPr>
          <a:xfrm>
            <a:off x="4234016" y="1085849"/>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Potentiometer</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9A871463-3208-9FA6-0521-010FAA2EDF1A}"/>
              </a:ext>
            </a:extLst>
          </p:cNvPr>
          <p:cNvSpPr txBox="1">
            <a:spLocks/>
          </p:cNvSpPr>
          <p:nvPr/>
        </p:nvSpPr>
        <p:spPr>
          <a:xfrm>
            <a:off x="7793908" y="1085848"/>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noProof="0" dirty="0"/>
              <a:t> optical encoder </a:t>
            </a:r>
          </a:p>
          <a:p>
            <a:pPr marL="0" indent="0">
              <a:buFont typeface="Arial" panose="020B0604020202020204" pitchFamily="34" charset="0"/>
              <a:buNone/>
            </a:pPr>
            <a:r>
              <a:rPr lang="en-NZ" noProof="0" dirty="0"/>
              <a:t>      </a:t>
            </a:r>
          </a:p>
        </p:txBody>
      </p:sp>
      <p:pic>
        <p:nvPicPr>
          <p:cNvPr id="11" name="Picture 10" descr="UGN3503UA Hall Effect Sensor | Afterpay &amp; ZipPay Available | Click &amp; Collect | Jaycar">
            <a:extLst>
              <a:ext uri="{FF2B5EF4-FFF2-40B4-BE49-F238E27FC236}">
                <a16:creationId xmlns:a16="http://schemas.microsoft.com/office/drawing/2014/main" id="{74D8C263-7852-B94D-311C-7133FC240A2D}"/>
              </a:ext>
            </a:extLst>
          </p:cNvPr>
          <p:cNvPicPr>
            <a:picLocks noChangeAspect="1"/>
          </p:cNvPicPr>
          <p:nvPr/>
        </p:nvPicPr>
        <p:blipFill>
          <a:blip r:embed="rId2"/>
          <a:stretch>
            <a:fillRect/>
          </a:stretch>
        </p:blipFill>
        <p:spPr>
          <a:xfrm>
            <a:off x="1002276" y="2091017"/>
            <a:ext cx="1337983" cy="1337983"/>
          </a:xfrm>
          <a:prstGeom prst="rect">
            <a:avLst/>
          </a:prstGeom>
        </p:spPr>
      </p:pic>
      <p:pic>
        <p:nvPicPr>
          <p:cNvPr id="12" name="Picture 11" descr="25k Ohm Logarithmic (A) Single Gang 24mm Potentiometer | Afterpay &amp; ZipPay Available | Click &amp; Collect | Jaycar">
            <a:extLst>
              <a:ext uri="{FF2B5EF4-FFF2-40B4-BE49-F238E27FC236}">
                <a16:creationId xmlns:a16="http://schemas.microsoft.com/office/drawing/2014/main" id="{B027A818-A851-A2E7-7756-A4924647D6FF}"/>
              </a:ext>
            </a:extLst>
          </p:cNvPr>
          <p:cNvPicPr>
            <a:picLocks noChangeAspect="1"/>
          </p:cNvPicPr>
          <p:nvPr/>
        </p:nvPicPr>
        <p:blipFill>
          <a:blip r:embed="rId3"/>
          <a:stretch>
            <a:fillRect/>
          </a:stretch>
        </p:blipFill>
        <p:spPr>
          <a:xfrm>
            <a:off x="4398091" y="1959446"/>
            <a:ext cx="1337984" cy="1337984"/>
          </a:xfrm>
          <a:prstGeom prst="rect">
            <a:avLst/>
          </a:prstGeom>
        </p:spPr>
      </p:pic>
      <p:pic>
        <p:nvPicPr>
          <p:cNvPr id="13" name="Picture 12" descr="Optical Encoders: How They Work, Types &amp; Applications">
            <a:extLst>
              <a:ext uri="{FF2B5EF4-FFF2-40B4-BE49-F238E27FC236}">
                <a16:creationId xmlns:a16="http://schemas.microsoft.com/office/drawing/2014/main" id="{528DC37D-C413-9270-1979-4BCCBBB1C8F7}"/>
              </a:ext>
            </a:extLst>
          </p:cNvPr>
          <p:cNvPicPr>
            <a:picLocks noChangeAspect="1"/>
          </p:cNvPicPr>
          <p:nvPr/>
        </p:nvPicPr>
        <p:blipFill>
          <a:blip r:embed="rId4"/>
          <a:stretch>
            <a:fillRect/>
          </a:stretch>
        </p:blipFill>
        <p:spPr>
          <a:xfrm>
            <a:off x="7957984" y="1979423"/>
            <a:ext cx="1449577" cy="1449577"/>
          </a:xfrm>
          <a:prstGeom prst="rect">
            <a:avLst/>
          </a:prstGeom>
        </p:spPr>
      </p:pic>
    </p:spTree>
    <p:extLst>
      <p:ext uri="{BB962C8B-B14F-4D97-AF65-F5344CB8AC3E}">
        <p14:creationId xmlns:p14="http://schemas.microsoft.com/office/powerpoint/2010/main" val="3412286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component-speed/rpm sensing</a:t>
            </a:r>
          </a:p>
          <a:p>
            <a:pPr marL="0" indent="0">
              <a:buNone/>
            </a:pPr>
            <a:r>
              <a:rPr lang="en-NZ" dirty="0"/>
              <a:t>The speed and RPM tracking system uses digital Hall effect sensors with neodymium magnets attached to the rotating parts of the bike, including the clutches and rear wheel. When the magnet passes the sensor, it detects the change in the magnetic field and sends a digital signal (0V or 5V) to the Arduino. These signals are used by the Arduino to calculate the RPM of the drivetrain and the speed of the bike by measuring the time between each pulse.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there is a bit of electromagnetic interference from other magnets like the clutch and the engine, adding a 0.1uf capacitor across the signal and </a:t>
            </a:r>
            <a:r>
              <a:rPr lang="en-NZ" dirty="0" err="1"/>
              <a:t>gnd</a:t>
            </a:r>
            <a:r>
              <a:rPr lang="en-NZ" dirty="0"/>
              <a:t> wires did reduce this </a:t>
            </a:r>
            <a:r>
              <a:rPr lang="en-NZ" dirty="0" err="1"/>
              <a:t>emi</a:t>
            </a:r>
            <a:endParaRPr lang="en-NZ" noProof="0" dirty="0"/>
          </a:p>
        </p:txBody>
      </p:sp>
      <p:pic>
        <p:nvPicPr>
          <p:cNvPr id="6" name="Picture 5" descr="UGN3503UA Hall Effect Sensor | Afterpay &amp; ZipPay Available | Click &amp; Collect | Jaycar">
            <a:extLst>
              <a:ext uri="{FF2B5EF4-FFF2-40B4-BE49-F238E27FC236}">
                <a16:creationId xmlns:a16="http://schemas.microsoft.com/office/drawing/2014/main" id="{AF91522F-8864-87D1-BC0D-289AA19074B0}"/>
              </a:ext>
            </a:extLst>
          </p:cNvPr>
          <p:cNvPicPr>
            <a:picLocks noChangeAspect="1"/>
          </p:cNvPicPr>
          <p:nvPr/>
        </p:nvPicPr>
        <p:blipFill>
          <a:blip r:embed="rId2"/>
          <a:stretch>
            <a:fillRect/>
          </a:stretch>
        </p:blipFill>
        <p:spPr>
          <a:xfrm>
            <a:off x="1022555" y="4210050"/>
            <a:ext cx="1738312" cy="1738312"/>
          </a:xfrm>
          <a:prstGeom prst="rect">
            <a:avLst/>
          </a:prstGeom>
        </p:spPr>
      </p:pic>
    </p:spTree>
    <p:extLst>
      <p:ext uri="{BB962C8B-B14F-4D97-AF65-F5344CB8AC3E}">
        <p14:creationId xmlns:p14="http://schemas.microsoft.com/office/powerpoint/2010/main" val="70874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noProof="0" dirty="0"/>
              <a:t>Analyse notes from testing and note changes to be made:</a:t>
            </a:r>
            <a:r>
              <a:rPr lang="en-NZ" dirty="0"/>
              <a:t> twisting the 3 wires </a:t>
            </a:r>
            <a:r>
              <a:rPr lang="en-NZ" dirty="0" err="1"/>
              <a:t>ontop</a:t>
            </a:r>
            <a:r>
              <a:rPr lang="en-NZ" dirty="0"/>
              <a:t> of </a:t>
            </a:r>
            <a:r>
              <a:rPr lang="en-NZ" dirty="0" err="1"/>
              <a:t>eachother</a:t>
            </a:r>
            <a:r>
              <a:rPr lang="en-NZ" dirty="0"/>
              <a:t> which creates an inductor which resist signal roughness </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analog hall sensors still have a little bit of bounce to its signal but still readable </a:t>
            </a:r>
            <a:r>
              <a:rPr lang="en-NZ" dirty="0" err="1"/>
              <a:t>tho</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65100"/>
            <a:ext cx="10515600" cy="777875"/>
          </a:xfrm>
          <a:solidFill>
            <a:schemeClr val="accent3">
              <a:lumMod val="20000"/>
              <a:lumOff val="80000"/>
            </a:schemeClr>
          </a:solidFill>
        </p:spPr>
        <p:txBody>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chosen 1.3" I2C OLED display was selected because it provides a clear and efficient way to display information from the ESP. It is not only bright enough to be seen in the day but only uses 4 wires (</a:t>
            </a:r>
            <a:r>
              <a:rPr lang="en-NZ" dirty="0" err="1"/>
              <a:t>gnd</a:t>
            </a:r>
            <a:r>
              <a:rPr lang="en-NZ" dirty="0"/>
              <a:t>, 3v3, </a:t>
            </a:r>
            <a:r>
              <a:rPr lang="en-NZ" dirty="0" err="1"/>
              <a:t>sda</a:t>
            </a:r>
            <a:r>
              <a:rPr lang="en-NZ" dirty="0"/>
              <a:t> and </a:t>
            </a:r>
            <a:r>
              <a:rPr lang="en-NZ" dirty="0" err="1"/>
              <a:t>scl</a:t>
            </a:r>
            <a:r>
              <a:rPr lang="en-NZ" dirty="0"/>
              <a:t>) (</a:t>
            </a:r>
            <a:r>
              <a:rPr lang="en-NZ" dirty="0" err="1"/>
              <a:t>scl:serial</a:t>
            </a:r>
            <a:r>
              <a:rPr lang="en-NZ" dirty="0"/>
              <a:t> clock  </a:t>
            </a:r>
            <a:r>
              <a:rPr lang="en-NZ" dirty="0" err="1"/>
              <a:t>sda</a:t>
            </a:r>
            <a:r>
              <a:rPr lang="en-NZ" dirty="0"/>
              <a:t>: serial data) </a:t>
            </a:r>
            <a:r>
              <a:rPr lang="en-NZ" dirty="0" err="1"/>
              <a:t>wich</a:t>
            </a:r>
            <a:r>
              <a:rPr lang="en-NZ" dirty="0"/>
              <a:t> is also very easy to programme and </a:t>
            </a:r>
            <a:r>
              <a:rPr lang="en-NZ" dirty="0" err="1"/>
              <a:t>controll</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94297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942974"/>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942973"/>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SPI TFT colour display</a:t>
            </a:r>
          </a:p>
          <a:p>
            <a:pPr marL="0" indent="0">
              <a:buFont typeface="Arial" panose="020B0604020202020204" pitchFamily="34" charset="0"/>
              <a:buNone/>
            </a:pPr>
            <a:r>
              <a:rPr lang="en-NZ" noProof="0" dirty="0"/>
              <a:t> </a:t>
            </a:r>
          </a:p>
        </p:txBody>
      </p:sp>
      <p:pic>
        <p:nvPicPr>
          <p:cNvPr id="3" name="Picture 2" descr="1.3&quot; IIC I2C Serial 128x64 SSH1106 OLED Display Module | SunFounder">
            <a:extLst>
              <a:ext uri="{FF2B5EF4-FFF2-40B4-BE49-F238E27FC236}">
                <a16:creationId xmlns:a16="http://schemas.microsoft.com/office/drawing/2014/main" id="{F5E4ECB3-7C85-9278-8865-913F5712CD83}"/>
              </a:ext>
            </a:extLst>
          </p:cNvPr>
          <p:cNvPicPr>
            <a:picLocks noChangeAspect="1"/>
          </p:cNvPicPr>
          <p:nvPr/>
        </p:nvPicPr>
        <p:blipFill>
          <a:blip r:embed="rId3"/>
          <a:stretch>
            <a:fillRect/>
          </a:stretch>
        </p:blipFill>
        <p:spPr>
          <a:xfrm>
            <a:off x="838200" y="1862138"/>
            <a:ext cx="1566862" cy="1566862"/>
          </a:xfrm>
          <a:prstGeom prst="rect">
            <a:avLst/>
          </a:prstGeom>
        </p:spPr>
      </p:pic>
      <p:pic>
        <p:nvPicPr>
          <p:cNvPr id="4" name="Picture 3" descr="Dot Matrix White on Blue LCD 16x2 Character">
            <a:extLst>
              <a:ext uri="{FF2B5EF4-FFF2-40B4-BE49-F238E27FC236}">
                <a16:creationId xmlns:a16="http://schemas.microsoft.com/office/drawing/2014/main" id="{32BBFE84-3B48-9181-4D61-41F2CE571F1A}"/>
              </a:ext>
            </a:extLst>
          </p:cNvPr>
          <p:cNvPicPr>
            <a:picLocks noChangeAspect="1"/>
          </p:cNvPicPr>
          <p:nvPr/>
        </p:nvPicPr>
        <p:blipFill>
          <a:blip r:embed="rId4"/>
          <a:stretch>
            <a:fillRect/>
          </a:stretch>
        </p:blipFill>
        <p:spPr>
          <a:xfrm>
            <a:off x="4234016" y="1928812"/>
            <a:ext cx="1433513" cy="1433513"/>
          </a:xfrm>
          <a:prstGeom prst="rect">
            <a:avLst/>
          </a:prstGeom>
        </p:spPr>
      </p:pic>
      <p:pic>
        <p:nvPicPr>
          <p:cNvPr id="6" name="Picture 5" descr="TFT LCD - Full Colour TFT LCD Display 1.8 inch(128x160) SPI Interface">
            <a:extLst>
              <a:ext uri="{FF2B5EF4-FFF2-40B4-BE49-F238E27FC236}">
                <a16:creationId xmlns:a16="http://schemas.microsoft.com/office/drawing/2014/main" id="{41234967-307F-BDE8-49C4-83E454CBA3FC}"/>
              </a:ext>
            </a:extLst>
          </p:cNvPr>
          <p:cNvPicPr>
            <a:picLocks noChangeAspect="1"/>
          </p:cNvPicPr>
          <p:nvPr/>
        </p:nvPicPr>
        <p:blipFill>
          <a:blip r:embed="rId5"/>
          <a:stretch>
            <a:fillRect/>
          </a:stretch>
        </p:blipFill>
        <p:spPr>
          <a:xfrm>
            <a:off x="7793908" y="1909762"/>
            <a:ext cx="1471612" cy="1471612"/>
          </a:xfrm>
          <a:prstGeom prst="rect">
            <a:avLst/>
          </a:prstGeom>
        </p:spPr>
      </p:pic>
    </p:spTree>
    <p:extLst>
      <p:ext uri="{BB962C8B-B14F-4D97-AF65-F5344CB8AC3E}">
        <p14:creationId xmlns:p14="http://schemas.microsoft.com/office/powerpoint/2010/main" val="2953175661"/>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92500"/>
          </a:bodyPr>
          <a:lstStyle/>
          <a:p>
            <a:pPr marL="0" indent="0">
              <a:buNone/>
            </a:pPr>
            <a:r>
              <a:rPr lang="en-NZ" noProof="0" dirty="0"/>
              <a:t>Explanation of component-dashboard:</a:t>
            </a:r>
            <a:r>
              <a:rPr lang="en-NZ" dirty="0"/>
              <a:t>The dashboard provides the rider with a real-time visual interface displaying operational telemetry. It features a 1.3" SH1106 I2C OLED display running in tandem with a custom 16-LED tachometer bar driven by an MCP23017 port expander.</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 it works very nicely hardware wise but programme wise its lagging a bit so a separate screen (on the same </a:t>
            </a:r>
            <a:r>
              <a:rPr lang="en-NZ" dirty="0" err="1"/>
              <a:t>oled</a:t>
            </a:r>
            <a:r>
              <a:rPr lang="en-NZ" dirty="0"/>
              <a:t>) will be added to show sensor values that can b controlled by s switch to cycle through the 2 screens </a:t>
            </a:r>
          </a:p>
          <a:p>
            <a:pPr marL="0" indent="0">
              <a:buNone/>
            </a:pPr>
            <a:br>
              <a:rPr lang="en-NZ" dirty="0"/>
            </a:br>
            <a:endParaRPr lang="en-NZ" noProof="0" dirty="0"/>
          </a:p>
        </p:txBody>
      </p:sp>
      <p:pic>
        <p:nvPicPr>
          <p:cNvPr id="7" name="Picture 6" descr="1.3&quot; IIC I2C Serial 128x64 SSH1106 OLED Display Module | SunFounder">
            <a:extLst>
              <a:ext uri="{FF2B5EF4-FFF2-40B4-BE49-F238E27FC236}">
                <a16:creationId xmlns:a16="http://schemas.microsoft.com/office/drawing/2014/main" id="{54271B21-FAE3-3C41-E0F8-769AF4668304}"/>
              </a:ext>
            </a:extLst>
          </p:cNvPr>
          <p:cNvPicPr>
            <a:picLocks noChangeAspect="1"/>
          </p:cNvPicPr>
          <p:nvPr/>
        </p:nvPicPr>
        <p:blipFill>
          <a:blip r:embed="rId2"/>
          <a:stretch>
            <a:fillRect/>
          </a:stretch>
        </p:blipFill>
        <p:spPr>
          <a:xfrm>
            <a:off x="1022555" y="4189702"/>
            <a:ext cx="1566862" cy="1566862"/>
          </a:xfrm>
          <a:prstGeom prst="rect">
            <a:avLst/>
          </a:prstGeom>
        </p:spPr>
      </p:pic>
    </p:spTree>
    <p:extLst>
      <p:ext uri="{BB962C8B-B14F-4D97-AF65-F5344CB8AC3E}">
        <p14:creationId xmlns:p14="http://schemas.microsoft.com/office/powerpoint/2010/main" val="3091740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9C1A2-86E3-8152-7C99-0C92420636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3F34E6-3337-F604-5FD4-D99ADEC9EAB0}"/>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9A2E10AF-E8DC-77CD-AEF5-92874F19D3A0}"/>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a:p>
            <a:pPr marL="0" indent="0">
              <a:buNone/>
            </a:pPr>
            <a:r>
              <a:rPr lang="en-NZ" dirty="0"/>
              <a:t>to prevent environmental short circuits, I designed a sealed handlebar mounting dashboard cluster </a:t>
            </a:r>
            <a:r>
              <a:rPr lang="en-NZ"/>
              <a:t>using 3D-printed parts. </a:t>
            </a:r>
            <a:r>
              <a:rPr lang="en-NZ" dirty="0"/>
              <a:t>I integrated a transparent acrylic faceplate and cut a custom, shock-absorbing TPU gasket to seal the electronics safely away from weather exposure.</a:t>
            </a:r>
            <a:endParaRPr lang="en-NZ" noProof="0" dirty="0"/>
          </a:p>
        </p:txBody>
      </p:sp>
      <p:sp>
        <p:nvSpPr>
          <p:cNvPr id="6" name="Content Placeholder 2">
            <a:extLst>
              <a:ext uri="{FF2B5EF4-FFF2-40B4-BE49-F238E27FC236}">
                <a16:creationId xmlns:a16="http://schemas.microsoft.com/office/drawing/2014/main" id="{C56FAEE3-7BDA-65B3-E035-11A81E925FF4}"/>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B6A71E36-4483-2584-CCFF-D3DA0E228EAB}"/>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a:t>
            </a:r>
            <a:r>
              <a:rPr lang="en-NZ" dirty="0" err="1"/>
              <a:t>testing:When</a:t>
            </a:r>
            <a:r>
              <a:rPr lang="en-NZ" dirty="0"/>
              <a:t> I tested the dashboard out in the open, I realized the bare screen and circuit board were completely exposed to the elements. If it rained or mud splashed up while riding, water could easily get onto the contacts and cause an environmental short circuit. The screen was also vibrating a lot on the handlebars, which could loosen the wires over time. </a:t>
            </a:r>
            <a:endParaRPr lang="en-NZ" noProof="0" dirty="0"/>
          </a:p>
        </p:txBody>
      </p:sp>
    </p:spTree>
    <p:extLst>
      <p:ext uri="{BB962C8B-B14F-4D97-AF65-F5344CB8AC3E}">
        <p14:creationId xmlns:p14="http://schemas.microsoft.com/office/powerpoint/2010/main" val="3865693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10657"/>
            <a:ext cx="10515600" cy="750443"/>
          </a:xfrm>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endParaRPr lang="en-NZ" dirty="0"/>
          </a:p>
          <a:p>
            <a:pPr marL="0" indent="0">
              <a:buFont typeface="Arial" panose="020B0604020202020204" pitchFamily="34" charset="0"/>
              <a:buNone/>
            </a:pPr>
            <a:r>
              <a:rPr lang="en-NZ" noProof="0" dirty="0"/>
              <a:t>I chose </a:t>
            </a:r>
            <a:r>
              <a:rPr lang="en-NZ" dirty="0"/>
              <a:t>the electromagnetic clutch because, when a electric motor gets back driven it can cause something called back emf which is basically electric breaking but with a electromagnetic clutch yon can physically disconnect the 2 power units from each other specifically the electric motor which mean no back emf.</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897055"/>
            <a:ext cx="3723968" cy="1325563"/>
          </a:xfrm>
        </p:spPr>
        <p:txBody>
          <a:bodyPr>
            <a:normAutofit lnSpcReduction="10000"/>
          </a:bodyPr>
          <a:lstStyle/>
          <a:p>
            <a:pPr marL="0" indent="0">
              <a:buNone/>
            </a:pPr>
            <a:r>
              <a:rPr lang="en-NZ" noProof="0" dirty="0"/>
              <a:t>Chosen</a:t>
            </a:r>
          </a:p>
          <a:p>
            <a:pPr marL="0" indent="0">
              <a:buNone/>
            </a:pPr>
            <a:r>
              <a:rPr lang="en-NZ" dirty="0" err="1"/>
              <a:t>Electromangetic</a:t>
            </a:r>
            <a:r>
              <a:rPr lang="en-NZ" dirty="0"/>
              <a:t> clutch</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5" y="897054"/>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p>
          <a:p>
            <a:pPr marL="0" inden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957983" y="861100"/>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endParaRPr lang="en-NZ" dirty="0"/>
          </a:p>
          <a:p>
            <a:pPr marL="0" indent="0">
              <a:buFont typeface="Arial" panose="020B0604020202020204" pitchFamily="34" charset="0"/>
              <a:buNone/>
            </a:pPr>
            <a:r>
              <a:rPr lang="en-NZ" noProof="0" dirty="0"/>
              <a:t>One way </a:t>
            </a:r>
            <a:r>
              <a:rPr lang="en-NZ" noProof="0" dirty="0" err="1"/>
              <a:t>bearin</a:t>
            </a:r>
            <a:r>
              <a:rPr lang="en-NZ" dirty="0"/>
              <a:t>g</a:t>
            </a:r>
            <a:endParaRPr lang="en-NZ" noProof="0" dirty="0"/>
          </a:p>
        </p:txBody>
      </p:sp>
      <p:pic>
        <p:nvPicPr>
          <p:cNvPr id="3" name="Picture 2" descr="Three-shoe Centrifugal Clutch | Download Scientific Diagram">
            <a:extLst>
              <a:ext uri="{FF2B5EF4-FFF2-40B4-BE49-F238E27FC236}">
                <a16:creationId xmlns:a16="http://schemas.microsoft.com/office/drawing/2014/main" id="{5B75F591-E097-34BE-A9DF-06ABD01594D4}"/>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34015" y="2222617"/>
            <a:ext cx="1821815" cy="1290320"/>
          </a:xfrm>
          <a:prstGeom prst="rect">
            <a:avLst/>
          </a:prstGeom>
          <a:noFill/>
          <a:ln>
            <a:noFill/>
          </a:ln>
        </p:spPr>
      </p:pic>
      <p:pic>
        <p:nvPicPr>
          <p:cNvPr id="4" name="Picture 3" descr="Chain Tail-ME1 Miniature Electromagnetic Bearing Mounted Clutch With Hub">
            <a:extLst>
              <a:ext uri="{FF2B5EF4-FFF2-40B4-BE49-F238E27FC236}">
                <a16:creationId xmlns:a16="http://schemas.microsoft.com/office/drawing/2014/main" id="{885EA768-A1E5-06E4-17BA-A6EBFF50C25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2153285"/>
            <a:ext cx="1275715" cy="1275715"/>
          </a:xfrm>
          <a:prstGeom prst="rect">
            <a:avLst/>
          </a:prstGeom>
          <a:noFill/>
          <a:ln>
            <a:noFill/>
          </a:ln>
        </p:spPr>
      </p:pic>
      <p:pic>
        <p:nvPicPr>
          <p:cNvPr id="6" name="Picture 5" descr="All about one way clutch bearing">
            <a:extLst>
              <a:ext uri="{FF2B5EF4-FFF2-40B4-BE49-F238E27FC236}">
                <a16:creationId xmlns:a16="http://schemas.microsoft.com/office/drawing/2014/main" id="{CC844138-7A79-5941-F455-95476870EB40}"/>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45522" y="2139315"/>
            <a:ext cx="1610360" cy="1289685"/>
          </a:xfrm>
          <a:prstGeom prst="rect">
            <a:avLst/>
          </a:prstGeom>
          <a:noFill/>
          <a:ln>
            <a:noFill/>
          </a:ln>
        </p:spPr>
      </p:pic>
    </p:spTree>
    <p:extLst>
      <p:ext uri="{BB962C8B-B14F-4D97-AF65-F5344CB8AC3E}">
        <p14:creationId xmlns:p14="http://schemas.microsoft.com/office/powerpoint/2010/main" val="3463644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component-electromagnetic clutch</a:t>
            </a:r>
          </a:p>
          <a:p>
            <a:pPr marL="0" indent="0">
              <a:buNone/>
            </a:pPr>
            <a:r>
              <a:rPr lang="en-NZ" dirty="0"/>
              <a:t>The clutch system is used to connect and disconnect the 800W electric motor from the drivetrain. It uses a mechanical clutch mechanism controlled by a lever, with a sensor attached to detect when the clutch is being used. When the rider pulls the lever, the clutch disengages the motor from the drivetrain, allowing the motor to be safely disconnected. The sensor sends this information to the Arduino, allowing it to stop motor assistance and adjust the system accordingly.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manual clutch could reliably engage and disengage the 800W motor from the drivetrain. The clutch was connected to the motor system and tested under load to ensure it could separate the drive components correctly. Initial testing showed some resistance in the lever mechanism, causing the clutch plates to separate slowly. The linkage was cleaned, adjusted, and lubricated to fix this issue. After these changes, the clutch successfully completed ten engagement and disengagement tests without slipping, confirming that it worked correctly.</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pic>
        <p:nvPicPr>
          <p:cNvPr id="7" name="Picture 6" descr="Chain Tail-ME1 Miniature Electromagnetic Bearing Mounted Clutch With Hub">
            <a:extLst>
              <a:ext uri="{FF2B5EF4-FFF2-40B4-BE49-F238E27FC236}">
                <a16:creationId xmlns:a16="http://schemas.microsoft.com/office/drawing/2014/main" id="{1F3EFE40-4052-6299-7AB2-078AF453B97D}"/>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22555" y="4269821"/>
            <a:ext cx="1275715" cy="1275715"/>
          </a:xfrm>
          <a:prstGeom prst="rect">
            <a:avLst/>
          </a:prstGeom>
          <a:noFill/>
          <a:ln>
            <a:noFill/>
          </a:ln>
        </p:spPr>
      </p:pic>
    </p:spTree>
    <p:extLst>
      <p:ext uri="{BB962C8B-B14F-4D97-AF65-F5344CB8AC3E}">
        <p14:creationId xmlns:p14="http://schemas.microsoft.com/office/powerpoint/2010/main" val="2380697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Testing showed that the high torque produced by the 800W motor puts significant load on the clutch assembly, making correct alignment important for reliable operation. Small amounts of misalignment can cause extra stress and increased wear on the drivetrain components. To improve the strength and reliability of the system, a custom sleeve will be manufactured to act as a central alignment piece. This will help keep the clutch and drivetrain components correctly positioned, reducing movement and improving long-term durability.</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83A67-2E00-1EA8-457D-F513DE0B64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89A035-68F8-AD5E-1E89-4A865D324C5D}"/>
              </a:ext>
            </a:extLst>
          </p:cNvPr>
          <p:cNvSpPr>
            <a:spLocks noGrp="1"/>
          </p:cNvSpPr>
          <p:nvPr>
            <p:ph type="title"/>
          </p:nvPr>
        </p:nvSpPr>
        <p:spPr>
          <a:xfrm>
            <a:off x="838200" y="110657"/>
            <a:ext cx="10515600" cy="750443"/>
          </a:xfrm>
          <a:solidFill>
            <a:schemeClr val="accent3">
              <a:lumMod val="20000"/>
              <a:lumOff val="80000"/>
            </a:schemeClr>
          </a:solidFill>
        </p:spPr>
        <p:txBody>
          <a:bodyPr/>
          <a:lstStyle/>
          <a:p>
            <a:r>
              <a:rPr lang="en-NZ" noProof="0" dirty="0"/>
              <a:t>Choice of Component/System 5</a:t>
            </a:r>
          </a:p>
        </p:txBody>
      </p:sp>
      <p:sp>
        <p:nvSpPr>
          <p:cNvPr id="5" name="Content Placeholder 2">
            <a:extLst>
              <a:ext uri="{FF2B5EF4-FFF2-40B4-BE49-F238E27FC236}">
                <a16:creationId xmlns:a16="http://schemas.microsoft.com/office/drawing/2014/main" id="{B523978A-B7BC-935E-9BE6-E62B2EDB8966}"/>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I chose a custom PCB because it gave me a cleaner and more reliable way of connecting all the electronics together. The PCB allowed me to place the Arduino, sensors, protection components and other circuits in one organised layout instead of having lots of separate wires. This was especially important because testing showed that electrical noise from the motor could affect the sensors. A PCB also made the final system more compact and reduced the chance of loose or incorrect connections.</a:t>
            </a:r>
          </a:p>
          <a:p>
            <a:pPr marL="0" indent="0">
              <a:buNone/>
            </a:pPr>
            <a:r>
              <a:rPr lang="en-NZ" dirty="0"/>
              <a:t>I considered </a:t>
            </a:r>
            <a:r>
              <a:rPr lang="en-NZ" dirty="0" err="1"/>
              <a:t>perfboard</a:t>
            </a:r>
            <a:r>
              <a:rPr lang="en-NZ" dirty="0"/>
              <a:t> and stripboard, but both would have required more manual wiring and would have been harder to keep organised. The PCB was also easier to reproduce once the design was finished, making it the better choice for the final outcome.</a:t>
            </a:r>
          </a:p>
          <a:p>
            <a:pPr marL="0" indent="0">
              <a:buFont typeface="Arial" panose="020B0604020202020204" pitchFamily="34" charset="0"/>
              <a:buNone/>
            </a:pPr>
            <a:endParaRPr lang="en-NZ" dirty="0"/>
          </a:p>
          <a:p>
            <a:pPr marL="0" indent="0">
              <a:buFont typeface="Arial" panose="020B0604020202020204" pitchFamily="34" charse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B3DE4D9-5530-E1FF-5B6A-22A904C20B66}"/>
              </a:ext>
            </a:extLst>
          </p:cNvPr>
          <p:cNvSpPr>
            <a:spLocks noGrp="1"/>
          </p:cNvSpPr>
          <p:nvPr>
            <p:ph idx="1"/>
          </p:nvPr>
        </p:nvSpPr>
        <p:spPr>
          <a:xfrm>
            <a:off x="838200" y="897055"/>
            <a:ext cx="3723968" cy="1325563"/>
          </a:xfrm>
        </p:spPr>
        <p:txBody>
          <a:bodyPr>
            <a:normAutofit/>
          </a:bodyPr>
          <a:lstStyle/>
          <a:p>
            <a:pPr marL="0" indent="0">
              <a:buNone/>
            </a:pPr>
            <a:r>
              <a:rPr lang="en-NZ" noProof="0" dirty="0"/>
              <a:t>Chosen</a:t>
            </a:r>
          </a:p>
          <a:p>
            <a:pPr marL="0" indent="0">
              <a:buNone/>
            </a:pPr>
            <a:r>
              <a:rPr lang="en-NZ" dirty="0"/>
              <a:t>PCB</a:t>
            </a:r>
          </a:p>
          <a:p>
            <a:pPr marL="0" indent="0">
              <a:buNone/>
            </a:pPr>
            <a:endParaRPr lang="en-NZ" noProof="0" dirty="0"/>
          </a:p>
        </p:txBody>
      </p:sp>
      <p:sp>
        <p:nvSpPr>
          <p:cNvPr id="9" name="Content Placeholder 7">
            <a:extLst>
              <a:ext uri="{FF2B5EF4-FFF2-40B4-BE49-F238E27FC236}">
                <a16:creationId xmlns:a16="http://schemas.microsoft.com/office/drawing/2014/main" id="{E51F2086-2235-B6D5-51C8-25534EEBC9AF}"/>
              </a:ext>
            </a:extLst>
          </p:cNvPr>
          <p:cNvSpPr txBox="1">
            <a:spLocks/>
          </p:cNvSpPr>
          <p:nvPr/>
        </p:nvSpPr>
        <p:spPr>
          <a:xfrm>
            <a:off x="4234015" y="897054"/>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err="1"/>
              <a:t>Perfboard</a:t>
            </a:r>
            <a:endParaRPr lang="en-NZ" noProof="0" dirty="0"/>
          </a:p>
          <a:p>
            <a:pPr marL="0" indent="0">
              <a:buNone/>
            </a:pPr>
            <a:endParaRPr lang="en-NZ" noProof="0" dirty="0"/>
          </a:p>
        </p:txBody>
      </p:sp>
      <p:sp>
        <p:nvSpPr>
          <p:cNvPr id="10" name="Content Placeholder 7">
            <a:extLst>
              <a:ext uri="{FF2B5EF4-FFF2-40B4-BE49-F238E27FC236}">
                <a16:creationId xmlns:a16="http://schemas.microsoft.com/office/drawing/2014/main" id="{7C70C659-C51C-F5B1-D288-2BAD7C7909A7}"/>
              </a:ext>
            </a:extLst>
          </p:cNvPr>
          <p:cNvSpPr txBox="1">
            <a:spLocks/>
          </p:cNvSpPr>
          <p:nvPr/>
        </p:nvSpPr>
        <p:spPr>
          <a:xfrm>
            <a:off x="7957983" y="861100"/>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Strip boards</a:t>
            </a:r>
          </a:p>
          <a:p>
            <a:pPr marL="0" indent="0">
              <a:buFont typeface="Arial" panose="020B0604020202020204" pitchFamily="34" charset="0"/>
              <a:buNone/>
            </a:pPr>
            <a:endParaRPr lang="en-NZ" dirty="0"/>
          </a:p>
        </p:txBody>
      </p:sp>
      <p:pic>
        <p:nvPicPr>
          <p:cNvPr id="3" name="Picture 2" descr="Printed Circuit Board Guide: PCB Design and Assembly">
            <a:extLst>
              <a:ext uri="{FF2B5EF4-FFF2-40B4-BE49-F238E27FC236}">
                <a16:creationId xmlns:a16="http://schemas.microsoft.com/office/drawing/2014/main" id="{09C788C8-08CE-7E8C-249A-1FB162E82599}"/>
              </a:ext>
            </a:extLst>
          </p:cNvPr>
          <p:cNvPicPr>
            <a:picLocks noChangeAspect="1"/>
          </p:cNvPicPr>
          <p:nvPr/>
        </p:nvPicPr>
        <p:blipFill>
          <a:blip r:embed="rId2"/>
          <a:stretch>
            <a:fillRect/>
          </a:stretch>
        </p:blipFill>
        <p:spPr>
          <a:xfrm flipH="1">
            <a:off x="826872" y="1767251"/>
            <a:ext cx="2953770" cy="1744570"/>
          </a:xfrm>
          <a:prstGeom prst="rect">
            <a:avLst/>
          </a:prstGeom>
        </p:spPr>
      </p:pic>
      <p:pic>
        <p:nvPicPr>
          <p:cNvPr id="4" name="Picture 3" descr="What to use to connect points on perf board - General Electronics - Arduino Forum">
            <a:extLst>
              <a:ext uri="{FF2B5EF4-FFF2-40B4-BE49-F238E27FC236}">
                <a16:creationId xmlns:a16="http://schemas.microsoft.com/office/drawing/2014/main" id="{99893500-DD20-39B2-536D-2FD7410BE449}"/>
              </a:ext>
            </a:extLst>
          </p:cNvPr>
          <p:cNvPicPr>
            <a:picLocks noChangeAspect="1"/>
          </p:cNvPicPr>
          <p:nvPr/>
        </p:nvPicPr>
        <p:blipFill>
          <a:blip r:embed="rId3"/>
          <a:stretch>
            <a:fillRect/>
          </a:stretch>
        </p:blipFill>
        <p:spPr>
          <a:xfrm>
            <a:off x="4234015" y="1881319"/>
            <a:ext cx="1538343" cy="1630502"/>
          </a:xfrm>
          <a:prstGeom prst="rect">
            <a:avLst/>
          </a:prstGeom>
        </p:spPr>
      </p:pic>
      <p:pic>
        <p:nvPicPr>
          <p:cNvPr id="6" name="Picture 5" descr="ST1 | StripBoard-Size 1 | BusBoard Prototype Systems">
            <a:extLst>
              <a:ext uri="{FF2B5EF4-FFF2-40B4-BE49-F238E27FC236}">
                <a16:creationId xmlns:a16="http://schemas.microsoft.com/office/drawing/2014/main" id="{EB8C6687-7BBF-50E5-3FA9-14C5318BA7AD}"/>
              </a:ext>
            </a:extLst>
          </p:cNvPr>
          <p:cNvPicPr>
            <a:picLocks noChangeAspect="1"/>
          </p:cNvPicPr>
          <p:nvPr/>
        </p:nvPicPr>
        <p:blipFill>
          <a:blip r:embed="rId4"/>
          <a:stretch>
            <a:fillRect/>
          </a:stretch>
        </p:blipFill>
        <p:spPr>
          <a:xfrm>
            <a:off x="7629834" y="1738457"/>
            <a:ext cx="2776780" cy="1773364"/>
          </a:xfrm>
          <a:prstGeom prst="rect">
            <a:avLst/>
          </a:prstGeom>
        </p:spPr>
      </p:pic>
    </p:spTree>
    <p:extLst>
      <p:ext uri="{BB962C8B-B14F-4D97-AF65-F5344CB8AC3E}">
        <p14:creationId xmlns:p14="http://schemas.microsoft.com/office/powerpoint/2010/main" val="2079566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597B5-145C-2697-3D8A-D74B56660D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45853-5C56-B87F-D4FA-9C999414C570}"/>
              </a:ext>
            </a:extLst>
          </p:cNvPr>
          <p:cNvSpPr>
            <a:spLocks noGrp="1"/>
          </p:cNvSpPr>
          <p:nvPr>
            <p:ph type="title"/>
          </p:nvPr>
        </p:nvSpPr>
        <p:spPr>
          <a:solidFill>
            <a:srgbClr val="FF5050"/>
          </a:solidFill>
        </p:spPr>
        <p:txBody>
          <a:bodyPr/>
          <a:lstStyle/>
          <a:p>
            <a:r>
              <a:rPr lang="en-NZ" noProof="0" dirty="0"/>
              <a:t>Component/System 5</a:t>
            </a:r>
          </a:p>
        </p:txBody>
      </p:sp>
      <p:sp>
        <p:nvSpPr>
          <p:cNvPr id="3" name="Content Placeholder 2">
            <a:extLst>
              <a:ext uri="{FF2B5EF4-FFF2-40B4-BE49-F238E27FC236}">
                <a16:creationId xmlns:a16="http://schemas.microsoft.com/office/drawing/2014/main" id="{197AE07E-065C-3CFB-293E-C32D2EB437C2}"/>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component-PCB</a:t>
            </a:r>
            <a:br>
              <a:rPr lang="en-NZ" noProof="0" dirty="0"/>
            </a:br>
            <a:r>
              <a:rPr lang="en-NZ" dirty="0"/>
              <a:t>I designed a custom PCB to connect the Arduino UNO R4 to the different sensors and circuits used on the bike. It includes connections for the throttle and clutch Hall sensors, RPM sensors, battery voltage sensing, LEDs and the protection circuits. Having these connections on one board made the wiring cleaner and reduced the number of separate wires and connections. I also included filtering capacitors and protection components on the PCB based on problems found during testing. This made the final electronics more compact, organised and reliable.</a:t>
            </a:r>
            <a:endParaRPr lang="en-NZ" noProof="0" dirty="0"/>
          </a:p>
        </p:txBody>
      </p:sp>
      <p:sp>
        <p:nvSpPr>
          <p:cNvPr id="4" name="Content Placeholder 2">
            <a:extLst>
              <a:ext uri="{FF2B5EF4-FFF2-40B4-BE49-F238E27FC236}">
                <a16:creationId xmlns:a16="http://schemas.microsoft.com/office/drawing/2014/main" id="{378C335B-A3FD-5F3F-8341-1DDA22CF4DD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084080B5-A1C8-EBE8-4314-1751BA191CE3}"/>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 make sure to include protection to the circuit due to some components accidently being set to the wrong voltage can damage the delicate electronics in the system that when it gets damaged can cost a pretty penny to replace</a:t>
            </a:r>
            <a:endParaRPr lang="en-NZ" noProof="0" dirty="0"/>
          </a:p>
        </p:txBody>
      </p:sp>
      <p:pic>
        <p:nvPicPr>
          <p:cNvPr id="7" name="Picture 6" descr="Printed Circuit Board Guide: PCB Design and Assembly">
            <a:extLst>
              <a:ext uri="{FF2B5EF4-FFF2-40B4-BE49-F238E27FC236}">
                <a16:creationId xmlns:a16="http://schemas.microsoft.com/office/drawing/2014/main" id="{99F72A96-FD0E-7E52-9C54-481EE12D626D}"/>
              </a:ext>
            </a:extLst>
          </p:cNvPr>
          <p:cNvPicPr>
            <a:picLocks noChangeAspect="1"/>
          </p:cNvPicPr>
          <p:nvPr/>
        </p:nvPicPr>
        <p:blipFill>
          <a:blip r:embed="rId2"/>
          <a:stretch>
            <a:fillRect/>
          </a:stretch>
        </p:blipFill>
        <p:spPr>
          <a:xfrm flipH="1">
            <a:off x="1022555" y="4108115"/>
            <a:ext cx="2953770" cy="1744570"/>
          </a:xfrm>
          <a:prstGeom prst="rect">
            <a:avLst/>
          </a:prstGeom>
        </p:spPr>
      </p:pic>
    </p:spTree>
    <p:extLst>
      <p:ext uri="{BB962C8B-B14F-4D97-AF65-F5344CB8AC3E}">
        <p14:creationId xmlns:p14="http://schemas.microsoft.com/office/powerpoint/2010/main" val="4374152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F7C43-BEB1-DE09-75AB-8491CCE1F0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F5FCB6-3AF3-A524-1C92-AA376CC4B53E}"/>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1C4A870D-2101-03C8-92BE-F567A431321E}"/>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 The testing showed that the PCB needed both filtering and protection to be reliable when used with the rest of the bike. The 0.1 µF capacitors were added to reduce electrical noise, while the PPTC fuses gave the PCB protection from excessive current if a fault occurred. The Schottky diode was added to the clutch circuit to stop the voltage released by the electromagnet from travelling back through the PCB. These changes were made from the problems found during testing and improved the reliability of the final PCB by making the circuits more protected and less affected by the electrical noise from the motor.</a:t>
            </a:r>
            <a:br>
              <a:rPr lang="en-NZ" dirty="0"/>
            </a:b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820EC9EB-78CE-FEBB-40CA-2509115645AA}"/>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CE739EF5-A763-8085-C4C6-D410E1DD4423}"/>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 I tested the PCB multiple times with the different circuits connected to make sure the board was reliable. I checked the sensor connections, battery voltage sensing, Arduino power connections and the protection circuits. During testing, I found that the high current from the motor could cause electrical noise and interference with the sensor signals, so 0.1 µF capacitors were added to the PCB to help filter the signals. I also included PPTC fuses on the PCB to protect the lower-current circuits if a fault or short circuit occurred. The electromagnetic clutch circuit was also protected with a Schottky diode and PPTC because testing showed that the electromagnet could release a high voltage back into the circuit when switched off. The PCB was then tested again with these changes to check that the sensors and protection circuits were working correctly and that the board could operate without damaging the Arduino or other components.</a:t>
            </a:r>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42206537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testing here</a:t>
            </a:r>
          </a:p>
          <a:p>
            <a:pPr marL="0" indent="0">
              <a:buNone/>
            </a:pPr>
            <a:endParaRPr lang="en-NZ" dirty="0"/>
          </a:p>
          <a:p>
            <a:pPr marL="0" indent="0">
              <a:buNone/>
            </a:pPr>
            <a:endParaRPr lang="en-NZ" dirty="0"/>
          </a:p>
        </p:txBody>
      </p:sp>
      <p:pic>
        <p:nvPicPr>
          <p:cNvPr id="4" name="d758f0eb08ad4a95884cff34f5b6a0c5">
            <a:hlinkClick r:id="" action="ppaction://media"/>
            <a:extLst>
              <a:ext uri="{FF2B5EF4-FFF2-40B4-BE49-F238E27FC236}">
                <a16:creationId xmlns:a16="http://schemas.microsoft.com/office/drawing/2014/main" id="{7AA7CD7D-B0A5-A648-B1B1-1F9D4A0E490D}"/>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1413083" y="2626606"/>
            <a:ext cx="1997075" cy="3550356"/>
          </a:xfrm>
          <a:prstGeom prst="rect">
            <a:avLst/>
          </a:prstGeom>
        </p:spPr>
      </p:pic>
      <p:pic>
        <p:nvPicPr>
          <p:cNvPr id="5" name="IMG_3155">
            <a:hlinkClick r:id="" action="ppaction://media"/>
            <a:extLst>
              <a:ext uri="{FF2B5EF4-FFF2-40B4-BE49-F238E27FC236}">
                <a16:creationId xmlns:a16="http://schemas.microsoft.com/office/drawing/2014/main" id="{8A0808FB-4F50-2BA4-EE4C-7E570D976E84}"/>
              </a:ext>
            </a:extLst>
          </p:cNvPr>
          <p:cNvPicPr>
            <a:picLocks noChangeAspect="1"/>
          </p:cNvPicPr>
          <p:nvPr>
            <a:videoFile r:link="rId4"/>
            <p:extLst>
              <p:ext uri="{DAA4B4D4-6D71-4841-9C94-3DE7FCFB9230}">
                <p14:media xmlns:p14="http://schemas.microsoft.com/office/powerpoint/2010/main" r:embed="rId3"/>
              </p:ext>
            </p:extLst>
          </p:nvPr>
        </p:nvPicPr>
        <p:blipFill>
          <a:blip r:embed="rId7"/>
          <a:stretch>
            <a:fillRect/>
          </a:stretch>
        </p:blipFill>
        <p:spPr>
          <a:xfrm>
            <a:off x="4513196" y="2626606"/>
            <a:ext cx="6265721" cy="3550356"/>
          </a:xfrm>
          <a:prstGeom prst="rect">
            <a:avLst/>
          </a:prstGeom>
        </p:spPr>
      </p:pic>
    </p:spTree>
    <p:extLst>
      <p:ext uri="{BB962C8B-B14F-4D97-AF65-F5344CB8AC3E}">
        <p14:creationId xmlns:p14="http://schemas.microsoft.com/office/powerpoint/2010/main" val="29589822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329"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967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5"/>
                </p:tgtEl>
              </p:cMediaNode>
            </p:video>
            <p:seq concurrent="1" nextAc="seek">
              <p:cTn id="18" restart="whenNotActive" fill="hold" evtFilter="cancelBubble" nodeType="interactiveSeq">
                <p:stCondLst>
                  <p:cond evt="onClick" delay="0">
                    <p:tgtEl>
                      <p:spTgt spid="5"/>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normAutofit fontScale="70000" lnSpcReduction="20000"/>
          </a:bodyPr>
          <a:lstStyle/>
          <a:p>
            <a:pPr marL="0" indent="0">
              <a:buNone/>
            </a:pPr>
            <a:r>
              <a:rPr lang="en-NZ" noProof="0" dirty="0"/>
              <a:t>Feedback on reliability and functionality of the system:</a:t>
            </a:r>
          </a:p>
          <a:p>
            <a:pPr marL="0" indent="0">
              <a:buNone/>
            </a:pPr>
            <a:r>
              <a:rPr lang="en-NZ" dirty="0"/>
              <a:t>Some hybrid vehicles have a display that shows when the hybrid system is engaged. Adding a hybrid indicator light to the </a:t>
            </a:r>
            <a:r>
              <a:rPr lang="en-NZ" dirty="0" err="1"/>
              <a:t>pitbike</a:t>
            </a:r>
            <a:r>
              <a:rPr lang="en-NZ" dirty="0"/>
              <a:t> will let the rider know when the electric motor is assisting the petrol engine. This provides feedback that the hybrid system is working correctly and makes it easier to monitor the operation of the bike while riding.</a:t>
            </a:r>
            <a:endParaRPr lang="en-NZ" noProof="0" dirty="0"/>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a:p>
            <a:pPr marL="0" indent="0">
              <a:buNone/>
            </a:pPr>
            <a:r>
              <a:rPr lang="en-NZ" dirty="0"/>
              <a:t>An LED indicator/symbol will be added to the OLED display to show when the hybrid system is engaged. This gives the rider clear visual feedback that the electric motor is assisting the petrol engine and makes it easier to monitor the operation of the hybrid system while riding.</a:t>
            </a:r>
            <a:endParaRPr lang="en-NZ" noProof="0" dirty="0"/>
          </a:p>
        </p:txBody>
      </p:sp>
    </p:spTree>
    <p:extLst>
      <p:ext uri="{BB962C8B-B14F-4D97-AF65-F5344CB8AC3E}">
        <p14:creationId xmlns:p14="http://schemas.microsoft.com/office/powerpoint/2010/main" val="35483784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1270239930"/>
              </p:ext>
            </p:extLst>
          </p:nvPr>
        </p:nvGraphicFramePr>
        <p:xfrm>
          <a:off x="392784" y="1951294"/>
          <a:ext cx="11406432" cy="13785182"/>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r>
                        <a:rPr lang="en-NZ" sz="1200" dirty="0"/>
                        <a:t>Electromagnetic clutch</a:t>
                      </a:r>
                      <a:endParaRPr lang="en-NZ" sz="1200" noProof="0" dirty="0"/>
                    </a:p>
                  </a:txBody>
                  <a:tcPr>
                    <a:solidFill>
                      <a:srgbClr val="FFCCCC"/>
                    </a:solidFill>
                  </a:tcPr>
                </a:tc>
                <a:tc>
                  <a:txBody>
                    <a:bodyPr/>
                    <a:lstStyle/>
                    <a:p>
                      <a:r>
                        <a:rPr lang="en-NZ" sz="1200" dirty="0"/>
                        <a:t>Repeatedly engaged and disengaged the clutch using the ESP32-S3 microcontroller, driving an isolated optocoupled MOSFET switching loop.</a:t>
                      </a:r>
                      <a:endParaRPr lang="en-NZ" sz="1200" noProof="0" dirty="0"/>
                    </a:p>
                  </a:txBody>
                  <a:tcPr>
                    <a:solidFill>
                      <a:srgbClr val="FFCCCC"/>
                    </a:solidFill>
                  </a:tcPr>
                </a:tc>
                <a:tc>
                  <a:txBody>
                    <a:bodyPr/>
                    <a:lstStyle/>
                    <a:p>
                      <a:r>
                        <a:rPr lang="en-NZ" sz="1200" b="0" i="0" u="none" strike="noStrike" kern="1200" dirty="0">
                          <a:solidFill>
                            <a:schemeClr val="dk1"/>
                          </a:solidFill>
                          <a:effectLst/>
                          <a:latin typeface="+mn-lt"/>
                          <a:ea typeface="+mn-ea"/>
                          <a:cs typeface="+mn-cs"/>
                        </a:rPr>
                        <a:t>issue:</a:t>
                      </a:r>
                      <a:r>
                        <a:rPr lang="en-NZ" sz="1200" b="0" i="0" dirty="0"/>
                        <a:t> The clutch engaged reliably under software control, but mechanical alignment stress trials under load revealed structural shaft instability and clutch plate wobble. This slowed down plate separation and increased friction wear.</a:t>
                      </a:r>
                      <a:br>
                        <a:rPr lang="en-NZ" sz="1200" b="0" i="0" dirty="0"/>
                      </a:br>
                      <a:br>
                        <a:rPr lang="en-NZ" sz="1200" b="0" i="0" dirty="0"/>
                      </a:br>
                      <a:r>
                        <a:rPr lang="en-NZ" sz="1200" b="0" i="0" u="none" strike="noStrike" kern="1200" dirty="0">
                          <a:solidFill>
                            <a:schemeClr val="dk1"/>
                          </a:solidFill>
                          <a:effectLst/>
                          <a:latin typeface="+mn-lt"/>
                          <a:ea typeface="+mn-ea"/>
                          <a:cs typeface="+mn-cs"/>
                        </a:rPr>
                        <a:t>Resolution:</a:t>
                      </a:r>
                      <a:r>
                        <a:rPr lang="en-NZ" sz="1200" b="0" i="0" dirty="0"/>
                        <a:t> Machined a custom central steel sleeve component to act as a precision alignment piece. This completely eliminated the mechanical wobble, keeping the drivetrain components perfectly </a:t>
                      </a:r>
                      <a:r>
                        <a:rPr lang="en-NZ" sz="1200" b="0" i="0" dirty="0" err="1"/>
                        <a:t>centered</a:t>
                      </a:r>
                      <a:r>
                        <a:rPr lang="en-NZ" sz="1200" b="0" i="0" dirty="0"/>
                        <a:t> and ensuring long-term durability under heavy motor torque.</a:t>
                      </a:r>
                      <a:endParaRPr lang="en-NZ" sz="1200" b="0" i="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GB" sz="1200" noProof="0" dirty="0"/>
                        <a:t>  main PCB inside the dashboard</a:t>
                      </a:r>
                      <a:endParaRPr lang="en-NZ" sz="1200" noProof="0" dirty="0"/>
                    </a:p>
                  </a:txBody>
                  <a:tcPr>
                    <a:solidFill>
                      <a:srgbClr val="FFCCCC"/>
                    </a:solidFill>
                  </a:tcPr>
                </a:tc>
                <a:tc>
                  <a:txBody>
                    <a:bodyPr/>
                    <a:lstStyle/>
                    <a:p>
                      <a:r>
                        <a:rPr lang="en-GB" sz="1200" noProof="0" dirty="0"/>
                        <a:t>Plugged the PCB wit the Arduino inserted to the header pins. The Arduino fried due to unknown causes for the vin wasn’t plugged in and neither the voltage sensing, believed being the sensor wire for the throttle but in any case, it still broke.</a:t>
                      </a:r>
                      <a:endParaRPr lang="en-NZ" sz="1200" noProof="0" dirty="0"/>
                    </a:p>
                  </a:txBody>
                  <a:tcPr>
                    <a:solidFill>
                      <a:srgbClr val="FFCCCC"/>
                    </a:solidFill>
                  </a:tcPr>
                </a:tc>
                <a:tc>
                  <a:txBody>
                    <a:bodyPr/>
                    <a:lstStyle/>
                    <a:p>
                      <a:r>
                        <a:rPr lang="en-NZ" sz="1200" b="0" i="0" u="none" strike="noStrike" kern="1200" dirty="0">
                          <a:solidFill>
                            <a:schemeClr val="dk1"/>
                          </a:solidFill>
                          <a:effectLst/>
                          <a:latin typeface="+mn-lt"/>
                          <a:ea typeface="+mn-ea"/>
                          <a:cs typeface="+mn-cs"/>
                        </a:rPr>
                        <a:t>Issue:</a:t>
                      </a:r>
                      <a:r>
                        <a:rPr lang="en-NZ" sz="1200" b="0" i="0" dirty="0"/>
                        <a:t> Initial unshielded prototypes experienced catastrophic inductive feedback when switching off the electromagnetic clutch coil. The resulting </a:t>
                      </a:r>
                      <a:r>
                        <a:rPr lang="en-NZ" sz="1200" b="0" i="0" u="none" strike="noStrike" kern="1200" dirty="0">
                          <a:solidFill>
                            <a:schemeClr val="dk1"/>
                          </a:solidFill>
                          <a:effectLst/>
                          <a:latin typeface="+mn-lt"/>
                          <a:ea typeface="+mn-ea"/>
                          <a:cs typeface="+mn-cs"/>
                        </a:rPr>
                        <a:t>~200V inductive flyback spike</a:t>
                      </a:r>
                      <a:r>
                        <a:rPr lang="en-NZ" sz="1200" b="0" i="0" dirty="0"/>
                        <a:t> </a:t>
                      </a:r>
                      <a:r>
                        <a:rPr lang="en-NZ" sz="1200" b="0" i="0" dirty="0" err="1"/>
                        <a:t>traveled</a:t>
                      </a:r>
                      <a:r>
                        <a:rPr lang="en-NZ" sz="1200" b="0" i="0" dirty="0"/>
                        <a:t> backward through the shared power rail, instantly frying the switching MOSFET and burning out the low-voltage microcontroller logic.</a:t>
                      </a:r>
                      <a:br>
                        <a:rPr lang="en-NZ" sz="1200" b="0" i="0" dirty="0"/>
                      </a:br>
                      <a:br>
                        <a:rPr lang="en-NZ" sz="1200" b="0" i="0" dirty="0"/>
                      </a:br>
                      <a:r>
                        <a:rPr lang="en-NZ" sz="1200" b="0" i="0" u="none" strike="noStrike" kern="1200" dirty="0">
                          <a:solidFill>
                            <a:schemeClr val="dk1"/>
                          </a:solidFill>
                          <a:effectLst/>
                          <a:latin typeface="+mn-lt"/>
                          <a:ea typeface="+mn-ea"/>
                          <a:cs typeface="+mn-cs"/>
                        </a:rPr>
                        <a:t>Resolution:</a:t>
                      </a:r>
                      <a:r>
                        <a:rPr lang="en-NZ" sz="1200" b="0" i="0" dirty="0"/>
                        <a:t> Redesigned the PCB layout to integrate a multi-stage hardware protection network. Wired a fast-acting </a:t>
                      </a:r>
                      <a:r>
                        <a:rPr lang="en-NZ" sz="1200" b="0" i="0" u="none" strike="noStrike" kern="1200" dirty="0">
                          <a:solidFill>
                            <a:schemeClr val="dk1"/>
                          </a:solidFill>
                          <a:effectLst/>
                          <a:latin typeface="+mn-lt"/>
                          <a:ea typeface="+mn-ea"/>
                          <a:cs typeface="+mn-cs"/>
                        </a:rPr>
                        <a:t>Schottky diode</a:t>
                      </a:r>
                      <a:r>
                        <a:rPr lang="en-NZ" sz="1200" b="0" i="0" dirty="0"/>
                        <a:t> in a reverse-biased configuration directly across the clutch coil leads to suppress inductive flyback spikes. Backed this up with a high-speed </a:t>
                      </a:r>
                      <a:r>
                        <a:rPr lang="en-NZ" sz="1200" b="0" i="0" u="none" strike="noStrike" kern="1200" dirty="0">
                          <a:solidFill>
                            <a:schemeClr val="dk1"/>
                          </a:solidFill>
                          <a:effectLst/>
                          <a:latin typeface="+mn-lt"/>
                          <a:ea typeface="+mn-ea"/>
                          <a:cs typeface="+mn-cs"/>
                        </a:rPr>
                        <a:t>Zener diode</a:t>
                      </a:r>
                      <a:r>
                        <a:rPr lang="en-NZ" sz="1200" b="0" i="0" dirty="0"/>
                        <a:t> and a </a:t>
                      </a:r>
                      <a:r>
                        <a:rPr lang="en-NZ" sz="1200" b="0" i="0" u="none" strike="noStrike" kern="1200" dirty="0">
                          <a:solidFill>
                            <a:schemeClr val="dk1"/>
                          </a:solidFill>
                          <a:effectLst/>
                          <a:latin typeface="+mn-lt"/>
                          <a:ea typeface="+mn-ea"/>
                          <a:cs typeface="+mn-cs"/>
                        </a:rPr>
                        <a:t>Transient Voltage Suppressor (TVS)</a:t>
                      </a:r>
                      <a:r>
                        <a:rPr lang="en-NZ" sz="1200" b="0" i="0" dirty="0"/>
                        <a:t> diode to safely clamp voltage surges and shunt spike currents straight to ground. Added </a:t>
                      </a:r>
                      <a:r>
                        <a:rPr lang="en-NZ" sz="1200" b="0" i="0" u="none" strike="noStrike" kern="1200" dirty="0">
                          <a:solidFill>
                            <a:schemeClr val="dk1"/>
                          </a:solidFill>
                          <a:effectLst/>
                          <a:latin typeface="+mn-lt"/>
                          <a:ea typeface="+mn-ea"/>
                          <a:cs typeface="+mn-cs"/>
                        </a:rPr>
                        <a:t>PPTC resettable fuses</a:t>
                      </a:r>
                      <a:r>
                        <a:rPr lang="en-NZ" sz="1200" b="0" i="0" dirty="0"/>
                        <a:t> to the \(V_{in}\), voltage sensing lines, and buck converters (max 5A) to protect low-current components, alongside automotive blade fuses to isolate the main 800W motor rail.</a:t>
                      </a:r>
                      <a:endParaRPr lang="en-NZ" sz="1200" b="0" i="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GB" sz="1200" noProof="0" dirty="0"/>
                        <a:t>Throttle input/output</a:t>
                      </a:r>
                      <a:endParaRPr lang="en-NZ" sz="1200" noProof="0" dirty="0"/>
                    </a:p>
                  </a:txBody>
                  <a:tcPr>
                    <a:solidFill>
                      <a:srgbClr val="FFCCCC"/>
                    </a:solidFill>
                  </a:tcPr>
                </a:tc>
                <a:tc>
                  <a:txBody>
                    <a:bodyPr/>
                    <a:lstStyle/>
                    <a:p>
                      <a:r>
                        <a:rPr lang="en-NZ" sz="1200" dirty="0"/>
                        <a:t>Handlebar grip rotation must shift the analogue input smoothly from 0.5V to 4.2V, mapped directly to a 0–100% PWM signal sent to the 36V high-voltage Electronic Speed Controller (ESC) to regulate the 800W motor</a:t>
                      </a:r>
                      <a:endParaRPr lang="en-NZ" sz="1200" b="0" i="0" noProof="0" dirty="0"/>
                    </a:p>
                  </a:txBody>
                  <a:tcPr>
                    <a:solidFill>
                      <a:srgbClr val="FFCCCC"/>
                    </a:solidFill>
                  </a:tcPr>
                </a:tc>
                <a:tc>
                  <a:txBody>
                    <a:bodyPr/>
                    <a:lstStyle/>
                    <a:p>
                      <a:r>
                        <a:rPr lang="en-NZ" sz="1200" b="0" i="0" u="none" strike="noStrike" kern="1200" dirty="0">
                          <a:solidFill>
                            <a:schemeClr val="dk1"/>
                          </a:solidFill>
                          <a:effectLst/>
                          <a:latin typeface="+mn-lt"/>
                          <a:ea typeface="+mn-ea"/>
                          <a:cs typeface="+mn-cs"/>
                        </a:rPr>
                        <a:t>issue 1 (High-Voltage Failure):</a:t>
                      </a:r>
                      <a:r>
                        <a:rPr lang="en-NZ" sz="1200" b="0" i="0" dirty="0"/>
                        <a:t> Initially, the PWM control signal trace was wired directly from the microcontroller to the ESC signal line. During high-load testing, common-ground voltage fluctuations and high-current spikes leaked directly backward from the 36V motor rail straight into the low-voltage electronics, completely frying the sensitive control circuit and blowing up the </a:t>
                      </a:r>
                      <a:r>
                        <a:rPr lang="en-NZ" sz="1200" b="0" i="0" dirty="0" err="1"/>
                        <a:t>microprocessing</a:t>
                      </a:r>
                      <a:r>
                        <a:rPr lang="en-NZ" sz="1200" b="0" i="0" dirty="0"/>
                        <a:t> chip.</a:t>
                      </a:r>
                      <a:br>
                        <a:rPr lang="en-NZ" sz="1200" b="0" i="0" dirty="0"/>
                      </a:br>
                      <a:br>
                        <a:rPr lang="en-NZ" sz="1200" b="0" i="0" dirty="0"/>
                      </a:br>
                      <a:r>
                        <a:rPr lang="en-NZ" sz="1200" b="0" i="0" u="none" strike="noStrike" kern="1200" dirty="0">
                          <a:solidFill>
                            <a:schemeClr val="dk1"/>
                          </a:solidFill>
                          <a:effectLst/>
                          <a:latin typeface="+mn-lt"/>
                          <a:ea typeface="+mn-ea"/>
                          <a:cs typeface="+mn-cs"/>
                        </a:rPr>
                        <a:t>Resolution 1 (Galvanic Isolation):</a:t>
                      </a:r>
                      <a:r>
                        <a:rPr lang="en-NZ" sz="1200" b="0" i="0" dirty="0"/>
                        <a:t> On the latest iterated PCB layout, I completely isolated the high-voltage drivetrain loop from the low-voltage logic gates by inserting a </a:t>
                      </a:r>
                      <a:r>
                        <a:rPr lang="en-NZ" sz="1200" b="0" i="0" u="none" strike="noStrike" kern="1200" dirty="0">
                          <a:solidFill>
                            <a:schemeClr val="dk1"/>
                          </a:solidFill>
                          <a:effectLst/>
                          <a:latin typeface="+mn-lt"/>
                          <a:ea typeface="+mn-ea"/>
                          <a:cs typeface="+mn-cs"/>
                        </a:rPr>
                        <a:t>PC817 optocoupler</a:t>
                      </a:r>
                      <a:r>
                        <a:rPr lang="en-NZ" sz="1200" b="0" i="0" dirty="0"/>
                        <a:t> in the PWM path. The ESP32-S3's internal LED completely triggers the optocoupler using light pulses, allowing the high-voltage ESC to receive its control commands without any physical electrical connection between the two systems. This completely blocks common-mode noise and protects the master control loop from high-voltage spikes.</a:t>
                      </a:r>
                      <a:br>
                        <a:rPr lang="en-NZ" sz="1200" b="0" i="0" dirty="0"/>
                      </a:br>
                      <a:br>
                        <a:rPr lang="en-NZ" sz="1200" b="0" i="0" dirty="0"/>
                      </a:br>
                      <a:r>
                        <a:rPr lang="en-NZ" sz="1200" b="0" i="0" u="none" strike="noStrike" kern="1200" dirty="0">
                          <a:solidFill>
                            <a:schemeClr val="dk1"/>
                          </a:solidFill>
                          <a:effectLst/>
                          <a:latin typeface="+mn-lt"/>
                          <a:ea typeface="+mn-ea"/>
                          <a:cs typeface="+mn-cs"/>
                        </a:rPr>
                        <a:t>Issue 2 (Signal Float):</a:t>
                      </a:r>
                      <a:r>
                        <a:rPr lang="en-NZ" sz="1200" b="0" i="0" dirty="0"/>
                        <a:t> The raw analogue line from the throttle Hall sensor experienced continuous voltage float (~0.12V) at rest, causing the 800W motor to hum, heat up, and creep forward at idle.</a:t>
                      </a:r>
                      <a:br>
                        <a:rPr lang="en-NZ" sz="1200" b="0" i="0" dirty="0"/>
                      </a:br>
                      <a:br>
                        <a:rPr lang="en-NZ" sz="1200" b="0" i="0" dirty="0"/>
                      </a:br>
                      <a:r>
                        <a:rPr lang="en-NZ" sz="1200" b="0" i="0" u="none" strike="noStrike" kern="1200" dirty="0">
                          <a:solidFill>
                            <a:schemeClr val="dk1"/>
                          </a:solidFill>
                          <a:effectLst/>
                          <a:latin typeface="+mn-lt"/>
                          <a:ea typeface="+mn-ea"/>
                          <a:cs typeface="+mn-cs"/>
                        </a:rPr>
                        <a:t>Debugging/Fix 2:</a:t>
                      </a:r>
                      <a:r>
                        <a:rPr lang="en-NZ" sz="1200" b="0" i="0" dirty="0"/>
                        <a:t> I hardcoded a software deadband configuration layer into the core execution loops: </a:t>
                      </a:r>
                      <a:r>
                        <a:rPr lang="en-NZ" sz="1200" b="0" i="0" u="none" strike="noStrike" kern="1200" dirty="0" err="1">
                          <a:solidFill>
                            <a:schemeClr val="dk1"/>
                          </a:solidFill>
                          <a:effectLst/>
                          <a:latin typeface="+mn-lt"/>
                          <a:ea typeface="+mn-ea"/>
                          <a:cs typeface="+mn-cs"/>
                        </a:rPr>
                        <a:t>const</a:t>
                      </a:r>
                      <a:r>
                        <a:rPr lang="en-NZ" sz="1200" b="0" i="0" u="none" strike="noStrike" kern="1200" dirty="0">
                          <a:solidFill>
                            <a:schemeClr val="dk1"/>
                          </a:solidFill>
                          <a:effectLst/>
                          <a:latin typeface="+mn-lt"/>
                          <a:ea typeface="+mn-ea"/>
                          <a:cs typeface="+mn-cs"/>
                        </a:rPr>
                        <a:t> int THROTTLE_MIN = 500;</a:t>
                      </a:r>
                      <a:r>
                        <a:rPr lang="en-NZ" sz="1200" b="0" i="0" dirty="0"/>
                        <a:t>. Any raw sensor reading tracking under 500 counts is flattened instantly to zero (</a:t>
                      </a:r>
                      <a:r>
                        <a:rPr lang="en-NZ" sz="1200" b="0" i="0" u="none" strike="noStrike" kern="1200" dirty="0" err="1">
                          <a:solidFill>
                            <a:schemeClr val="dk1"/>
                          </a:solidFill>
                          <a:effectLst/>
                          <a:latin typeface="+mn-lt"/>
                          <a:ea typeface="+mn-ea"/>
                          <a:cs typeface="+mn-cs"/>
                        </a:rPr>
                        <a:t>pwmOut</a:t>
                      </a:r>
                      <a:r>
                        <a:rPr lang="en-NZ" sz="1200" b="0" i="0" u="none" strike="noStrike" kern="1200" dirty="0">
                          <a:solidFill>
                            <a:schemeClr val="dk1"/>
                          </a:solidFill>
                          <a:effectLst/>
                          <a:latin typeface="+mn-lt"/>
                          <a:ea typeface="+mn-ea"/>
                          <a:cs typeface="+mn-cs"/>
                        </a:rPr>
                        <a:t> = 0;</a:t>
                      </a:r>
                      <a:r>
                        <a:rPr lang="en-NZ" sz="1200" b="0" i="0" dirty="0"/>
                        <a:t>), completely cutting motor output and ensuring absolute isolation until the grip is intentionally twisted.</a:t>
                      </a:r>
                      <a:endParaRPr lang="en-NZ" sz="1200" b="0" i="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1380774" y="305068"/>
            <a:ext cx="1179606" cy="6247864"/>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2330402438"/>
              </p:ext>
            </p:extLst>
          </p:nvPr>
        </p:nvGraphicFramePr>
        <p:xfrm>
          <a:off x="392784" y="1475806"/>
          <a:ext cx="11406432" cy="10127582"/>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r>
                        <a:rPr lang="en-NZ" sz="1200" dirty="0"/>
                        <a:t>High-Frequency Electromagnetic Interference (EMI) along Data Rails</a:t>
                      </a:r>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NZ" sz="1200" dirty="0"/>
                        <a:t>The digital Hall-effect RPM sensors were tested under full drivetrain load while running the 800W brushed DC motor. High-frequency electrical noise from the motor brushes induced phantom voltage spikes across the unshielded signal paths.</a:t>
                      </a:r>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NZ" sz="1200" b="0" i="0" u="none" strike="noStrike" kern="1200" dirty="0">
                          <a:solidFill>
                            <a:schemeClr val="dk1"/>
                          </a:solidFill>
                          <a:effectLst/>
                          <a:latin typeface="+mn-lt"/>
                          <a:ea typeface="+mn-ea"/>
                          <a:cs typeface="+mn-cs"/>
                        </a:rPr>
                        <a:t>Diagnostic Outcome:</a:t>
                      </a:r>
                      <a:r>
                        <a:rPr lang="en-NZ" sz="1200" b="0" i="0" dirty="0"/>
                        <a:t> Before filtering, the induced EMI noise caused severe sensor signal bounce and false edge-triggers, leading to corrupted, erratic RPM readings. </a:t>
                      </a:r>
                      <a:br>
                        <a:rPr lang="en-NZ" sz="1200" b="0" i="0" dirty="0"/>
                      </a:br>
                      <a:br>
                        <a:rPr lang="en-NZ" sz="1200" b="0" i="0" dirty="0"/>
                      </a:br>
                      <a:r>
                        <a:rPr lang="en-NZ" sz="1200" b="0" i="0" u="none" strike="noStrike" kern="1200" dirty="0">
                          <a:solidFill>
                            <a:schemeClr val="dk1"/>
                          </a:solidFill>
                          <a:effectLst/>
                          <a:latin typeface="+mn-lt"/>
                          <a:ea typeface="+mn-ea"/>
                          <a:cs typeface="+mn-cs"/>
                        </a:rPr>
                        <a:t>Resolution:</a:t>
                      </a:r>
                      <a:r>
                        <a:rPr lang="en-NZ" sz="1200" b="0" i="0" dirty="0"/>
                        <a:t> Soldered a </a:t>
                      </a:r>
                      <a:r>
                        <a:rPr lang="en-NZ" sz="1200" b="0" i="0" u="none" strike="noStrike" kern="1200" dirty="0">
                          <a:solidFill>
                            <a:schemeClr val="dk1"/>
                          </a:solidFill>
                          <a:effectLst/>
                          <a:latin typeface="+mn-lt"/>
                          <a:ea typeface="+mn-ea"/>
                          <a:cs typeface="+mn-cs"/>
                        </a:rPr>
                        <a:t>0.1µF ceramic decoupling capacitor</a:t>
                      </a:r>
                      <a:r>
                        <a:rPr lang="en-NZ" sz="1200" b="0" i="0" dirty="0"/>
                        <a:t> in parallel directly across the VCC and GND pins of each sensor. Upstream signal lines were physically twisted into tight differential pairs along the frame rails. Retesting confirmed clean, stable pulse patterns with zero false triggers.</a:t>
                      </a:r>
                      <a:endParaRPr lang="en-NZ" sz="1200" b="0" i="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NZ" sz="1200" dirty="0" err="1"/>
                        <a:t>nductive</a:t>
                      </a:r>
                      <a:r>
                        <a:rPr lang="en-NZ" sz="1200" dirty="0"/>
                        <a:t> Flyback Volts via Electromagnetic Coil Collapse</a:t>
                      </a:r>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NZ" sz="1200" b="0" i="0" dirty="0"/>
                        <a:t>Cutting the power feed to the 24V electromagnetic clutch coil collapses its magnetic field, releasing a massive reverse-bias </a:t>
                      </a:r>
                      <a:r>
                        <a:rPr lang="en-NZ" sz="1200" b="0" i="0" u="none" strike="noStrike" kern="1200" dirty="0">
                          <a:solidFill>
                            <a:schemeClr val="dk1"/>
                          </a:solidFill>
                          <a:effectLst/>
                          <a:latin typeface="+mn-lt"/>
                          <a:ea typeface="+mn-ea"/>
                          <a:cs typeface="+mn-cs"/>
                        </a:rPr>
                        <a:t>~200V counter-EMF flyback spike</a:t>
                      </a:r>
                      <a:r>
                        <a:rPr lang="en-NZ" sz="1200" b="0" i="0" dirty="0"/>
                        <a:t> back into the shared PCB power rail, risking total system destruction.</a:t>
                      </a:r>
                      <a:endParaRPr lang="en-NZ" sz="1200" b="0" i="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NZ" sz="1200" b="0" i="0" u="none" strike="noStrike" kern="1200" dirty="0">
                          <a:solidFill>
                            <a:schemeClr val="dk1"/>
                          </a:solidFill>
                          <a:effectLst/>
                          <a:latin typeface="+mn-lt"/>
                          <a:ea typeface="+mn-ea"/>
                          <a:cs typeface="+mn-cs"/>
                        </a:rPr>
                        <a:t>Diagnostic Outcome:</a:t>
                      </a:r>
                      <a:r>
                        <a:rPr lang="en-NZ" sz="1200" b="0" i="0" dirty="0"/>
                        <a:t> Initial unshielded power cycles completely fried the switching MOSFET gates and instantly burned out the low-voltage microcontroller logic ports. </a:t>
                      </a:r>
                      <a:br>
                        <a:rPr lang="en-NZ" sz="1200" b="0" i="0" dirty="0"/>
                      </a:br>
                      <a:br>
                        <a:rPr lang="en-NZ" sz="1200" b="0" i="0" dirty="0"/>
                      </a:br>
                      <a:r>
                        <a:rPr lang="en-NZ" sz="1200" b="0" i="0" u="none" strike="noStrike" kern="1200" dirty="0">
                          <a:solidFill>
                            <a:schemeClr val="dk1"/>
                          </a:solidFill>
                          <a:effectLst/>
                          <a:latin typeface="+mn-lt"/>
                          <a:ea typeface="+mn-ea"/>
                          <a:cs typeface="+mn-cs"/>
                        </a:rPr>
                        <a:t>Resolution:</a:t>
                      </a:r>
                      <a:r>
                        <a:rPr lang="en-NZ" sz="1200" b="0" i="0" dirty="0"/>
                        <a:t> Engineered a multi-stage hardware protection network directly on the PCB traces. Wired a fast-switching </a:t>
                      </a:r>
                      <a:r>
                        <a:rPr lang="en-NZ" sz="1200" b="0" i="0" u="none" strike="noStrike" kern="1200" dirty="0">
                          <a:solidFill>
                            <a:schemeClr val="dk1"/>
                          </a:solidFill>
                          <a:effectLst/>
                          <a:latin typeface="+mn-lt"/>
                          <a:ea typeface="+mn-ea"/>
                          <a:cs typeface="+mn-cs"/>
                        </a:rPr>
                        <a:t>Schottky diode</a:t>
                      </a:r>
                      <a:r>
                        <a:rPr lang="en-NZ" sz="1200" b="0" i="0" dirty="0"/>
                        <a:t> in a reverse-biased configuration directly across the clutch coil leads to suppress inductive surges. Paired this with a high-speed </a:t>
                      </a:r>
                      <a:r>
                        <a:rPr lang="en-NZ" sz="1200" b="0" i="0" u="none" strike="noStrike" kern="1200" dirty="0">
                          <a:solidFill>
                            <a:schemeClr val="dk1"/>
                          </a:solidFill>
                          <a:effectLst/>
                          <a:latin typeface="+mn-lt"/>
                          <a:ea typeface="+mn-ea"/>
                          <a:cs typeface="+mn-cs"/>
                        </a:rPr>
                        <a:t>Zener diode</a:t>
                      </a:r>
                      <a:r>
                        <a:rPr lang="en-NZ" sz="1200" b="0" i="0" dirty="0"/>
                        <a:t> and a </a:t>
                      </a:r>
                      <a:r>
                        <a:rPr lang="en-NZ" sz="1200" b="0" i="0" u="none" strike="noStrike" kern="1200" dirty="0">
                          <a:solidFill>
                            <a:schemeClr val="dk1"/>
                          </a:solidFill>
                          <a:effectLst/>
                          <a:latin typeface="+mn-lt"/>
                          <a:ea typeface="+mn-ea"/>
                          <a:cs typeface="+mn-cs"/>
                        </a:rPr>
                        <a:t>Transient Voltage Suppressor (TVS)</a:t>
                      </a:r>
                      <a:r>
                        <a:rPr lang="en-NZ" sz="1200" b="0" i="0" dirty="0"/>
                        <a:t> diode to form a precise voltage clamp that shunts excess spike energy directly to ground. Added auto-resetting </a:t>
                      </a:r>
                      <a:r>
                        <a:rPr lang="en-NZ" sz="1200" b="0" i="0" u="none" strike="noStrike" kern="1200" dirty="0">
                          <a:solidFill>
                            <a:schemeClr val="dk1"/>
                          </a:solidFill>
                          <a:effectLst/>
                          <a:latin typeface="+mn-lt"/>
                          <a:ea typeface="+mn-ea"/>
                          <a:cs typeface="+mn-cs"/>
                        </a:rPr>
                        <a:t>PPTC fuses</a:t>
                      </a:r>
                      <a:r>
                        <a:rPr lang="en-NZ" sz="1200" b="0" i="0" dirty="0"/>
                        <a:t> to protect lower-current circuits, while maintaining standard automotive blade fuses to completely isolate the high-current 36V motor path if a stall fault occurs. All endpoints were verified via oscilloscope before reconnecting sensitive control units.</a:t>
                      </a:r>
                      <a:endParaRPr lang="en-NZ" sz="1200" b="0" i="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r>
                        <a:rPr lang="en-NZ" sz="1200" dirty="0"/>
                        <a:t>Common-Ground Noise &amp; High-Voltage Cross-Talk via PWM Signal Paths</a:t>
                      </a:r>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NZ" sz="1200" dirty="0"/>
                        <a:t>Wiring the PWM throttle control trace directly from the microcontroller to the 36V high-voltage Electronic Speed Controller (ESC) allowed high-current surges and common-mode feedback to leak straight into the low-voltage control loop.</a:t>
                      </a:r>
                      <a:endParaRPr lang="en-NZ" sz="1200" b="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NZ" sz="1200" b="0" i="0" u="none" strike="noStrike" kern="1200" dirty="0">
                          <a:solidFill>
                            <a:schemeClr val="dk1"/>
                          </a:solidFill>
                          <a:effectLst/>
                          <a:latin typeface="+mn-lt"/>
                          <a:ea typeface="+mn-ea"/>
                          <a:cs typeface="+mn-cs"/>
                        </a:rPr>
                        <a:t>Diagnostic Outcome:</a:t>
                      </a:r>
                      <a:r>
                        <a:rPr lang="en-NZ" sz="1200" b="0" i="0" dirty="0"/>
                        <a:t> High-amp draw spikes under hard acceleration bypassed the controller's internal logic gates, causing complete system failure and permanently destroying the </a:t>
                      </a:r>
                      <a:r>
                        <a:rPr lang="en-NZ" sz="1200" b="0" i="0" dirty="0" err="1"/>
                        <a:t>microprocessing</a:t>
                      </a:r>
                      <a:r>
                        <a:rPr lang="en-NZ" sz="1200" b="0" i="0" dirty="0"/>
                        <a:t> core. </a:t>
                      </a:r>
                      <a:br>
                        <a:rPr lang="en-NZ" sz="1200" b="0" i="0" dirty="0"/>
                      </a:br>
                      <a:br>
                        <a:rPr lang="en-NZ" sz="1200" b="0" i="0" dirty="0"/>
                      </a:br>
                      <a:r>
                        <a:rPr lang="en-NZ" sz="1200" b="0" i="0" u="none" strike="noStrike" kern="1200" dirty="0">
                          <a:solidFill>
                            <a:schemeClr val="dk1"/>
                          </a:solidFill>
                          <a:effectLst/>
                          <a:latin typeface="+mn-lt"/>
                          <a:ea typeface="+mn-ea"/>
                          <a:cs typeface="+mn-cs"/>
                        </a:rPr>
                        <a:t>Resolution:</a:t>
                      </a:r>
                      <a:r>
                        <a:rPr lang="en-NZ" sz="1200" b="0" i="0" dirty="0"/>
                        <a:t> Implemented absolute </a:t>
                      </a:r>
                      <a:r>
                        <a:rPr lang="en-NZ" sz="1200" b="0" i="0" u="none" strike="noStrike" kern="1200" dirty="0">
                          <a:solidFill>
                            <a:schemeClr val="dk1"/>
                          </a:solidFill>
                          <a:effectLst/>
                          <a:latin typeface="+mn-lt"/>
                          <a:ea typeface="+mn-ea"/>
                          <a:cs typeface="+mn-cs"/>
                        </a:rPr>
                        <a:t>galvanic isolation</a:t>
                      </a:r>
                      <a:r>
                        <a:rPr lang="en-NZ" sz="1200" b="0" i="0" dirty="0"/>
                        <a:t> on the latest dual-layer PCB layout by inserting a </a:t>
                      </a:r>
                      <a:r>
                        <a:rPr lang="en-NZ" sz="1200" b="0" i="0" u="none" strike="noStrike" kern="1200" dirty="0">
                          <a:solidFill>
                            <a:schemeClr val="dk1"/>
                          </a:solidFill>
                          <a:effectLst/>
                          <a:latin typeface="+mn-lt"/>
                          <a:ea typeface="+mn-ea"/>
                          <a:cs typeface="+mn-cs"/>
                        </a:rPr>
                        <a:t>PC817 optocoupler</a:t>
                      </a:r>
                      <a:r>
                        <a:rPr lang="en-NZ" sz="1200" b="0" i="0" dirty="0"/>
                        <a:t> directly into the PWM signal path. The ESP32-S3's internal LED controls the optocoupler using pure light transmission, completely breaking the physical electrical connection between the high-current 36V power system and the sensitive 5V/3.3V control electronics. This entirely eliminates cross-talk and permanently shields the VCU core from power-rail spikes.</a:t>
                      </a:r>
                      <a:endParaRPr lang="en-NZ" sz="1200" b="0" i="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normAutofit fontScale="32500" lnSpcReduction="20000"/>
          </a:bodyPr>
          <a:lstStyle/>
          <a:p>
            <a:r>
              <a:rPr lang="en-NZ" noProof="0" dirty="0"/>
              <a:t>Feedback after testing:</a:t>
            </a:r>
            <a:r>
              <a:rPr lang="en-NZ" dirty="0"/>
              <a:t>During integrated diagnostic testing of the system on the vehicle, two critical technical faults were discovered that severely limited operational reliability and data safety:</a:t>
            </a:r>
          </a:p>
          <a:p>
            <a:pPr lvl="0"/>
            <a:r>
              <a:rPr lang="en-NZ" b="1" dirty="0"/>
              <a:t>Lack of Live Wireless Debugging:</a:t>
            </a:r>
            <a:r>
              <a:rPr lang="en-NZ" dirty="0"/>
              <a:t> When tracking issues on a live vehicle moving under power, it was impossible to view sensor drifts or system states in real time using a standard hardwired serial monitor line, making calibration extremely slow and difficult.</a:t>
            </a:r>
          </a:p>
          <a:p>
            <a:pPr lvl="0"/>
            <a:r>
              <a:rPr lang="en-NZ" b="1" dirty="0"/>
              <a:t>Volatile Memory Data Loss:</a:t>
            </a:r>
            <a:r>
              <a:rPr lang="en-NZ" dirty="0"/>
              <a:t> The initial firmware layout calculated a runtime variable for the absolute </a:t>
            </a:r>
            <a:r>
              <a:rPr lang="en-NZ" dirty="0" err="1"/>
              <a:t>highestSpeed</a:t>
            </a:r>
            <a:r>
              <a:rPr lang="en-NZ" dirty="0"/>
              <a:t> reached. However, whenever the main power switch was killed or a PPTC circuit fuse reset the system, this critical data point was lost from the working RAM, preventing long-term tracking of drivetrain milestones.</a:t>
            </a:r>
          </a:p>
          <a:p>
            <a:br>
              <a:rPr lang="en-NZ" dirty="0"/>
            </a:br>
            <a:endParaRPr lang="en-NZ" dirty="0"/>
          </a:p>
          <a:p>
            <a:pPr marL="0" indent="0">
              <a:buNone/>
            </a:pP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Changes based off feedback (include picture or design):</a:t>
            </a:r>
            <a:r>
              <a:rPr lang="en-NZ" sz="1200" dirty="0"/>
              <a:t>To completely address these feedback limitations, I executed a major dual-layered software iteration:</a:t>
            </a:r>
          </a:p>
          <a:p>
            <a:pPr lvl="0"/>
            <a:r>
              <a:rPr lang="en-NZ" sz="1200" dirty="0"/>
              <a:t>Asynchronous HTTP Data Server Integration: I embedded the &lt;</a:t>
            </a:r>
            <a:r>
              <a:rPr lang="en-NZ" sz="1200" dirty="0" err="1"/>
              <a:t>WiFi.h</a:t>
            </a:r>
            <a:r>
              <a:rPr lang="en-NZ" sz="1200" dirty="0"/>
              <a:t>&gt; and &lt;</a:t>
            </a:r>
            <a:r>
              <a:rPr lang="en-NZ" sz="1200" dirty="0" err="1"/>
              <a:t>WebServer.h</a:t>
            </a:r>
            <a:r>
              <a:rPr lang="en-NZ" sz="1200" dirty="0"/>
              <a:t>&gt; network libraries into the master ESP32-S3 software image. The controller is now programmed to configure a local Access Point routing node (SSID string pulled safely from SECRET_SSID). This architecture dynamically processes background web client connection requests and serves a live, structured JSON data packet string stream directly to the /data endpoint every 100ms. This permits non-blocking, real-time wireless diagnostics from a mobile phone browser interface while riding.</a:t>
            </a:r>
          </a:p>
          <a:p>
            <a:pPr lvl="0"/>
            <a:r>
              <a:rPr lang="en-NZ" sz="1200" dirty="0"/>
              <a:t>Non-Volatile NVS Preference Allocation: I integrated the core &lt;</a:t>
            </a:r>
            <a:r>
              <a:rPr lang="en-NZ" sz="1200" dirty="0" err="1"/>
              <a:t>Preferences.h</a:t>
            </a:r>
            <a:r>
              <a:rPr lang="en-NZ" sz="1200" dirty="0"/>
              <a:t>&gt; storage API framework to move structural variables out of volatile memory registers. Inside the processing loop, if a newly sampled </a:t>
            </a:r>
            <a:r>
              <a:rPr lang="en-NZ" sz="1200" dirty="0" err="1"/>
              <a:t>wheelSpeed</a:t>
            </a:r>
            <a:r>
              <a:rPr lang="en-NZ" sz="1200" dirty="0"/>
              <a:t> surpasses the stored record, the system automatically commits that float calculation straight into the ESP32-S3's non-volatile NVS flash memory partition under the namespace key "highest". This ensures telemetry records are saved safely during a complete vehicle power shutdown or automatic short-circuit fuse reset.</a:t>
            </a:r>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2387</TotalTime>
  <Words>4835</Words>
  <Application>Microsoft Office PowerPoint</Application>
  <PresentationFormat>Widescreen</PresentationFormat>
  <Paragraphs>214</Paragraphs>
  <Slides>31</Slides>
  <Notes>0</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PowerPoint Presentation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2:physical controls </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Choice of Component/System 5</vt:lpstr>
      <vt:lpstr>Component/System 5</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2026-10-23T11:02:15Z</dcterms:modified>
</cp:coreProperties>
</file>