
<file path=[Content_Types].xml><?xml version="1.0" encoding="utf-8"?>
<Types xmlns="http://schemas.openxmlformats.org/package/2006/content-types">
  <Default Extension="jpeg" ContentType="image/jpeg"/>
  <Default Extension="MOV" ContentType="video/quicktime"/>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303" r:id="rId14"/>
    <p:sldId id="304" r:id="rId15"/>
    <p:sldId id="289" r:id="rId16"/>
    <p:sldId id="280" r:id="rId17"/>
    <p:sldId id="288" r:id="rId18"/>
    <p:sldId id="292" r:id="rId19"/>
    <p:sldId id="302" r:id="rId20"/>
    <p:sldId id="294" r:id="rId21"/>
    <p:sldId id="295" r:id="rId22"/>
    <p:sldId id="296" r:id="rId23"/>
    <p:sldId id="298" r:id="rId24"/>
    <p:sldId id="299" r:id="rId25"/>
    <p:sldId id="300" r:id="rId26"/>
    <p:sldId id="282" r:id="rId27"/>
    <p:sldId id="277" r:id="rId28"/>
    <p:sldId id="265" r:id="rId29"/>
    <p:sldId id="266" r:id="rId30"/>
    <p:sldId id="278" r:id="rId31"/>
    <p:sldId id="283"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77" dt="2026-10-10T22:41:25.1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p:scale>
          <a:sx n="100" d="100"/>
          <a:sy n="100" d="100"/>
        </p:scale>
        <p:origin x="438"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sldOrd">
      <pc:chgData name="Heinrich Venter" userId="694de3c83518532c" providerId="LiveId" clId="{10CD68D7-CBE1-4750-A2D1-7DEE064E9363}" dt="2026-10-10T23:02:11.932" v="11453" actId="27636"/>
      <pc:docMkLst>
        <pc:docMk/>
      </pc:docMkLst>
      <pc:sldChg chg="modSp mod">
        <pc:chgData name="Heinrich Venter" userId="694de3c83518532c" providerId="LiveId" clId="{10CD68D7-CBE1-4750-A2D1-7DEE064E9363}" dt="2026-10-10T22:13:37.923" v="10666" actId="20577"/>
        <pc:sldMkLst>
          <pc:docMk/>
          <pc:sldMk cId="4293113589" sldId="257"/>
        </pc:sldMkLst>
        <pc:spChg chg="mod">
          <ac:chgData name="Heinrich Venter" userId="694de3c83518532c" providerId="LiveId" clId="{10CD68D7-CBE1-4750-A2D1-7DEE064E9363}" dt="2026-10-10T22:13:37.923" v="10666" actId="20577"/>
          <ac:spMkLst>
            <pc:docMk/>
            <pc:sldMk cId="4293113589" sldId="257"/>
            <ac:spMk id="3" creationId="{EB73A0B0-8C2E-99B2-DFB1-974EF0CDEB52}"/>
          </ac:spMkLst>
        </pc:spChg>
      </pc:sldChg>
      <pc:sldChg chg="modSp mod">
        <pc:chgData name="Heinrich Venter" userId="694de3c83518532c" providerId="LiveId" clId="{10CD68D7-CBE1-4750-A2D1-7DEE064E9363}" dt="2026-10-10T21:13:59.022" v="10373" actId="20577"/>
        <pc:sldMkLst>
          <pc:docMk/>
          <pc:sldMk cId="2407707907" sldId="258"/>
        </pc:sldMkLst>
        <pc:spChg chg="mod">
          <ac:chgData name="Heinrich Venter" userId="694de3c83518532c" providerId="LiveId" clId="{10CD68D7-CBE1-4750-A2D1-7DEE064E9363}" dt="2026-10-10T21:13:59.022" v="10373" actId="20577"/>
          <ac:spMkLst>
            <pc:docMk/>
            <pc:sldMk cId="2407707907" sldId="258"/>
            <ac:spMk id="3" creationId="{48517805-ABAD-9125-D5EB-9C37B582DC52}"/>
          </ac:spMkLst>
        </pc:spChg>
      </pc:sldChg>
      <pc:sldChg chg="addSp delSp modSp mod">
        <pc:chgData name="Heinrich Venter" userId="694de3c83518532c" providerId="LiveId" clId="{10CD68D7-CBE1-4750-A2D1-7DEE064E9363}" dt="2026-10-10T21:56:43.140" v="10380" actId="1076"/>
        <pc:sldMkLst>
          <pc:docMk/>
          <pc:sldMk cId="974559019" sldId="268"/>
        </pc:sldMkLst>
        <pc:picChg chg="del">
          <ac:chgData name="Heinrich Venter" userId="694de3c83518532c" providerId="LiveId" clId="{10CD68D7-CBE1-4750-A2D1-7DEE064E9363}" dt="2026-10-10T21:55:19.635" v="10374" actId="478"/>
          <ac:picMkLst>
            <pc:docMk/>
            <pc:sldMk cId="974559019" sldId="268"/>
            <ac:picMk id="5" creationId="{235B136F-957E-4C8A-29DC-2D7245FC85D9}"/>
          </ac:picMkLst>
        </pc:picChg>
        <pc:picChg chg="add mod">
          <ac:chgData name="Heinrich Venter" userId="694de3c83518532c" providerId="LiveId" clId="{10CD68D7-CBE1-4750-A2D1-7DEE064E9363}" dt="2026-10-10T21:56:43.140" v="10380" actId="1076"/>
          <ac:picMkLst>
            <pc:docMk/>
            <pc:sldMk cId="974559019" sldId="268"/>
            <ac:picMk id="8" creationId="{A92DCFDB-72A7-6C02-0E60-B8B3F2A80071}"/>
          </ac:picMkLst>
        </pc:picChg>
      </pc:sldChg>
      <pc:sldChg chg="addSp delSp modSp mod">
        <pc:chgData name="Heinrich Venter" userId="694de3c83518532c" providerId="LiveId" clId="{10CD68D7-CBE1-4750-A2D1-7DEE064E9363}" dt="2026-10-10T22:26:12.307" v="10692" actId="20577"/>
        <pc:sldMkLst>
          <pc:docMk/>
          <pc:sldMk cId="3917241819" sldId="279"/>
        </pc:sldMkLst>
        <pc:spChg chg="mod">
          <ac:chgData name="Heinrich Venter" userId="694de3c83518532c" providerId="LiveId" clId="{10CD68D7-CBE1-4750-A2D1-7DEE064E9363}" dt="2026-10-10T22:26:12.307" v="10692" actId="20577"/>
          <ac:spMkLst>
            <pc:docMk/>
            <pc:sldMk cId="3917241819" sldId="279"/>
            <ac:spMk id="3" creationId="{109C2FE0-6991-DDAF-C4F7-B3415EC34474}"/>
          </ac:spMkLst>
        </pc:spChg>
        <pc:picChg chg="add mod">
          <ac:chgData name="Heinrich Venter" userId="694de3c83518532c" providerId="LiveId" clId="{10CD68D7-CBE1-4750-A2D1-7DEE064E9363}" dt="2026-10-10T22:21:42.482" v="10688" actId="1076"/>
          <ac:picMkLst>
            <pc:docMk/>
            <pc:sldMk cId="3917241819" sldId="279"/>
            <ac:picMk id="7" creationId="{6A8339F2-099A-A5DA-1381-4B912633BE7E}"/>
          </ac:picMkLst>
        </pc:picChg>
        <pc:picChg chg="del">
          <ac:chgData name="Heinrich Venter" userId="694de3c83518532c" providerId="LiveId" clId="{10CD68D7-CBE1-4750-A2D1-7DEE064E9363}" dt="2026-10-10T22:07:59.935" v="10618" actId="478"/>
          <ac:picMkLst>
            <pc:docMk/>
            <pc:sldMk cId="3917241819" sldId="279"/>
            <ac:picMk id="1026" creationId="{F6F76BE5-4844-9D9B-EDC2-816CC06C42C3}"/>
          </ac:picMkLst>
        </pc:picChg>
      </pc:sldChg>
      <pc:sldChg chg="modSp mod">
        <pc:chgData name="Heinrich Venter" userId="694de3c83518532c" providerId="LiveId" clId="{10CD68D7-CBE1-4750-A2D1-7DEE064E9363}" dt="2026-10-10T22:42:22.516" v="11218" actId="20577"/>
        <pc:sldMkLst>
          <pc:docMk/>
          <pc:sldMk cId="3469156485" sldId="280"/>
        </pc:sldMkLst>
        <pc:spChg chg="mod">
          <ac:chgData name="Heinrich Venter" userId="694de3c83518532c" providerId="LiveId" clId="{10CD68D7-CBE1-4750-A2D1-7DEE064E9363}" dt="2026-10-10T22:41:33.684" v="11117" actId="20577"/>
          <ac:spMkLst>
            <pc:docMk/>
            <pc:sldMk cId="3469156485" sldId="280"/>
            <ac:spMk id="5" creationId="{50C57F65-7853-E45D-CA58-31BCC9DE7B02}"/>
          </ac:spMkLst>
        </pc:spChg>
        <pc:spChg chg="mod">
          <ac:chgData name="Heinrich Venter" userId="694de3c83518532c" providerId="LiveId" clId="{10CD68D7-CBE1-4750-A2D1-7DEE064E9363}" dt="2026-10-10T22:42:22.516" v="11218" actId="20577"/>
          <ac:spMkLst>
            <pc:docMk/>
            <pc:sldMk cId="3469156485" sldId="280"/>
            <ac:spMk id="11" creationId="{E3D936A8-CA08-48BB-AA98-F3A8B43B31CF}"/>
          </ac:spMkLst>
        </pc:spChg>
      </pc:sldChg>
      <pc:sldChg chg="modSp mod">
        <pc:chgData name="Heinrich Venter" userId="694de3c83518532c" providerId="LiveId" clId="{10CD68D7-CBE1-4750-A2D1-7DEE064E9363}" dt="2026-10-10T22:12:23.809" v="10651" actId="20577"/>
        <pc:sldMkLst>
          <pc:docMk/>
          <pc:sldMk cId="4103162250" sldId="285"/>
        </pc:sldMkLst>
        <pc:spChg chg="mod">
          <ac:chgData name="Heinrich Venter" userId="694de3c83518532c" providerId="LiveId" clId="{10CD68D7-CBE1-4750-A2D1-7DEE064E9363}" dt="2026-10-10T22:12:23.809" v="10651" actId="20577"/>
          <ac:spMkLst>
            <pc:docMk/>
            <pc:sldMk cId="4103162250" sldId="285"/>
            <ac:spMk id="3" creationId="{A52EF0A1-3D21-8BB7-02F3-33253F2DFB43}"/>
          </ac:spMkLst>
        </pc:spChg>
      </pc:sldChg>
      <pc:sldChg chg="modSp mod">
        <pc:chgData name="Heinrich Venter" userId="694de3c83518532c" providerId="LiveId" clId="{10CD68D7-CBE1-4750-A2D1-7DEE064E9363}" dt="2026-10-10T22:08:25.990" v="10645" actId="20577"/>
        <pc:sldMkLst>
          <pc:docMk/>
          <pc:sldMk cId="4188302786" sldId="287"/>
        </pc:sldMkLst>
        <pc:spChg chg="mod">
          <ac:chgData name="Heinrich Venter" userId="694de3c83518532c" providerId="LiveId" clId="{10CD68D7-CBE1-4750-A2D1-7DEE064E9363}" dt="2026-10-10T22:07:44.357" v="10617" actId="20577"/>
          <ac:spMkLst>
            <pc:docMk/>
            <pc:sldMk cId="4188302786" sldId="287"/>
            <ac:spMk id="5" creationId="{208AF426-607B-1936-143C-7541AD8896ED}"/>
          </ac:spMkLst>
        </pc:spChg>
        <pc:spChg chg="mod">
          <ac:chgData name="Heinrich Venter" userId="694de3c83518532c" providerId="LiveId" clId="{10CD68D7-CBE1-4750-A2D1-7DEE064E9363}" dt="2026-10-10T22:08:15.841" v="10627" actId="20577"/>
          <ac:spMkLst>
            <pc:docMk/>
            <pc:sldMk cId="4188302786" sldId="287"/>
            <ac:spMk id="8" creationId="{DFB8CE4C-97AF-7F3E-9CAC-E06101B7E86D}"/>
          </ac:spMkLst>
        </pc:spChg>
        <pc:spChg chg="mod">
          <ac:chgData name="Heinrich Venter" userId="694de3c83518532c" providerId="LiveId" clId="{10CD68D7-CBE1-4750-A2D1-7DEE064E9363}" dt="2026-10-10T22:08:25.990" v="10645" actId="20577"/>
          <ac:spMkLst>
            <pc:docMk/>
            <pc:sldMk cId="4188302786" sldId="287"/>
            <ac:spMk id="9" creationId="{0A4F4AF7-5E5A-2D76-3F73-6A09F3F31537}"/>
          </ac:spMkLst>
        </pc:spChg>
        <pc:picChg chg="mod">
          <ac:chgData name="Heinrich Venter" userId="694de3c83518532c" providerId="LiveId" clId="{10CD68D7-CBE1-4750-A2D1-7DEE064E9363}" dt="2026-10-10T21:58:36.051" v="10384" actId="1076"/>
          <ac:picMkLst>
            <pc:docMk/>
            <pc:sldMk cId="4188302786" sldId="287"/>
            <ac:picMk id="4" creationId="{DB5BC4F3-C531-1D3F-2F74-03D6ADDD369B}"/>
          </ac:picMkLst>
        </pc:picChg>
        <pc:picChg chg="mod">
          <ac:chgData name="Heinrich Venter" userId="694de3c83518532c" providerId="LiveId" clId="{10CD68D7-CBE1-4750-A2D1-7DEE064E9363}" dt="2026-10-10T21:58:31.424" v="10383" actId="1076"/>
          <ac:picMkLst>
            <pc:docMk/>
            <pc:sldMk cId="4188302786" sldId="287"/>
            <ac:picMk id="6" creationId="{0738B815-EC1C-C22B-E05D-CE494F7F36C9}"/>
          </ac:picMkLst>
        </pc:picChg>
      </pc:sldChg>
      <pc:sldChg chg="modSp mod">
        <pc:chgData name="Heinrich Venter" userId="694de3c83518532c" providerId="LiveId" clId="{10CD68D7-CBE1-4750-A2D1-7DEE064E9363}" dt="2026-10-10T23:01:30.688" v="11447" actId="20577"/>
        <pc:sldMkLst>
          <pc:docMk/>
          <pc:sldMk cId="2953175661" sldId="288"/>
        </pc:sldMkLst>
        <pc:spChg chg="mod">
          <ac:chgData name="Heinrich Venter" userId="694de3c83518532c" providerId="LiveId" clId="{10CD68D7-CBE1-4750-A2D1-7DEE064E9363}" dt="2026-10-10T23:01:30.688" v="11447" actId="20577"/>
          <ac:spMkLst>
            <pc:docMk/>
            <pc:sldMk cId="2953175661" sldId="288"/>
            <ac:spMk id="5" creationId="{208AF426-607B-1936-143C-7541AD8896ED}"/>
          </ac:spMkLst>
        </pc:spChg>
      </pc:sldChg>
      <pc:sldChg chg="modSp mod">
        <pc:chgData name="Heinrich Venter" userId="694de3c83518532c" providerId="LiveId" clId="{10CD68D7-CBE1-4750-A2D1-7DEE064E9363}" dt="2026-10-10T22:41:13.668" v="11115" actId="20577"/>
        <pc:sldMkLst>
          <pc:docMk/>
          <pc:sldMk cId="708745857" sldId="289"/>
        </pc:sldMkLst>
        <pc:spChg chg="mod">
          <ac:chgData name="Heinrich Venter" userId="694de3c83518532c" providerId="LiveId" clId="{10CD68D7-CBE1-4750-A2D1-7DEE064E9363}" dt="2026-10-10T22:27:07.768" v="10724" actId="20577"/>
          <ac:spMkLst>
            <pc:docMk/>
            <pc:sldMk cId="708745857" sldId="289"/>
            <ac:spMk id="3" creationId="{109C2FE0-6991-DDAF-C4F7-B3415EC34474}"/>
          </ac:spMkLst>
        </pc:spChg>
        <pc:spChg chg="mod">
          <ac:chgData name="Heinrich Venter" userId="694de3c83518532c" providerId="LiveId" clId="{10CD68D7-CBE1-4750-A2D1-7DEE064E9363}" dt="2026-10-10T22:41:13.668" v="11115" actId="20577"/>
          <ac:spMkLst>
            <pc:docMk/>
            <pc:sldMk cId="708745857" sldId="289"/>
            <ac:spMk id="5" creationId="{F10EB81D-A986-42AD-847E-FF3A1F656CEB}"/>
          </ac:spMkLst>
        </pc:spChg>
      </pc:sldChg>
      <pc:sldChg chg="modSp mod">
        <pc:chgData name="Heinrich Venter" userId="694de3c83518532c" providerId="LiveId" clId="{10CD68D7-CBE1-4750-A2D1-7DEE064E9363}" dt="2026-10-10T23:02:11.932" v="11453" actId="27636"/>
        <pc:sldMkLst>
          <pc:docMk/>
          <pc:sldMk cId="3091740916" sldId="292"/>
        </pc:sldMkLst>
        <pc:spChg chg="mod">
          <ac:chgData name="Heinrich Venter" userId="694de3c83518532c" providerId="LiveId" clId="{10CD68D7-CBE1-4750-A2D1-7DEE064E9363}" dt="2026-10-10T23:02:11.932" v="11453" actId="27636"/>
          <ac:spMkLst>
            <pc:docMk/>
            <pc:sldMk cId="3091740916" sldId="292"/>
            <ac:spMk id="3" creationId="{109C2FE0-6991-DDAF-C4F7-B3415EC34474}"/>
          </ac:spMkLst>
        </pc:spChg>
        <pc:spChg chg="mod">
          <ac:chgData name="Heinrich Venter" userId="694de3c83518532c" providerId="LiveId" clId="{10CD68D7-CBE1-4750-A2D1-7DEE064E9363}" dt="2026-10-10T23:02:04.548" v="11451" actId="27636"/>
          <ac:spMkLst>
            <pc:docMk/>
            <pc:sldMk cId="3091740916" sldId="292"/>
            <ac:spMk id="5" creationId="{F10EB81D-A986-42AD-847E-FF3A1F656CEB}"/>
          </ac:spMkLst>
        </pc:spChg>
      </pc:sldChg>
      <pc:sldChg chg="modSp mod">
        <pc:chgData name="Heinrich Venter" userId="694de3c83518532c" providerId="LiveId" clId="{10CD68D7-CBE1-4750-A2D1-7DEE064E9363}" dt="2026-10-10T22:20:05.190" v="10669" actId="20577"/>
        <pc:sldMkLst>
          <pc:docMk/>
          <pc:sldMk cId="2786755706" sldId="297"/>
        </pc:sldMkLst>
        <pc:spChg chg="mod">
          <ac:chgData name="Heinrich Venter" userId="694de3c83518532c" providerId="LiveId" clId="{10CD68D7-CBE1-4750-A2D1-7DEE064E9363}" dt="2026-10-10T22:20:05.190" v="10669" actId="20577"/>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11/10/2026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11.jpeg"/><Relationship Id="rId4" Type="http://schemas.openxmlformats.org/officeDocument/2006/relationships/image" Target="../media/image10.jpeg"/></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microsoft.com/office/2007/relationships/media" Target="../media/media2.MOV"/><Relationship Id="rId7" Type="http://schemas.openxmlformats.org/officeDocument/2006/relationships/image" Target="../media/image1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8.png"/><Relationship Id="rId5" Type="http://schemas.openxmlformats.org/officeDocument/2006/relationships/slideLayout" Target="../slideLayouts/slideLayout2.xml"/><Relationship Id="rId4" Type="http://schemas.openxmlformats.org/officeDocument/2006/relationships/video" Target="../media/media2.MOV"/></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ESP32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ESP32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r>
              <a:rPr lang="en-NZ" noProof="0"/>
              <a:t>v</a:t>
            </a: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
        <p:nvSpPr>
          <p:cNvPr id="4" name="TextBox 3">
            <a:extLst>
              <a:ext uri="{FF2B5EF4-FFF2-40B4-BE49-F238E27FC236}">
                <a16:creationId xmlns:a16="http://schemas.microsoft.com/office/drawing/2014/main" id="{81A5D173-99A8-51AD-67D3-349F5CFE1C53}"/>
              </a:ext>
            </a:extLst>
          </p:cNvPr>
          <p:cNvSpPr txBox="1"/>
          <p:nvPr/>
        </p:nvSpPr>
        <p:spPr>
          <a:xfrm>
            <a:off x="9281160" y="5797296"/>
            <a:ext cx="1291700" cy="369332"/>
          </a:xfrm>
          <a:prstGeom prst="rect">
            <a:avLst/>
          </a:prstGeom>
          <a:noFill/>
        </p:spPr>
        <p:txBody>
          <a:bodyPr wrap="none" rtlCol="0">
            <a:spAutoFit/>
          </a:bodyPr>
          <a:lstStyle/>
          <a:p>
            <a:r>
              <a:rPr lang="en-GB" dirty="0"/>
              <a:t>Made by ai </a:t>
            </a:r>
            <a:endParaRPr lang="en-NZ" dirty="0"/>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ESP32and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sp>
        <p:nvSpPr>
          <p:cNvPr id="6" name="TextBox 5">
            <a:extLst>
              <a:ext uri="{FF2B5EF4-FFF2-40B4-BE49-F238E27FC236}">
                <a16:creationId xmlns:a16="http://schemas.microsoft.com/office/drawing/2014/main" id="{92E838D8-6EAC-C0AF-8820-D8D3D7E132B8}"/>
              </a:ext>
            </a:extLst>
          </p:cNvPr>
          <p:cNvSpPr txBox="1"/>
          <p:nvPr/>
        </p:nvSpPr>
        <p:spPr>
          <a:xfrm>
            <a:off x="8193024" y="6428232"/>
            <a:ext cx="1245213" cy="369332"/>
          </a:xfrm>
          <a:prstGeom prst="rect">
            <a:avLst/>
          </a:prstGeom>
          <a:noFill/>
        </p:spPr>
        <p:txBody>
          <a:bodyPr wrap="none" rtlCol="0">
            <a:spAutoFit/>
          </a:bodyPr>
          <a:lstStyle/>
          <a:p>
            <a:r>
              <a:rPr lang="en-GB" dirty="0"/>
              <a:t>Made by ai</a:t>
            </a:r>
            <a:endParaRPr lang="en-NZ" dirty="0"/>
          </a:p>
        </p:txBody>
      </p:sp>
      <p:pic>
        <p:nvPicPr>
          <p:cNvPr id="8" name="Picture 7">
            <a:extLst>
              <a:ext uri="{FF2B5EF4-FFF2-40B4-BE49-F238E27FC236}">
                <a16:creationId xmlns:a16="http://schemas.microsoft.com/office/drawing/2014/main" id="{A92DCFDB-72A7-6C02-0E60-B8B3F2A80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5975" y="1991083"/>
            <a:ext cx="7379208" cy="4919472"/>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esp32 for its native </a:t>
            </a:r>
            <a:r>
              <a:rPr lang="en-NZ" dirty="0" err="1"/>
              <a:t>wifi</a:t>
            </a:r>
            <a:r>
              <a:rPr lang="en-NZ" dirty="0"/>
              <a:t> and Bluetooth capabilities </a:t>
            </a:r>
            <a:r>
              <a:rPr lang="en-NZ" dirty="0" err="1"/>
              <a:t>aswell</a:t>
            </a:r>
            <a:r>
              <a:rPr lang="en-NZ" dirty="0"/>
              <a:t> as its increased </a:t>
            </a:r>
            <a:r>
              <a:rPr lang="en-NZ" dirty="0" err="1"/>
              <a:t>gpio</a:t>
            </a:r>
            <a:r>
              <a:rPr lang="en-NZ" dirty="0"/>
              <a:t> pins compared to other boards, another reason is that it is faster at reading sensor readings </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a:t>ESP32-s3</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noProof="0" dirty="0"/>
              <a:t>Arduino r4 </a:t>
            </a:r>
            <a:r>
              <a:rPr lang="en-NZ" noProof="0" dirty="0" err="1"/>
              <a:t>wifi</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4086857" y="1962483"/>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838199" y="195692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85000" lnSpcReduction="20000"/>
          </a:bodyPr>
          <a:lstStyle/>
          <a:p>
            <a:pPr marL="0" indent="0">
              <a:buNone/>
            </a:pPr>
            <a:r>
              <a:rPr lang="en-NZ" noProof="0" dirty="0"/>
              <a:t>Explanation of component-brain</a:t>
            </a:r>
          </a:p>
          <a:p>
            <a:pPr marL="0" indent="0">
              <a:buNone/>
            </a:pPr>
            <a:r>
              <a:rPr lang="en-NZ" dirty="0"/>
              <a:t>The ESP32 is the main microcontroller used in my project. It is a microcontroller with a </a:t>
            </a:r>
            <a:r>
              <a:rPr lang="en-NZ" dirty="0" err="1"/>
              <a:t>wifi</a:t>
            </a:r>
            <a:r>
              <a:rPr lang="en-NZ" dirty="0"/>
              <a:t> component onboard meaning it can be controlled wirelessly using </a:t>
            </a:r>
            <a:r>
              <a:rPr lang="en-NZ" dirty="0" err="1"/>
              <a:t>wifi</a:t>
            </a:r>
            <a:r>
              <a:rPr lang="en-NZ" dirty="0"/>
              <a:t>, it also has </a:t>
            </a:r>
            <a:r>
              <a:rPr lang="en-NZ" dirty="0" err="1"/>
              <a:t>gpio</a:t>
            </a:r>
            <a:r>
              <a:rPr lang="en-NZ" dirty="0"/>
              <a:t> pins on the side so that sensors and components like a PCB can be added for adding more components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a:t>
            </a:r>
            <a:r>
              <a:rPr lang="en-NZ" noProof="0"/>
              <a:t>log: </a:t>
            </a:r>
            <a:endParaRPr lang="en-NZ" noProof="0" dirty="0"/>
          </a:p>
        </p:txBody>
      </p:sp>
      <p:pic>
        <p:nvPicPr>
          <p:cNvPr id="7" name="Picture 6" descr="Buy ESP32 ESP-32S WiFi+ Bluetooth Development Board">
            <a:extLst>
              <a:ext uri="{FF2B5EF4-FFF2-40B4-BE49-F238E27FC236}">
                <a16:creationId xmlns:a16="http://schemas.microsoft.com/office/drawing/2014/main" id="{6A8339F2-099A-A5DA-1381-4B912633BE7E}"/>
              </a:ext>
            </a:extLst>
          </p:cNvPr>
          <p:cNvPicPr>
            <a:picLocks noChangeAspect="1"/>
          </p:cNvPicPr>
          <p:nvPr/>
        </p:nvPicPr>
        <p:blipFill>
          <a:blip r:embed="rId3"/>
          <a:stretch>
            <a:fillRect/>
          </a:stretch>
        </p:blipFill>
        <p:spPr>
          <a:xfrm>
            <a:off x="943897" y="3909550"/>
            <a:ext cx="1246583" cy="1662110"/>
          </a:xfrm>
          <a:prstGeom prst="rect">
            <a:avLst/>
          </a:prstGeom>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DE6CF-B445-2DC3-DAC3-8D1AA76DC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07242-68C4-C11B-D99F-A2DCAB543E47}"/>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7BB92E76-E3F6-6C1B-4C93-7DF5D363240A}"/>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8561BD7D-2184-D401-94A5-899C74EC469D}"/>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44929486-D4C8-D2C0-400A-3937434FA30D}"/>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a:t>
            </a:r>
            <a:endParaRPr lang="en-NZ" noProof="0" dirty="0"/>
          </a:p>
        </p:txBody>
      </p:sp>
    </p:spTree>
    <p:extLst>
      <p:ext uri="{BB962C8B-B14F-4D97-AF65-F5344CB8AC3E}">
        <p14:creationId xmlns:p14="http://schemas.microsoft.com/office/powerpoint/2010/main" val="38895813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3CD5-AD13-3CED-8541-FFF36FE09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9EDAD-08EF-0BF2-303D-015961EDDF03}"/>
              </a:ext>
            </a:extLst>
          </p:cNvPr>
          <p:cNvSpPr>
            <a:spLocks noGrp="1"/>
          </p:cNvSpPr>
          <p:nvPr>
            <p:ph type="title"/>
          </p:nvPr>
        </p:nvSpPr>
        <p:spPr>
          <a:xfrm>
            <a:off x="838200" y="365125"/>
            <a:ext cx="10515600" cy="720725"/>
          </a:xfrm>
          <a:solidFill>
            <a:schemeClr val="accent3">
              <a:lumMod val="20000"/>
              <a:lumOff val="80000"/>
            </a:schemeClr>
          </a:solidFill>
        </p:spPr>
        <p:txBody>
          <a:bodyPr>
            <a:normAutofit fontScale="90000"/>
          </a:bodyPr>
          <a:lstStyle/>
          <a:p>
            <a:r>
              <a:rPr lang="en-NZ" noProof="0" dirty="0"/>
              <a:t>Choice of Component/System 2:physical controls </a:t>
            </a:r>
          </a:p>
        </p:txBody>
      </p:sp>
      <p:sp>
        <p:nvSpPr>
          <p:cNvPr id="5" name="Content Placeholder 2">
            <a:extLst>
              <a:ext uri="{FF2B5EF4-FFF2-40B4-BE49-F238E27FC236}">
                <a16:creationId xmlns:a16="http://schemas.microsoft.com/office/drawing/2014/main" id="{2EEF68AF-73CE-D67A-CD84-BEC0EFDE6C33}"/>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The reason why I chose the hall effect sensor  is due to simplicity and the fact that it use magnets for signal input meaning nothing is touching so no friction and near zero wear in the parts, it is also very easy to make a custom casing for it to be held in place where ever its needed  </a:t>
            </a:r>
            <a:endParaRPr lang="en-NZ" noProof="0" dirty="0"/>
          </a:p>
        </p:txBody>
      </p:sp>
      <p:sp>
        <p:nvSpPr>
          <p:cNvPr id="8" name="Content Placeholder 7">
            <a:extLst>
              <a:ext uri="{FF2B5EF4-FFF2-40B4-BE49-F238E27FC236}">
                <a16:creationId xmlns:a16="http://schemas.microsoft.com/office/drawing/2014/main" id="{2437FB4A-C1CF-2945-BDF4-05A3E375C32A}"/>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a:t>Hall effect sensor</a:t>
            </a:r>
          </a:p>
          <a:p>
            <a:pPr marL="0" indent="0">
              <a:buNone/>
            </a:pPr>
            <a:endParaRPr lang="en-NZ" noProof="0" dirty="0"/>
          </a:p>
        </p:txBody>
      </p:sp>
      <p:sp>
        <p:nvSpPr>
          <p:cNvPr id="9" name="Content Placeholder 7">
            <a:extLst>
              <a:ext uri="{FF2B5EF4-FFF2-40B4-BE49-F238E27FC236}">
                <a16:creationId xmlns:a16="http://schemas.microsoft.com/office/drawing/2014/main" id="{F0228A46-E104-EC79-C468-348E78F19B26}"/>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Potentiometer</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9A871463-3208-9FA6-0521-010FAA2EDF1A}"/>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noProof="0" dirty="0"/>
              <a:t> optical encoder </a:t>
            </a:r>
          </a:p>
          <a:p>
            <a:pPr marL="0" indent="0">
              <a:buFont typeface="Arial" panose="020B0604020202020204" pitchFamily="34" charset="0"/>
              <a:buNone/>
            </a:pPr>
            <a:r>
              <a:rPr lang="en-NZ" noProof="0" dirty="0"/>
              <a:t>      </a:t>
            </a:r>
          </a:p>
        </p:txBody>
      </p:sp>
      <p:pic>
        <p:nvPicPr>
          <p:cNvPr id="11" name="Picture 10" descr="UGN3503UA Hall Effect Sensor | Afterpay &amp; ZipPay Available | Click &amp; Collect | Jaycar">
            <a:extLst>
              <a:ext uri="{FF2B5EF4-FFF2-40B4-BE49-F238E27FC236}">
                <a16:creationId xmlns:a16="http://schemas.microsoft.com/office/drawing/2014/main" id="{74D8C263-7852-B94D-311C-7133FC240A2D}"/>
              </a:ext>
            </a:extLst>
          </p:cNvPr>
          <p:cNvPicPr>
            <a:picLocks noChangeAspect="1"/>
          </p:cNvPicPr>
          <p:nvPr/>
        </p:nvPicPr>
        <p:blipFill>
          <a:blip r:embed="rId2"/>
          <a:stretch>
            <a:fillRect/>
          </a:stretch>
        </p:blipFill>
        <p:spPr>
          <a:xfrm>
            <a:off x="1002276" y="2091017"/>
            <a:ext cx="1337983" cy="1337983"/>
          </a:xfrm>
          <a:prstGeom prst="rect">
            <a:avLst/>
          </a:prstGeom>
        </p:spPr>
      </p:pic>
      <p:pic>
        <p:nvPicPr>
          <p:cNvPr id="12" name="Picture 11" descr="25k Ohm Logarithmic (A) Single Gang 24mm Potentiometer | Afterpay &amp; ZipPay Available | Click &amp; Collect | Jaycar">
            <a:extLst>
              <a:ext uri="{FF2B5EF4-FFF2-40B4-BE49-F238E27FC236}">
                <a16:creationId xmlns:a16="http://schemas.microsoft.com/office/drawing/2014/main" id="{B027A818-A851-A2E7-7756-A4924647D6FF}"/>
              </a:ext>
            </a:extLst>
          </p:cNvPr>
          <p:cNvPicPr>
            <a:picLocks noChangeAspect="1"/>
          </p:cNvPicPr>
          <p:nvPr/>
        </p:nvPicPr>
        <p:blipFill>
          <a:blip r:embed="rId3"/>
          <a:stretch>
            <a:fillRect/>
          </a:stretch>
        </p:blipFill>
        <p:spPr>
          <a:xfrm>
            <a:off x="4398091" y="1959446"/>
            <a:ext cx="1337984" cy="1337984"/>
          </a:xfrm>
          <a:prstGeom prst="rect">
            <a:avLst/>
          </a:prstGeom>
        </p:spPr>
      </p:pic>
      <p:pic>
        <p:nvPicPr>
          <p:cNvPr id="13" name="Picture 12" descr="Optical Encoders: How They Work, Types &amp; Applications">
            <a:extLst>
              <a:ext uri="{FF2B5EF4-FFF2-40B4-BE49-F238E27FC236}">
                <a16:creationId xmlns:a16="http://schemas.microsoft.com/office/drawing/2014/main" id="{528DC37D-C413-9270-1979-4BCCBBB1C8F7}"/>
              </a:ext>
            </a:extLst>
          </p:cNvPr>
          <p:cNvPicPr>
            <a:picLocks noChangeAspect="1"/>
          </p:cNvPicPr>
          <p:nvPr/>
        </p:nvPicPr>
        <p:blipFill>
          <a:blip r:embed="rId4"/>
          <a:stretch>
            <a:fillRect/>
          </a:stretch>
        </p:blipFill>
        <p:spPr>
          <a:xfrm>
            <a:off x="7957984" y="1979423"/>
            <a:ext cx="1449577" cy="1449577"/>
          </a:xfrm>
          <a:prstGeom prst="rect">
            <a:avLst/>
          </a:prstGeom>
        </p:spPr>
      </p:pic>
    </p:spTree>
    <p:extLst>
      <p:ext uri="{BB962C8B-B14F-4D97-AF65-F5344CB8AC3E}">
        <p14:creationId xmlns:p14="http://schemas.microsoft.com/office/powerpoint/2010/main" val="3412286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there is a bit of electromagnetic interference from other magnets like the clutch and the engine, adding a 0.1uf capacitor across the signal and </a:t>
            </a:r>
            <a:r>
              <a:rPr lang="en-NZ" dirty="0" err="1"/>
              <a:t>gnd</a:t>
            </a:r>
            <a:r>
              <a:rPr lang="en-NZ" dirty="0"/>
              <a:t> wires did reduce this </a:t>
            </a:r>
            <a:r>
              <a:rPr lang="en-NZ" dirty="0" err="1"/>
              <a:t>emi</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a:t>
            </a:r>
            <a:r>
              <a:rPr lang="en-NZ" dirty="0"/>
              <a:t> twisting the 3 wires </a:t>
            </a:r>
            <a:r>
              <a:rPr lang="en-NZ" dirty="0" err="1"/>
              <a:t>ontop</a:t>
            </a:r>
            <a:r>
              <a:rPr lang="en-NZ" dirty="0"/>
              <a:t> of </a:t>
            </a:r>
            <a:r>
              <a:rPr lang="en-NZ" dirty="0" err="1"/>
              <a:t>eachother</a:t>
            </a:r>
            <a:r>
              <a:rPr lang="en-NZ" dirty="0"/>
              <a:t> which creates an inductor which resist signal roughness </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analog hall sensors still have a little bit of bounce to its signal but still readable </a:t>
            </a:r>
            <a:r>
              <a:rPr lang="en-NZ" dirty="0" err="1"/>
              <a:t>tho</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ESP. It is not only bright enough to be seen in the day but only uses 4 wires (</a:t>
            </a:r>
            <a:r>
              <a:rPr lang="en-NZ" dirty="0" err="1"/>
              <a:t>gnd</a:t>
            </a:r>
            <a:r>
              <a:rPr lang="en-NZ" dirty="0"/>
              <a:t>, 3v3, </a:t>
            </a:r>
            <a:r>
              <a:rPr lang="en-NZ" dirty="0" err="1"/>
              <a:t>sda</a:t>
            </a:r>
            <a:r>
              <a:rPr lang="en-NZ" dirty="0"/>
              <a:t> and </a:t>
            </a:r>
            <a:r>
              <a:rPr lang="en-NZ" dirty="0" err="1"/>
              <a:t>scl</a:t>
            </a:r>
            <a:r>
              <a:rPr lang="en-NZ" dirty="0"/>
              <a:t>) (</a:t>
            </a:r>
            <a:r>
              <a:rPr lang="en-NZ" dirty="0" err="1"/>
              <a:t>scl:serial</a:t>
            </a:r>
            <a:r>
              <a:rPr lang="en-NZ" dirty="0"/>
              <a:t> clock  </a:t>
            </a:r>
            <a:r>
              <a:rPr lang="en-NZ" dirty="0" err="1"/>
              <a:t>sda</a:t>
            </a:r>
            <a:r>
              <a:rPr lang="en-NZ" dirty="0"/>
              <a:t>: serial data) </a:t>
            </a:r>
            <a:r>
              <a:rPr lang="en-NZ" dirty="0" err="1"/>
              <a:t>wich</a:t>
            </a:r>
            <a:r>
              <a:rPr lang="en-NZ" dirty="0"/>
              <a:t> is also very easy to programme and </a:t>
            </a:r>
            <a:r>
              <a:rPr lang="en-NZ" dirty="0" err="1"/>
              <a:t>controll</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a:bodyPr>
          <a:lstStyle/>
          <a:p>
            <a:pPr marL="0" indent="0">
              <a:buNone/>
            </a:pPr>
            <a:r>
              <a:rPr lang="en-NZ" noProof="0" dirty="0"/>
              <a:t>Explanation </a:t>
            </a:r>
            <a:r>
              <a:rPr lang="en-NZ" noProof="0"/>
              <a:t>of component-dashboard</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endParaRPr lang="en-NZ" noProof="0" dirty="0"/>
          </a:p>
        </p:txBody>
      </p:sp>
      <p:pic>
        <p:nvPicPr>
          <p:cNvPr id="7" name="Picture 6" descr="1.3&quot; IIC I2C Serial 128x64 SSH1106 OLED Display Module | SunFounder">
            <a:extLst>
              <a:ext uri="{FF2B5EF4-FFF2-40B4-BE49-F238E27FC236}">
                <a16:creationId xmlns:a16="http://schemas.microsoft.com/office/drawing/2014/main" id="{54271B21-FAE3-3C41-E0F8-769AF4668304}"/>
              </a:ext>
            </a:extLst>
          </p:cNvPr>
          <p:cNvPicPr>
            <a:picLocks noChangeAspect="1"/>
          </p:cNvPicPr>
          <p:nvPr/>
        </p:nvPicPr>
        <p:blipFill>
          <a:blip r:embed="rId2"/>
          <a:stretch>
            <a:fillRect/>
          </a:stretch>
        </p:blipFill>
        <p:spPr>
          <a:xfrm>
            <a:off x="1022555" y="4189702"/>
            <a:ext cx="1566862" cy="1566862"/>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C1A2-86E3-8152-7C99-0C92420636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3F34E6-3337-F604-5FD4-D99ADEC9EAB0}"/>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9A2E10AF-E8DC-77CD-AEF5-92874F19D3A0}"/>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C56FAEE3-7BDA-65B3-E035-11A81E925FF4}"/>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B6A71E36-4483-2584-CCFF-D3DA0E228EAB}"/>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a:t>
            </a:r>
            <a:endParaRPr lang="en-NZ" noProof="0" dirty="0"/>
          </a:p>
        </p:txBody>
      </p:sp>
    </p:spTree>
    <p:extLst>
      <p:ext uri="{BB962C8B-B14F-4D97-AF65-F5344CB8AC3E}">
        <p14:creationId xmlns:p14="http://schemas.microsoft.com/office/powerpoint/2010/main" val="3865693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endParaRPr lang="en-NZ" dirty="0"/>
          </a:p>
          <a:p>
            <a:pPr marL="0" indent="0">
              <a:buFont typeface="Arial" panose="020B0604020202020204" pitchFamily="34" charset="0"/>
              <a:buNone/>
            </a:pPr>
            <a:r>
              <a:rPr lang="en-NZ" noProof="0" dirty="0"/>
              <a:t>One way </a:t>
            </a:r>
            <a:r>
              <a:rPr lang="en-NZ" noProof="0" dirty="0" err="1"/>
              <a:t>bearin</a:t>
            </a:r>
            <a:r>
              <a:rPr lang="en-NZ" dirty="0"/>
              <a:t>g</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pic>
        <p:nvPicPr>
          <p:cNvPr id="6" name="Picture 5" descr="All about one way clutch bearing">
            <a:extLst>
              <a:ext uri="{FF2B5EF4-FFF2-40B4-BE49-F238E27FC236}">
                <a16:creationId xmlns:a16="http://schemas.microsoft.com/office/drawing/2014/main" id="{CC844138-7A79-5941-F455-95476870EB4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45522" y="2139315"/>
            <a:ext cx="1610360" cy="128968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83A67-2E00-1EA8-457D-F513DE0B6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9A035-68F8-AD5E-1E89-4A865D324C5D}"/>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5</a:t>
            </a:r>
          </a:p>
        </p:txBody>
      </p:sp>
      <p:sp>
        <p:nvSpPr>
          <p:cNvPr id="5" name="Content Placeholder 2">
            <a:extLst>
              <a:ext uri="{FF2B5EF4-FFF2-40B4-BE49-F238E27FC236}">
                <a16:creationId xmlns:a16="http://schemas.microsoft.com/office/drawing/2014/main" id="{B523978A-B7BC-935E-9BE6-E62B2EDB8966}"/>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I chose a custom PCB because it gave me a cleaner and more reliable way of connecting all the electronics together. The PCB allowed me to place the Arduino, sensors, protection components and other circuits in one organised layout instead of having lots of separate wires. This was especially important because testing showed that electrical noise from the motor could affect the sensors. A PCB also made the final system more compact and reduced the chance of loose or incorrect connections.</a:t>
            </a:r>
          </a:p>
          <a:p>
            <a:pPr marL="0" indent="0">
              <a:buNone/>
            </a:pPr>
            <a:r>
              <a:rPr lang="en-NZ" dirty="0"/>
              <a:t>I considered </a:t>
            </a:r>
            <a:r>
              <a:rPr lang="en-NZ" dirty="0" err="1"/>
              <a:t>perfboard</a:t>
            </a:r>
            <a:r>
              <a:rPr lang="en-NZ" dirty="0"/>
              <a:t> and stripboard, but both would have required more manual wiring and would have been harder to keep organised. The PCB was also easier to reproduce once the design was finished, making it the better choice for the final outcome.</a:t>
            </a:r>
          </a:p>
          <a:p>
            <a:pPr marL="0" indent="0">
              <a:buFont typeface="Arial" panose="020B0604020202020204" pitchFamily="34" charset="0"/>
              <a:buNone/>
            </a:pPr>
            <a:endParaRPr lang="en-NZ" dirty="0"/>
          </a:p>
          <a:p>
            <a:pPr marL="0" indent="0">
              <a:buFont typeface="Arial" panose="020B0604020202020204" pitchFamily="34" charse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B3DE4D9-5530-E1FF-5B6A-22A904C20B66}"/>
              </a:ext>
            </a:extLst>
          </p:cNvPr>
          <p:cNvSpPr>
            <a:spLocks noGrp="1"/>
          </p:cNvSpPr>
          <p:nvPr>
            <p:ph idx="1"/>
          </p:nvPr>
        </p:nvSpPr>
        <p:spPr>
          <a:xfrm>
            <a:off x="838200" y="897055"/>
            <a:ext cx="3723968" cy="1325563"/>
          </a:xfrm>
        </p:spPr>
        <p:txBody>
          <a:bodyPr>
            <a:normAutofit/>
          </a:bodyPr>
          <a:lstStyle/>
          <a:p>
            <a:pPr marL="0" indent="0">
              <a:buNone/>
            </a:pPr>
            <a:r>
              <a:rPr lang="en-NZ" noProof="0" dirty="0"/>
              <a:t>Chosen</a:t>
            </a:r>
          </a:p>
          <a:p>
            <a:pPr marL="0" indent="0">
              <a:buNone/>
            </a:pPr>
            <a:r>
              <a:rPr lang="en-NZ" dirty="0"/>
              <a:t>PCB</a:t>
            </a:r>
          </a:p>
          <a:p>
            <a:pPr marL="0" indent="0">
              <a:buNone/>
            </a:pPr>
            <a:endParaRPr lang="en-NZ" noProof="0" dirty="0"/>
          </a:p>
        </p:txBody>
      </p:sp>
      <p:sp>
        <p:nvSpPr>
          <p:cNvPr id="9" name="Content Placeholder 7">
            <a:extLst>
              <a:ext uri="{FF2B5EF4-FFF2-40B4-BE49-F238E27FC236}">
                <a16:creationId xmlns:a16="http://schemas.microsoft.com/office/drawing/2014/main" id="{E51F2086-2235-B6D5-51C8-25534EEBC9AF}"/>
              </a:ext>
            </a:extLst>
          </p:cNvPr>
          <p:cNvSpPr txBox="1">
            <a:spLocks/>
          </p:cNvSpPr>
          <p:nvPr/>
        </p:nvSpPr>
        <p:spPr>
          <a:xfrm>
            <a:off x="4234015" y="89705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err="1"/>
              <a:t>Perfboard</a:t>
            </a:r>
            <a:endParaRPr lang="en-NZ" noProof="0" dirty="0"/>
          </a:p>
          <a:p>
            <a:pPr marL="0" indent="0">
              <a:buNone/>
            </a:pPr>
            <a:endParaRPr lang="en-NZ" noProof="0" dirty="0"/>
          </a:p>
        </p:txBody>
      </p:sp>
      <p:sp>
        <p:nvSpPr>
          <p:cNvPr id="10" name="Content Placeholder 7">
            <a:extLst>
              <a:ext uri="{FF2B5EF4-FFF2-40B4-BE49-F238E27FC236}">
                <a16:creationId xmlns:a16="http://schemas.microsoft.com/office/drawing/2014/main" id="{7C70C659-C51C-F5B1-D288-2BAD7C7909A7}"/>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Strip boards</a:t>
            </a:r>
          </a:p>
          <a:p>
            <a:pPr marL="0" indent="0">
              <a:buFont typeface="Arial" panose="020B0604020202020204" pitchFamily="34" charset="0"/>
              <a:buNone/>
            </a:pPr>
            <a:endParaRPr lang="en-NZ" dirty="0"/>
          </a:p>
        </p:txBody>
      </p:sp>
      <p:pic>
        <p:nvPicPr>
          <p:cNvPr id="3" name="Picture 2" descr="Printed Circuit Board Guide: PCB Design and Assembly">
            <a:extLst>
              <a:ext uri="{FF2B5EF4-FFF2-40B4-BE49-F238E27FC236}">
                <a16:creationId xmlns:a16="http://schemas.microsoft.com/office/drawing/2014/main" id="{09C788C8-08CE-7E8C-249A-1FB162E82599}"/>
              </a:ext>
            </a:extLst>
          </p:cNvPr>
          <p:cNvPicPr>
            <a:picLocks noChangeAspect="1"/>
          </p:cNvPicPr>
          <p:nvPr/>
        </p:nvPicPr>
        <p:blipFill>
          <a:blip r:embed="rId2"/>
          <a:stretch>
            <a:fillRect/>
          </a:stretch>
        </p:blipFill>
        <p:spPr>
          <a:xfrm flipH="1">
            <a:off x="826872" y="1767251"/>
            <a:ext cx="2953770" cy="1744570"/>
          </a:xfrm>
          <a:prstGeom prst="rect">
            <a:avLst/>
          </a:prstGeom>
        </p:spPr>
      </p:pic>
      <p:pic>
        <p:nvPicPr>
          <p:cNvPr id="4" name="Picture 3" descr="What to use to connect points on perf board - General Electronics - Arduino Forum">
            <a:extLst>
              <a:ext uri="{FF2B5EF4-FFF2-40B4-BE49-F238E27FC236}">
                <a16:creationId xmlns:a16="http://schemas.microsoft.com/office/drawing/2014/main" id="{99893500-DD20-39B2-536D-2FD7410BE449}"/>
              </a:ext>
            </a:extLst>
          </p:cNvPr>
          <p:cNvPicPr>
            <a:picLocks noChangeAspect="1"/>
          </p:cNvPicPr>
          <p:nvPr/>
        </p:nvPicPr>
        <p:blipFill>
          <a:blip r:embed="rId3"/>
          <a:stretch>
            <a:fillRect/>
          </a:stretch>
        </p:blipFill>
        <p:spPr>
          <a:xfrm>
            <a:off x="4234015" y="1881319"/>
            <a:ext cx="1538343" cy="1630502"/>
          </a:xfrm>
          <a:prstGeom prst="rect">
            <a:avLst/>
          </a:prstGeom>
        </p:spPr>
      </p:pic>
      <p:pic>
        <p:nvPicPr>
          <p:cNvPr id="6" name="Picture 5" descr="ST1 | StripBoard-Size 1 | BusBoard Prototype Systems">
            <a:extLst>
              <a:ext uri="{FF2B5EF4-FFF2-40B4-BE49-F238E27FC236}">
                <a16:creationId xmlns:a16="http://schemas.microsoft.com/office/drawing/2014/main" id="{EB8C6687-7BBF-50E5-3FA9-14C5318BA7AD}"/>
              </a:ext>
            </a:extLst>
          </p:cNvPr>
          <p:cNvPicPr>
            <a:picLocks noChangeAspect="1"/>
          </p:cNvPicPr>
          <p:nvPr/>
        </p:nvPicPr>
        <p:blipFill>
          <a:blip r:embed="rId4"/>
          <a:stretch>
            <a:fillRect/>
          </a:stretch>
        </p:blipFill>
        <p:spPr>
          <a:xfrm>
            <a:off x="7629834" y="1738457"/>
            <a:ext cx="2776780" cy="1773364"/>
          </a:xfrm>
          <a:prstGeom prst="rect">
            <a:avLst/>
          </a:prstGeom>
        </p:spPr>
      </p:pic>
    </p:spTree>
    <p:extLst>
      <p:ext uri="{BB962C8B-B14F-4D97-AF65-F5344CB8AC3E}">
        <p14:creationId xmlns:p14="http://schemas.microsoft.com/office/powerpoint/2010/main" val="2079566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597B5-145C-2697-3D8A-D74B56660D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45853-5C56-B87F-D4FA-9C999414C570}"/>
              </a:ext>
            </a:extLst>
          </p:cNvPr>
          <p:cNvSpPr>
            <a:spLocks noGrp="1"/>
          </p:cNvSpPr>
          <p:nvPr>
            <p:ph type="title"/>
          </p:nvPr>
        </p:nvSpPr>
        <p:spPr>
          <a:solidFill>
            <a:srgbClr val="FF5050"/>
          </a:solidFill>
        </p:spPr>
        <p:txBody>
          <a:bodyPr/>
          <a:lstStyle/>
          <a:p>
            <a:r>
              <a:rPr lang="en-NZ" noProof="0" dirty="0"/>
              <a:t>Component/System 5</a:t>
            </a:r>
          </a:p>
        </p:txBody>
      </p:sp>
      <p:sp>
        <p:nvSpPr>
          <p:cNvPr id="3" name="Content Placeholder 2">
            <a:extLst>
              <a:ext uri="{FF2B5EF4-FFF2-40B4-BE49-F238E27FC236}">
                <a16:creationId xmlns:a16="http://schemas.microsoft.com/office/drawing/2014/main" id="{197AE07E-065C-3CFB-293E-C32D2EB437C2}"/>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component-PCB</a:t>
            </a:r>
            <a:br>
              <a:rPr lang="en-NZ" noProof="0" dirty="0"/>
            </a:br>
            <a:r>
              <a:rPr lang="en-NZ" dirty="0"/>
              <a:t>I designed a custom PCB to connect the Arduino UNO R4 to the different sensors and circuits used on the bike. It includes connections for the throttle and clutch Hall sensors, RPM sensors, battery voltage sensing, LEDs and the protection circuits. Having these connections on one board made the wiring cleaner and reduced the number of separate wires and connections. I also included filtering capacitors and protection components on the PCB based on problems found during testing. This made the final electronics more compact, organised and reliable.</a:t>
            </a:r>
            <a:endParaRPr lang="en-NZ" noProof="0" dirty="0"/>
          </a:p>
        </p:txBody>
      </p:sp>
      <p:sp>
        <p:nvSpPr>
          <p:cNvPr id="4" name="Content Placeholder 2">
            <a:extLst>
              <a:ext uri="{FF2B5EF4-FFF2-40B4-BE49-F238E27FC236}">
                <a16:creationId xmlns:a16="http://schemas.microsoft.com/office/drawing/2014/main" id="{378C335B-A3FD-5F3F-8341-1DDA22CF4DD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084080B5-A1C8-EBE8-4314-1751BA191CE3}"/>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 make sure to include protection to the circuit due to some components accidently being set to the wrong voltage can damage the delicate electronics in the system that when it gets damaged can cost a pretty penny to replace</a:t>
            </a:r>
            <a:endParaRPr lang="en-NZ" noProof="0" dirty="0"/>
          </a:p>
        </p:txBody>
      </p:sp>
      <p:pic>
        <p:nvPicPr>
          <p:cNvPr id="7" name="Picture 6" descr="Printed Circuit Board Guide: PCB Design and Assembly">
            <a:extLst>
              <a:ext uri="{FF2B5EF4-FFF2-40B4-BE49-F238E27FC236}">
                <a16:creationId xmlns:a16="http://schemas.microsoft.com/office/drawing/2014/main" id="{99F72A96-FD0E-7E52-9C54-481EE12D626D}"/>
              </a:ext>
            </a:extLst>
          </p:cNvPr>
          <p:cNvPicPr>
            <a:picLocks noChangeAspect="1"/>
          </p:cNvPicPr>
          <p:nvPr/>
        </p:nvPicPr>
        <p:blipFill>
          <a:blip r:embed="rId2"/>
          <a:stretch>
            <a:fillRect/>
          </a:stretch>
        </p:blipFill>
        <p:spPr>
          <a:xfrm flipH="1">
            <a:off x="1022555" y="4108115"/>
            <a:ext cx="2953770" cy="1744570"/>
          </a:xfrm>
          <a:prstGeom prst="rect">
            <a:avLst/>
          </a:prstGeom>
        </p:spPr>
      </p:pic>
    </p:spTree>
    <p:extLst>
      <p:ext uri="{BB962C8B-B14F-4D97-AF65-F5344CB8AC3E}">
        <p14:creationId xmlns:p14="http://schemas.microsoft.com/office/powerpoint/2010/main" val="437415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F7C43-BEB1-DE09-75AB-8491CCE1F0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F5FCB6-3AF3-A524-1C92-AA376CC4B53E}"/>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1C4A870D-2101-03C8-92BE-F567A431321E}"/>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 The testing showed that the PCB needed both filtering and protection to be reliable when used with the rest of the bike. The 0.1 µF capacitors were added to reduce electrical noise, while the PPTC fuses gave the PCB protection from excessive current if a fault occurred. The Schottky diode was added to the clutch circuit to stop the voltage released by the electromagnet from travelling back through the PCB. These changes were made from the problems found during testing and improved the reliability of the final PCB by making the circuits more protected and less affected by the electrical noise from the motor.</a:t>
            </a:r>
            <a:br>
              <a:rPr lang="en-NZ" dirty="0"/>
            </a:b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820EC9EB-78CE-FEBB-40CA-2509115645AA}"/>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CE739EF5-A763-8085-C4C6-D410E1DD4423}"/>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 I tested the PCB multiple times with the different circuits connected to make sure the board was reliable. I checked the sensor connections, battery voltage sensing, Arduino power connections and the protection circuits. During testing, I found that the high current from the motor could cause electrical noise and interference with the sensor signals, so 0.1 µF capacitors were added to the PCB to help filter the signals. I also included PPTC fuses on the PCB to protect the lower-current circuits if a fault or short circuit occurred. The electromagnetic clutch circuit was also protected with a Schottky diode and PPTC because testing showed that the electromagnet could release a high voltage back into the circuit when switched off. The PCB was then tested again with these changes to check that the sensors and protection circuits were working correctly and that the board could operate without damaging the Arduino or other components.</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4220653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a:p>
            <a:pPr marL="0" indent="0">
              <a:buNone/>
            </a:pPr>
            <a:endParaRPr lang="en-NZ" dirty="0"/>
          </a:p>
        </p:txBody>
      </p:sp>
      <p:pic>
        <p:nvPicPr>
          <p:cNvPr id="4" name="d758f0eb08ad4a95884cff34f5b6a0c5">
            <a:hlinkClick r:id="" action="ppaction://media"/>
            <a:extLst>
              <a:ext uri="{FF2B5EF4-FFF2-40B4-BE49-F238E27FC236}">
                <a16:creationId xmlns:a16="http://schemas.microsoft.com/office/drawing/2014/main" id="{7AA7CD7D-B0A5-A648-B1B1-1F9D4A0E490D}"/>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413083" y="2626606"/>
            <a:ext cx="1997075" cy="3550356"/>
          </a:xfrm>
          <a:prstGeom prst="rect">
            <a:avLst/>
          </a:prstGeom>
        </p:spPr>
      </p:pic>
      <p:pic>
        <p:nvPicPr>
          <p:cNvPr id="5" name="IMG_3155">
            <a:hlinkClick r:id="" action="ppaction://media"/>
            <a:extLst>
              <a:ext uri="{FF2B5EF4-FFF2-40B4-BE49-F238E27FC236}">
                <a16:creationId xmlns:a16="http://schemas.microsoft.com/office/drawing/2014/main" id="{8A0808FB-4F50-2BA4-EE4C-7E570D976E84}"/>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4513196" y="2626606"/>
            <a:ext cx="6265721" cy="3550356"/>
          </a:xfrm>
          <a:prstGeom prst="rect">
            <a:avLst/>
          </a:prstGeom>
        </p:spPr>
      </p:pic>
    </p:spTree>
    <p:extLst>
      <p:ext uri="{BB962C8B-B14F-4D97-AF65-F5344CB8AC3E}">
        <p14:creationId xmlns:p14="http://schemas.microsoft.com/office/powerpoint/2010/main" val="2958982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329"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67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5"/>
                </p:tgtEl>
              </p:cMediaNode>
            </p:video>
            <p:seq concurrent="1" nextAc="seek">
              <p:cTn id="18" restart="whenNotActive" fill="hold" evtFilter="cancelBubble" nodeType="interactiveSeq">
                <p:stCondLst>
                  <p:cond evt="onClick" delay="0">
                    <p:tgtEl>
                      <p:spTgt spid="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normAutofit fontScale="70000" lnSpcReduction="20000"/>
          </a:bodyPr>
          <a:lstStyle/>
          <a:p>
            <a:pPr marL="0" indent="0">
              <a:buNone/>
            </a:pPr>
            <a:r>
              <a:rPr lang="en-NZ" noProof="0" dirty="0"/>
              <a:t>Feedback on reliability and functionality of the system:</a:t>
            </a:r>
          </a:p>
          <a:p>
            <a:pPr marL="0" indent="0">
              <a:buNone/>
            </a:pPr>
            <a:r>
              <a:rPr lang="en-NZ" dirty="0"/>
              <a:t>Some hybrid vehicles have a display that shows when the hybrid system is engaged. Adding a hybrid indicator light to the </a:t>
            </a:r>
            <a:r>
              <a:rPr lang="en-NZ" dirty="0" err="1"/>
              <a:t>pitbike</a:t>
            </a:r>
            <a:r>
              <a:rPr lang="en-NZ" dirty="0"/>
              <a:t> will let the rider know when the electric motor is assisting the petrol engine. This provides feedback that the hybrid system is working correctly and makes it easier to monitor the operation of the bike while riding.</a:t>
            </a:r>
            <a:endParaRPr lang="en-NZ" noProof="0" dirty="0"/>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a:p>
            <a:pPr marL="0" indent="0">
              <a:buNone/>
            </a:pPr>
            <a:r>
              <a:rPr lang="en-NZ" dirty="0"/>
              <a:t>An LED indicator/symbol will be added to the OLED display to show when the hybrid system is engaged. This gives the rider clear visual feedback that the electric motor is assisting the petrol engine and makes it easier to monitor the operation of the hybrid system while riding.</a:t>
            </a:r>
            <a:endParaRPr lang="en-NZ" noProof="0" dirty="0"/>
          </a:p>
        </p:txBody>
      </p:sp>
    </p:spTree>
    <p:extLst>
      <p:ext uri="{BB962C8B-B14F-4D97-AF65-F5344CB8AC3E}">
        <p14:creationId xmlns:p14="http://schemas.microsoft.com/office/powerpoint/2010/main" val="35483784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653134930"/>
              </p:ext>
            </p:extLst>
          </p:nvPr>
        </p:nvGraphicFramePr>
        <p:xfrm>
          <a:off x="392784" y="1951294"/>
          <a:ext cx="11406432" cy="4618924"/>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r>
                        <a:rPr lang="en-NZ" sz="1200" dirty="0"/>
                        <a:t>Electromagnetic clutch</a:t>
                      </a:r>
                      <a:endParaRPr lang="en-NZ" sz="1200" noProof="0" dirty="0"/>
                    </a:p>
                  </a:txBody>
                  <a:tcPr>
                    <a:solidFill>
                      <a:srgbClr val="FFCCCC"/>
                    </a:solidFill>
                  </a:tcPr>
                </a:tc>
                <a:tc>
                  <a:txBody>
                    <a:bodyPr/>
                    <a:lstStyle/>
                    <a:p>
                      <a:r>
                        <a:rPr lang="en-NZ" sz="1200" dirty="0"/>
                        <a:t>Repeatedly engaged and disengaged the clutch using the Arduino and MOSFET.</a:t>
                      </a:r>
                      <a:endParaRPr lang="en-NZ" sz="1200" noProof="0" dirty="0"/>
                    </a:p>
                  </a:txBody>
                  <a:tcPr>
                    <a:solidFill>
                      <a:srgbClr val="FFCCCC"/>
                    </a:solidFill>
                  </a:tcPr>
                </a:tc>
                <a:tc>
                  <a:txBody>
                    <a:bodyPr/>
                    <a:lstStyle/>
                    <a:p>
                      <a:r>
                        <a:rPr lang="en-NZ" sz="1200" dirty="0"/>
                        <a:t>Clutch engaged reliably but mechanical alignment needed improvement. Designed a custom sleeve to keep the clutch centred.</a:t>
                      </a:r>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GB" sz="1200" noProof="0" dirty="0"/>
                        <a:t>  main PCB inside the dashboard</a:t>
                      </a:r>
                      <a:endParaRPr lang="en-NZ" sz="1200" noProof="0" dirty="0"/>
                    </a:p>
                  </a:txBody>
                  <a:tcPr>
                    <a:solidFill>
                      <a:srgbClr val="FFCCCC"/>
                    </a:solidFill>
                  </a:tcPr>
                </a:tc>
                <a:tc>
                  <a:txBody>
                    <a:bodyPr/>
                    <a:lstStyle/>
                    <a:p>
                      <a:r>
                        <a:rPr lang="en-GB" sz="1200" noProof="0" dirty="0"/>
                        <a:t>Plugged the PCB wit the Arduino inserted to the header pins. The Arduino fried due to unknown causes for the vin wasn’t plugged in and neither the voltage sensing, believed being the sensor wire for the throttle but in any case, it still broke.</a:t>
                      </a:r>
                      <a:endParaRPr lang="en-NZ" sz="1200" noProof="0" dirty="0"/>
                    </a:p>
                  </a:txBody>
                  <a:tcPr>
                    <a:solidFill>
                      <a:srgbClr val="FFCCCC"/>
                    </a:solidFill>
                  </a:tcPr>
                </a:tc>
                <a:tc>
                  <a:txBody>
                    <a:bodyPr/>
                    <a:lstStyle/>
                    <a:p>
                      <a:r>
                        <a:rPr lang="en-GB" sz="1200" noProof="0" dirty="0"/>
                        <a:t>Adding PPTC fuses to the vin, voltage sensing, buck converters, electromagnet. A automotive fuse to the motor and a main automotive fuse for all the </a:t>
                      </a:r>
                      <a:r>
                        <a:rPr lang="en-GB" sz="1200" noProof="0" dirty="0" err="1"/>
                        <a:t>pcb</a:t>
                      </a:r>
                      <a:r>
                        <a:rPr lang="en-GB" sz="1200" noProof="0" dirty="0"/>
                        <a:t> and buck converters (max 5Amps). Also adding diodes to the battery electromagnet vin, voltage sensing, and Mosfet to protect every component from back voltage and incorrect wiring</a:t>
                      </a:r>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GB" sz="1200" noProof="0" dirty="0"/>
                        <a:t>Throttle input/output</a:t>
                      </a:r>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534428221"/>
              </p:ext>
            </p:extLst>
          </p:nvPr>
        </p:nvGraphicFramePr>
        <p:xfrm>
          <a:off x="392784" y="1475806"/>
          <a:ext cx="11406432" cy="5361573"/>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r>
                        <a:rPr lang="en-NZ" sz="1200" dirty="0"/>
                        <a:t>Electrical interference from the 800 W motor could cause false Hall sensor readings.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The Hall effect sensors were tested while the motor was running under load. A 0.1 </a:t>
                      </a:r>
                      <a:r>
                        <a:rPr lang="en-NZ" sz="1200" dirty="0" err="1"/>
                        <a:t>uF</a:t>
                      </a:r>
                      <a:r>
                        <a:rPr lang="en-NZ" sz="1200" dirty="0"/>
                        <a:t> ceramic capacitor was added across the signal and ground lines to reduce electrical noise before repeating the test.</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Before the capacitor was fitted, false RPM readings occasionally occurred. After retesting, the sensor produced stable and reliable readings with no false triggers.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noProof="0" dirty="0">
                          <a:solidFill>
                            <a:schemeClr val="tx1"/>
                          </a:solidFill>
                        </a:rPr>
                        <a:t>The electromagnet releases a huge amount of voltage back into the system when it get turn off </a:t>
                      </a:r>
                      <a:endParaRPr lang="en-NZ" sz="120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noProof="0" dirty="0">
                          <a:solidFill>
                            <a:schemeClr val="tx1"/>
                          </a:solidFill>
                        </a:rPr>
                        <a:t>3 diodes and a fuse were added to the system , a Schottky, Zener and TVS diode and a PPTC fuse(</a:t>
                      </a:r>
                      <a:r>
                        <a:rPr lang="en-NZ" sz="1200" b="0" u="none" strike="noStrike" kern="1200" dirty="0">
                          <a:solidFill>
                            <a:schemeClr val="dk1"/>
                          </a:solidFill>
                          <a:effectLst/>
                          <a:latin typeface="+mn-lt"/>
                          <a:ea typeface="+mn-ea"/>
                          <a:cs typeface="+mn-cs"/>
                        </a:rPr>
                        <a:t>Polymeric Positive Temperature Coefficient fuse) these are to protect the circuits from over voltage and back </a:t>
                      </a:r>
                      <a:r>
                        <a:rPr lang="en-NZ" sz="1200" b="0" u="none" strike="noStrike" kern="1200" dirty="0" err="1">
                          <a:solidFill>
                            <a:schemeClr val="dk1"/>
                          </a:solidFill>
                          <a:effectLst/>
                          <a:latin typeface="+mn-lt"/>
                          <a:ea typeface="+mn-ea"/>
                          <a:cs typeface="+mn-cs"/>
                        </a:rPr>
                        <a:t>Volting</a:t>
                      </a:r>
                      <a:r>
                        <a:rPr lang="en-NZ" sz="1200" b="0" u="none" strike="noStrike" kern="1200" dirty="0">
                          <a:solidFill>
                            <a:schemeClr val="dk1"/>
                          </a:solidFill>
                          <a:effectLst/>
                          <a:latin typeface="+mn-lt"/>
                          <a:ea typeface="+mn-ea"/>
                          <a:cs typeface="+mn-cs"/>
                        </a:rPr>
                        <a:t> the system preventing the system from going up in smoke, they were tested by turning the magnet on and off and applying  a </a:t>
                      </a:r>
                      <a:r>
                        <a:rPr lang="en-NZ" sz="1200" b="0" u="none" strike="noStrike" kern="1200" dirty="0" err="1">
                          <a:solidFill>
                            <a:schemeClr val="dk1"/>
                          </a:solidFill>
                          <a:effectLst/>
                          <a:latin typeface="+mn-lt"/>
                          <a:ea typeface="+mn-ea"/>
                          <a:cs typeface="+mn-cs"/>
                        </a:rPr>
                        <a:t>multimeter</a:t>
                      </a:r>
                      <a:r>
                        <a:rPr lang="en-NZ" sz="1200" b="0" u="none" strike="noStrike" kern="1200" dirty="0">
                          <a:solidFill>
                            <a:schemeClr val="dk1"/>
                          </a:solidFill>
                          <a:effectLst/>
                          <a:latin typeface="+mn-lt"/>
                          <a:ea typeface="+mn-ea"/>
                          <a:cs typeface="+mn-cs"/>
                        </a:rPr>
                        <a:t> to the circuits end points and seeing if there is a over voltage that that part gets shut down (the part that is being measured)</a:t>
                      </a:r>
                      <a:endParaRPr lang="en-NZ" sz="1200" b="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GB" sz="1200" noProof="0" dirty="0">
                          <a:solidFill>
                            <a:schemeClr val="tx1"/>
                          </a:solidFill>
                        </a:rPr>
                        <a:t>Make sure the right rated diodes and PPTC fuses are used for the right circuits </a:t>
                      </a:r>
                    </a:p>
                    <a:p>
                      <a:r>
                        <a:rPr lang="en-GB" sz="1200" noProof="0" dirty="0">
                          <a:solidFill>
                            <a:schemeClr val="tx1"/>
                          </a:solidFill>
                        </a:rPr>
                        <a:t>Don’t use a PPTC fuse on the motor use a automotive fuse so that it will completely shut the motor off if it pulling to many amps </a:t>
                      </a:r>
                    </a:p>
                    <a:p>
                      <a:r>
                        <a:rPr lang="en-GB" sz="1200" noProof="0" dirty="0">
                          <a:solidFill>
                            <a:schemeClr val="tx1"/>
                          </a:solidFill>
                        </a:rPr>
                        <a:t>Test all the endpoints before attaching delicate and expensive components</a:t>
                      </a:r>
                      <a:endParaRPr lang="en-NZ" sz="120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b="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1880</TotalTime>
  <Words>3301</Words>
  <Application>Microsoft Office PowerPoint</Application>
  <PresentationFormat>Widescreen</PresentationFormat>
  <Paragraphs>199</Paragraphs>
  <Slides>31</Slides>
  <Notes>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2:physical controls </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Choice of Component/System 5</vt:lpstr>
      <vt:lpstr>Component/System 5</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2026-10-10T23:02:13Z</dcterms:modified>
</cp:coreProperties>
</file>