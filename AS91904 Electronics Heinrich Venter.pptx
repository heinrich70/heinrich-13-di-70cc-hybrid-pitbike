
<file path=[Content_Types].xml><?xml version="1.0" encoding="utf-8"?>
<Types xmlns="http://schemas.openxmlformats.org/package/2006/content-types">
  <Default Extension="jpeg" ContentType="image/jpeg"/>
  <Default Extension="MOV" ContentType="video/quicktime"/>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1_FFE3B6F5.xml" ContentType="application/vnd.ms-powerpoint.comments+xml"/>
  <Override PartName="/ppt/comments/modernComment_102_8F82B503.xml" ContentType="application/vnd.ms-powerpoint.comments+xml"/>
  <Override PartName="/ppt/comments/modernComment_10D_B08B0791.xml" ContentType="application/vnd.ms-powerpoint.comments+xml"/>
  <Override PartName="/ppt/comments/modernComment_11D_F491498A.xml" ContentType="application/vnd.ms-powerpoint.comments+xml"/>
  <Override PartName="/ppt/comments/modernComment_117_E97C5DDB.xml" ContentType="application/vnd.ms-powerpoint.comments+xml"/>
  <Override PartName="/ppt/comments/modernComment_120_B005E26D.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7" r:id="rId6"/>
    <p:sldId id="269" r:id="rId7"/>
    <p:sldId id="297" r:id="rId8"/>
    <p:sldId id="285" r:id="rId9"/>
    <p:sldId id="268" r:id="rId10"/>
    <p:sldId id="261" r:id="rId11"/>
    <p:sldId id="287" r:id="rId12"/>
    <p:sldId id="279" r:id="rId13"/>
    <p:sldId id="303" r:id="rId14"/>
    <p:sldId id="304" r:id="rId15"/>
    <p:sldId id="289" r:id="rId16"/>
    <p:sldId id="280" r:id="rId17"/>
    <p:sldId id="288" r:id="rId18"/>
    <p:sldId id="292" r:id="rId19"/>
    <p:sldId id="302" r:id="rId20"/>
    <p:sldId id="294" r:id="rId21"/>
    <p:sldId id="295" r:id="rId22"/>
    <p:sldId id="296" r:id="rId23"/>
    <p:sldId id="298" r:id="rId24"/>
    <p:sldId id="299" r:id="rId25"/>
    <p:sldId id="300" r:id="rId26"/>
    <p:sldId id="282" r:id="rId27"/>
    <p:sldId id="277" r:id="rId28"/>
    <p:sldId id="265" r:id="rId29"/>
    <p:sldId id="266" r:id="rId30"/>
    <p:sldId id="278" r:id="rId31"/>
    <p:sldId id="28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3C077F8-8573-EEE0-B7B7-42F83088B50D}" name="Heinrich Venter" initials="HV" userId="694de3c83518532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FFCCCC"/>
    <a:srgbClr val="FF5050"/>
    <a:srgbClr val="FFFF99"/>
    <a:srgbClr val="CBC3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B3EF88-C134-4ECF-A8E1-33D5E10640B0}" v="83" dt="2026-10-21T11:43:09.7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64" autoAdjust="0"/>
    <p:restoredTop sz="94660"/>
  </p:normalViewPr>
  <p:slideViewPr>
    <p:cSldViewPr snapToGrid="0">
      <p:cViewPr>
        <p:scale>
          <a:sx n="104" d="100"/>
          <a:sy n="104" d="100"/>
        </p:scale>
        <p:origin x="104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8/10/relationships/authors" Target="authors.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inrich Venter" userId="694de3c83518532c" providerId="LiveId" clId="{10CD68D7-CBE1-4750-A2D1-7DEE064E9363}"/>
    <pc:docChg chg="undo custSel addSld delSld modSld sldOrd">
      <pc:chgData name="Heinrich Venter" userId="694de3c83518532c" providerId="LiveId" clId="{10CD68D7-CBE1-4750-A2D1-7DEE064E9363}" dt="2026-10-21T11:43:47.978" v="11972" actId="20577"/>
      <pc:docMkLst>
        <pc:docMk/>
      </pc:docMkLst>
      <pc:sldChg chg="modSp mod">
        <pc:chgData name="Heinrich Venter" userId="694de3c83518532c" providerId="LiveId" clId="{10CD68D7-CBE1-4750-A2D1-7DEE064E9363}" dt="2026-10-21T10:38:19.606" v="11474" actId="20577"/>
        <pc:sldMkLst>
          <pc:docMk/>
          <pc:sldMk cId="730004332" sldId="256"/>
        </pc:sldMkLst>
        <pc:spChg chg="mod">
          <ac:chgData name="Heinrich Venter" userId="694de3c83518532c" providerId="LiveId" clId="{10CD68D7-CBE1-4750-A2D1-7DEE064E9363}" dt="2026-10-21T10:38:19.606" v="11474" actId="20577"/>
          <ac:spMkLst>
            <pc:docMk/>
            <pc:sldMk cId="730004332" sldId="256"/>
            <ac:spMk id="3" creationId="{F66D802B-CDB6-E9D2-44F0-86BC0E80FB38}"/>
          </ac:spMkLst>
        </pc:spChg>
      </pc:sldChg>
      <pc:sldChg chg="modSp mod">
        <pc:chgData name="Heinrich Venter" userId="694de3c83518532c" providerId="LiveId" clId="{10CD68D7-CBE1-4750-A2D1-7DEE064E9363}" dt="2026-10-10T22:13:37.923" v="10666" actId="20577"/>
        <pc:sldMkLst>
          <pc:docMk/>
          <pc:sldMk cId="4293113589" sldId="257"/>
        </pc:sldMkLst>
        <pc:spChg chg="mod">
          <ac:chgData name="Heinrich Venter" userId="694de3c83518532c" providerId="LiveId" clId="{10CD68D7-CBE1-4750-A2D1-7DEE064E9363}" dt="2026-10-10T22:13:37.923" v="10666" actId="20577"/>
          <ac:spMkLst>
            <pc:docMk/>
            <pc:sldMk cId="4293113589" sldId="257"/>
            <ac:spMk id="3" creationId="{EB73A0B0-8C2E-99B2-DFB1-974EF0CDEB52}"/>
          </ac:spMkLst>
        </pc:spChg>
      </pc:sldChg>
      <pc:sldChg chg="modSp mod">
        <pc:chgData name="Heinrich Venter" userId="694de3c83518532c" providerId="LiveId" clId="{10CD68D7-CBE1-4750-A2D1-7DEE064E9363}" dt="2026-10-10T21:13:59.022" v="10373" actId="20577"/>
        <pc:sldMkLst>
          <pc:docMk/>
          <pc:sldMk cId="2407707907" sldId="258"/>
        </pc:sldMkLst>
        <pc:spChg chg="mod">
          <ac:chgData name="Heinrich Venter" userId="694de3c83518532c" providerId="LiveId" clId="{10CD68D7-CBE1-4750-A2D1-7DEE064E9363}" dt="2026-10-10T21:13:59.022" v="10373" actId="20577"/>
          <ac:spMkLst>
            <pc:docMk/>
            <pc:sldMk cId="2407707907" sldId="258"/>
            <ac:spMk id="3" creationId="{48517805-ABAD-9125-D5EB-9C37B582DC52}"/>
          </ac:spMkLst>
        </pc:spChg>
      </pc:sldChg>
      <pc:sldChg chg="modSp mod">
        <pc:chgData name="Heinrich Venter" userId="694de3c83518532c" providerId="LiveId" clId="{10CD68D7-CBE1-4750-A2D1-7DEE064E9363}" dt="2026-10-21T11:35:01.392" v="11964" actId="20577"/>
        <pc:sldMkLst>
          <pc:docMk/>
          <pc:sldMk cId="4279029636" sldId="259"/>
        </pc:sldMkLst>
        <pc:graphicFrameChg chg="mod modGraphic">
          <ac:chgData name="Heinrich Venter" userId="694de3c83518532c" providerId="LiveId" clId="{10CD68D7-CBE1-4750-A2D1-7DEE064E9363}" dt="2026-10-21T11:35:01.392" v="11964" actId="20577"/>
          <ac:graphicFrameMkLst>
            <pc:docMk/>
            <pc:sldMk cId="4279029636" sldId="259"/>
            <ac:graphicFrameMk id="5" creationId="{F519459D-F748-3377-4E55-D51E89AF6AC2}"/>
          </ac:graphicFrameMkLst>
        </pc:graphicFrameChg>
      </pc:sldChg>
      <pc:sldChg chg="addSp delSp modSp mod">
        <pc:chgData name="Heinrich Venter" userId="694de3c83518532c" providerId="LiveId" clId="{10CD68D7-CBE1-4750-A2D1-7DEE064E9363}" dt="2026-10-10T21:56:43.140" v="10380" actId="1076"/>
        <pc:sldMkLst>
          <pc:docMk/>
          <pc:sldMk cId="974559019" sldId="268"/>
        </pc:sldMkLst>
        <pc:picChg chg="add mod">
          <ac:chgData name="Heinrich Venter" userId="694de3c83518532c" providerId="LiveId" clId="{10CD68D7-CBE1-4750-A2D1-7DEE064E9363}" dt="2026-10-10T21:56:43.140" v="10380" actId="1076"/>
          <ac:picMkLst>
            <pc:docMk/>
            <pc:sldMk cId="974559019" sldId="268"/>
            <ac:picMk id="8" creationId="{A92DCFDB-72A7-6C02-0E60-B8B3F2A80071}"/>
          </ac:picMkLst>
        </pc:picChg>
      </pc:sldChg>
      <pc:sldChg chg="addSp delSp modSp mod">
        <pc:chgData name="Heinrich Venter" userId="694de3c83518532c" providerId="LiveId" clId="{10CD68D7-CBE1-4750-A2D1-7DEE064E9363}" dt="2026-10-10T22:26:12.307" v="10692" actId="20577"/>
        <pc:sldMkLst>
          <pc:docMk/>
          <pc:sldMk cId="3917241819" sldId="279"/>
        </pc:sldMkLst>
        <pc:spChg chg="mod">
          <ac:chgData name="Heinrich Venter" userId="694de3c83518532c" providerId="LiveId" clId="{10CD68D7-CBE1-4750-A2D1-7DEE064E9363}" dt="2026-10-10T22:26:12.307" v="10692" actId="20577"/>
          <ac:spMkLst>
            <pc:docMk/>
            <pc:sldMk cId="3917241819" sldId="279"/>
            <ac:spMk id="3" creationId="{109C2FE0-6991-DDAF-C4F7-B3415EC34474}"/>
          </ac:spMkLst>
        </pc:spChg>
        <pc:picChg chg="add mod">
          <ac:chgData name="Heinrich Venter" userId="694de3c83518532c" providerId="LiveId" clId="{10CD68D7-CBE1-4750-A2D1-7DEE064E9363}" dt="2026-10-10T22:21:42.482" v="10688" actId="1076"/>
          <ac:picMkLst>
            <pc:docMk/>
            <pc:sldMk cId="3917241819" sldId="279"/>
            <ac:picMk id="7" creationId="{6A8339F2-099A-A5DA-1381-4B912633BE7E}"/>
          </ac:picMkLst>
        </pc:picChg>
      </pc:sldChg>
      <pc:sldChg chg="modSp mod">
        <pc:chgData name="Heinrich Venter" userId="694de3c83518532c" providerId="LiveId" clId="{10CD68D7-CBE1-4750-A2D1-7DEE064E9363}" dt="2026-10-10T22:42:22.516" v="11218" actId="20577"/>
        <pc:sldMkLst>
          <pc:docMk/>
          <pc:sldMk cId="3469156485" sldId="280"/>
        </pc:sldMkLst>
        <pc:spChg chg="mod">
          <ac:chgData name="Heinrich Venter" userId="694de3c83518532c" providerId="LiveId" clId="{10CD68D7-CBE1-4750-A2D1-7DEE064E9363}" dt="2026-10-10T22:41:33.684" v="11117" actId="20577"/>
          <ac:spMkLst>
            <pc:docMk/>
            <pc:sldMk cId="3469156485" sldId="280"/>
            <ac:spMk id="5" creationId="{50C57F65-7853-E45D-CA58-31BCC9DE7B02}"/>
          </ac:spMkLst>
        </pc:spChg>
        <pc:spChg chg="mod">
          <ac:chgData name="Heinrich Venter" userId="694de3c83518532c" providerId="LiveId" clId="{10CD68D7-CBE1-4750-A2D1-7DEE064E9363}" dt="2026-10-10T22:42:22.516" v="11218" actId="20577"/>
          <ac:spMkLst>
            <pc:docMk/>
            <pc:sldMk cId="3469156485" sldId="280"/>
            <ac:spMk id="11" creationId="{E3D936A8-CA08-48BB-AA98-F3A8B43B31CF}"/>
          </ac:spMkLst>
        </pc:spChg>
      </pc:sldChg>
      <pc:sldChg chg="modSp mod">
        <pc:chgData name="Heinrich Venter" userId="694de3c83518532c" providerId="LiveId" clId="{10CD68D7-CBE1-4750-A2D1-7DEE064E9363}" dt="2026-10-10T22:12:23.809" v="10651" actId="20577"/>
        <pc:sldMkLst>
          <pc:docMk/>
          <pc:sldMk cId="4103162250" sldId="285"/>
        </pc:sldMkLst>
        <pc:spChg chg="mod">
          <ac:chgData name="Heinrich Venter" userId="694de3c83518532c" providerId="LiveId" clId="{10CD68D7-CBE1-4750-A2D1-7DEE064E9363}" dt="2026-10-10T22:12:23.809" v="10651" actId="20577"/>
          <ac:spMkLst>
            <pc:docMk/>
            <pc:sldMk cId="4103162250" sldId="285"/>
            <ac:spMk id="3" creationId="{A52EF0A1-3D21-8BB7-02F3-33253F2DFB43}"/>
          </ac:spMkLst>
        </pc:spChg>
      </pc:sldChg>
      <pc:sldChg chg="modSp mod">
        <pc:chgData name="Heinrich Venter" userId="694de3c83518532c" providerId="LiveId" clId="{10CD68D7-CBE1-4750-A2D1-7DEE064E9363}" dt="2026-10-10T22:08:25.990" v="10645" actId="20577"/>
        <pc:sldMkLst>
          <pc:docMk/>
          <pc:sldMk cId="4188302786" sldId="287"/>
        </pc:sldMkLst>
        <pc:spChg chg="mod">
          <ac:chgData name="Heinrich Venter" userId="694de3c83518532c" providerId="LiveId" clId="{10CD68D7-CBE1-4750-A2D1-7DEE064E9363}" dt="2026-10-10T22:07:44.357" v="10617" actId="20577"/>
          <ac:spMkLst>
            <pc:docMk/>
            <pc:sldMk cId="4188302786" sldId="287"/>
            <ac:spMk id="5" creationId="{208AF426-607B-1936-143C-7541AD8896ED}"/>
          </ac:spMkLst>
        </pc:spChg>
        <pc:spChg chg="mod">
          <ac:chgData name="Heinrich Venter" userId="694de3c83518532c" providerId="LiveId" clId="{10CD68D7-CBE1-4750-A2D1-7DEE064E9363}" dt="2026-10-10T22:08:15.841" v="10627" actId="20577"/>
          <ac:spMkLst>
            <pc:docMk/>
            <pc:sldMk cId="4188302786" sldId="287"/>
            <ac:spMk id="8" creationId="{DFB8CE4C-97AF-7F3E-9CAC-E06101B7E86D}"/>
          </ac:spMkLst>
        </pc:spChg>
        <pc:spChg chg="mod">
          <ac:chgData name="Heinrich Venter" userId="694de3c83518532c" providerId="LiveId" clId="{10CD68D7-CBE1-4750-A2D1-7DEE064E9363}" dt="2026-10-10T22:08:25.990" v="10645" actId="20577"/>
          <ac:spMkLst>
            <pc:docMk/>
            <pc:sldMk cId="4188302786" sldId="287"/>
            <ac:spMk id="9" creationId="{0A4F4AF7-5E5A-2D76-3F73-6A09F3F31537}"/>
          </ac:spMkLst>
        </pc:spChg>
        <pc:picChg chg="mod">
          <ac:chgData name="Heinrich Venter" userId="694de3c83518532c" providerId="LiveId" clId="{10CD68D7-CBE1-4750-A2D1-7DEE064E9363}" dt="2026-10-10T21:58:36.051" v="10384" actId="1076"/>
          <ac:picMkLst>
            <pc:docMk/>
            <pc:sldMk cId="4188302786" sldId="287"/>
            <ac:picMk id="4" creationId="{DB5BC4F3-C531-1D3F-2F74-03D6ADDD369B}"/>
          </ac:picMkLst>
        </pc:picChg>
        <pc:picChg chg="mod">
          <ac:chgData name="Heinrich Venter" userId="694de3c83518532c" providerId="LiveId" clId="{10CD68D7-CBE1-4750-A2D1-7DEE064E9363}" dt="2026-10-10T21:58:31.424" v="10383" actId="1076"/>
          <ac:picMkLst>
            <pc:docMk/>
            <pc:sldMk cId="4188302786" sldId="287"/>
            <ac:picMk id="6" creationId="{0738B815-EC1C-C22B-E05D-CE494F7F36C9}"/>
          </ac:picMkLst>
        </pc:picChg>
      </pc:sldChg>
      <pc:sldChg chg="modSp mod">
        <pc:chgData name="Heinrich Venter" userId="694de3c83518532c" providerId="LiveId" clId="{10CD68D7-CBE1-4750-A2D1-7DEE064E9363}" dt="2026-10-10T23:01:30.688" v="11447" actId="20577"/>
        <pc:sldMkLst>
          <pc:docMk/>
          <pc:sldMk cId="2953175661" sldId="288"/>
        </pc:sldMkLst>
        <pc:spChg chg="mod">
          <ac:chgData name="Heinrich Venter" userId="694de3c83518532c" providerId="LiveId" clId="{10CD68D7-CBE1-4750-A2D1-7DEE064E9363}" dt="2026-10-10T23:01:30.688" v="11447" actId="20577"/>
          <ac:spMkLst>
            <pc:docMk/>
            <pc:sldMk cId="2953175661" sldId="288"/>
            <ac:spMk id="5" creationId="{208AF426-607B-1936-143C-7541AD8896ED}"/>
          </ac:spMkLst>
        </pc:spChg>
      </pc:sldChg>
      <pc:sldChg chg="modSp mod">
        <pc:chgData name="Heinrich Venter" userId="694de3c83518532c" providerId="LiveId" clId="{10CD68D7-CBE1-4750-A2D1-7DEE064E9363}" dt="2026-10-10T22:41:13.668" v="11115" actId="20577"/>
        <pc:sldMkLst>
          <pc:docMk/>
          <pc:sldMk cId="708745857" sldId="289"/>
        </pc:sldMkLst>
        <pc:spChg chg="mod">
          <ac:chgData name="Heinrich Venter" userId="694de3c83518532c" providerId="LiveId" clId="{10CD68D7-CBE1-4750-A2D1-7DEE064E9363}" dt="2026-10-10T22:27:07.768" v="10724" actId="20577"/>
          <ac:spMkLst>
            <pc:docMk/>
            <pc:sldMk cId="708745857" sldId="289"/>
            <ac:spMk id="3" creationId="{109C2FE0-6991-DDAF-C4F7-B3415EC34474}"/>
          </ac:spMkLst>
        </pc:spChg>
        <pc:spChg chg="mod">
          <ac:chgData name="Heinrich Venter" userId="694de3c83518532c" providerId="LiveId" clId="{10CD68D7-CBE1-4750-A2D1-7DEE064E9363}" dt="2026-10-10T22:41:13.668" v="11115" actId="20577"/>
          <ac:spMkLst>
            <pc:docMk/>
            <pc:sldMk cId="708745857" sldId="289"/>
            <ac:spMk id="5" creationId="{F10EB81D-A986-42AD-847E-FF3A1F656CEB}"/>
          </ac:spMkLst>
        </pc:spChg>
      </pc:sldChg>
      <pc:sldChg chg="modSp mod">
        <pc:chgData name="Heinrich Venter" userId="694de3c83518532c" providerId="LiveId" clId="{10CD68D7-CBE1-4750-A2D1-7DEE064E9363}" dt="2026-10-21T11:42:19.220" v="11968" actId="20577"/>
        <pc:sldMkLst>
          <pc:docMk/>
          <pc:sldMk cId="3091740916" sldId="292"/>
        </pc:sldMkLst>
        <pc:spChg chg="mod">
          <ac:chgData name="Heinrich Venter" userId="694de3c83518532c" providerId="LiveId" clId="{10CD68D7-CBE1-4750-A2D1-7DEE064E9363}" dt="2026-10-21T11:42:10.908" v="11967" actId="27636"/>
          <ac:spMkLst>
            <pc:docMk/>
            <pc:sldMk cId="3091740916" sldId="292"/>
            <ac:spMk id="3" creationId="{109C2FE0-6991-DDAF-C4F7-B3415EC34474}"/>
          </ac:spMkLst>
        </pc:spChg>
        <pc:spChg chg="mod">
          <ac:chgData name="Heinrich Venter" userId="694de3c83518532c" providerId="LiveId" clId="{10CD68D7-CBE1-4750-A2D1-7DEE064E9363}" dt="2026-10-21T11:42:19.220" v="11968" actId="20577"/>
          <ac:spMkLst>
            <pc:docMk/>
            <pc:sldMk cId="3091740916" sldId="292"/>
            <ac:spMk id="5" creationId="{F10EB81D-A986-42AD-847E-FF3A1F656CEB}"/>
          </ac:spMkLst>
        </pc:spChg>
      </pc:sldChg>
      <pc:sldChg chg="modSp mod">
        <pc:chgData name="Heinrich Venter" userId="694de3c83518532c" providerId="LiveId" clId="{10CD68D7-CBE1-4750-A2D1-7DEE064E9363}" dt="2026-10-10T22:20:05.190" v="10669" actId="20577"/>
        <pc:sldMkLst>
          <pc:docMk/>
          <pc:sldMk cId="2786755706" sldId="297"/>
        </pc:sldMkLst>
        <pc:spChg chg="mod">
          <ac:chgData name="Heinrich Venter" userId="694de3c83518532c" providerId="LiveId" clId="{10CD68D7-CBE1-4750-A2D1-7DEE064E9363}" dt="2026-10-10T22:20:05.190" v="10669" actId="20577"/>
          <ac:spMkLst>
            <pc:docMk/>
            <pc:sldMk cId="2786755706" sldId="297"/>
            <ac:spMk id="3" creationId="{5ACC3126-8DD8-8C54-83C8-B51AC26F67BA}"/>
          </ac:spMkLst>
        </pc:spChg>
      </pc:sldChg>
      <pc:sldChg chg="modSp mod">
        <pc:chgData name="Heinrich Venter" userId="694de3c83518532c" providerId="LiveId" clId="{10CD68D7-CBE1-4750-A2D1-7DEE064E9363}" dt="2026-10-21T11:43:47.978" v="11972" actId="20577"/>
        <pc:sldMkLst>
          <pc:docMk/>
          <pc:sldMk cId="3865693267" sldId="302"/>
        </pc:sldMkLst>
        <pc:spChg chg="mod">
          <ac:chgData name="Heinrich Venter" userId="694de3c83518532c" providerId="LiveId" clId="{10CD68D7-CBE1-4750-A2D1-7DEE064E9363}" dt="2026-10-21T11:43:47.978" v="11972" actId="20577"/>
          <ac:spMkLst>
            <pc:docMk/>
            <pc:sldMk cId="3865693267" sldId="302"/>
            <ac:spMk id="5" creationId="{9A2E10AF-E8DC-77CD-AEF5-92874F19D3A0}"/>
          </ac:spMkLst>
        </pc:spChg>
      </pc:sldChg>
    </pc:docChg>
  </pc:docChgLst>
</pc:chgInfo>
</file>

<file path=ppt/comments/modernComment_10D_B08B0791.xml><?xml version="1.0" encoding="utf-8"?>
<p188:cmLst xmlns:a="http://schemas.openxmlformats.org/drawingml/2006/main" xmlns:r="http://schemas.openxmlformats.org/officeDocument/2006/relationships" xmlns:p188="http://schemas.microsoft.com/office/powerpoint/2018/8/main">
  <p188:cm id="{439A6A2D-3C6E-47F9-9737-920456A2F210}" authorId="{13C077F8-8573-EEE0-B7B7-42F83088B50D}" created="2026-06-01T23:41:17.764">
    <ac:deMkLst xmlns:ac="http://schemas.microsoft.com/office/drawing/2013/main/command">
      <pc:docMk xmlns:pc="http://schemas.microsoft.com/office/powerpoint/2013/main/command"/>
      <pc:sldMk xmlns:pc="http://schemas.microsoft.com/office/powerpoint/2013/main/command" cId="2961901457" sldId="269"/>
      <ac:spMk id="3" creationId="{A52EF0A1-3D21-8BB7-02F3-33253F2DFB43}"/>
    </ac:deMkLst>
    <p188:txBody>
      <a:bodyPr/>
      <a:lstStyle/>
      <a:p>
        <a:r>
          <a:rPr lang="en-NZ"/>
          <a:t>Break this into parts use two slides if possible and use headings</a:t>
        </a:r>
      </a:p>
    </p188:txBody>
  </p188:cm>
</p188:cmLst>
</file>

<file path=ppt/comments/modernComment_11D_F491498A.xml><?xml version="1.0" encoding="utf-8"?>
<p188:cmLst xmlns:a="http://schemas.openxmlformats.org/drawingml/2006/main" xmlns:r="http://schemas.openxmlformats.org/officeDocument/2006/relationships" xmlns:p188="http://schemas.microsoft.com/office/powerpoint/2018/8/main">
  <p188:cm id="{BCCFE238-01DD-4648-9036-2578AD0A7E92}" authorId="{13C077F8-8573-EEE0-B7B7-42F83088B50D}" created="2026-06-01T23:40:54.990">
    <pc:sldMkLst xmlns:pc="http://schemas.microsoft.com/office/powerpoint/2013/main/command">
      <pc:docMk/>
      <pc:sldMk cId="4103162250" sldId="285"/>
    </pc:sldMkLst>
    <p188:txBody>
      <a:bodyPr/>
      <a:lstStyle/>
      <a:p>
        <a:r>
          <a:rPr lang="en-NZ"/>
          <a:t>Doesn’t show that you understand
For example: I am using I2C between this and that. The way I2C works is
The reason why I am using it is</a:t>
        </a:r>
      </a:p>
    </p188:txBody>
  </p188:cm>
</p188:cmLst>
</file>

<file path=ppt/comments/modernComment_101_FFE3B6F5.xml><?xml version="1.0" encoding="utf-8"?>
<p188:cmLst xmlns:a="http://schemas.openxmlformats.org/drawingml/2006/main" xmlns:r="http://schemas.openxmlformats.org/officeDocument/2006/relationships" xmlns:p188="http://schemas.microsoft.com/office/powerpoint/2018/8/main">
  <p188:cm id="{9462C05B-E1ED-4E00-AD90-239CB99C6C27}" authorId="{13C077F8-8573-EEE0-B7B7-42F83088B50D}" created="2026-06-01T23:35:41.899">
    <ac:deMkLst xmlns:ac="http://schemas.microsoft.com/office/drawing/2013/main/command">
      <pc:docMk xmlns:pc="http://schemas.microsoft.com/office/powerpoint/2013/main/command"/>
      <pc:sldMk xmlns:pc="http://schemas.microsoft.com/office/powerpoint/2013/main/command" cId="4293113589" sldId="257"/>
      <ac:spMk id="3" creationId="{EB73A0B0-8C2E-99B2-DFB1-974EF0CDEB52}"/>
    </ac:deMkLst>
    <p188:txBody>
      <a:bodyPr/>
      <a:lstStyle/>
      <a:p>
        <a:r>
          <a:rPr lang="en-NZ"/>
          <a:t>With this try and talk about exactly what your project is, it is not clear with this. Get really specific about the electronics parts of this outcome</a:t>
        </a:r>
      </a:p>
    </p188:txBody>
  </p188:cm>
</p188:cmLst>
</file>

<file path=ppt/comments/modernComment_102_8F82B503.xml><?xml version="1.0" encoding="utf-8"?>
<p188:cmLst xmlns:a="http://schemas.openxmlformats.org/drawingml/2006/main" xmlns:r="http://schemas.openxmlformats.org/officeDocument/2006/relationships" xmlns:p188="http://schemas.microsoft.com/office/powerpoint/2018/8/main">
  <p188:cm id="{4366C09B-AEC2-46F9-A41F-DF04B9AB752B}" authorId="{13C077F8-8573-EEE0-B7B7-42F83088B50D}" created="2026-06-01T23:36:47.084">
    <ac:deMkLst xmlns:ac="http://schemas.microsoft.com/office/drawing/2013/main/command">
      <pc:docMk xmlns:pc="http://schemas.microsoft.com/office/powerpoint/2013/main/command"/>
      <pc:sldMk xmlns:pc="http://schemas.microsoft.com/office/powerpoint/2013/main/command" cId="2407707907" sldId="258"/>
      <ac:spMk id="3" creationId="{48517805-ABAD-9125-D5EB-9C37B582DC52}"/>
    </ac:deMkLst>
    <p188:txBody>
      <a:bodyPr/>
      <a:lstStyle/>
      <a:p>
        <a:r>
          <a:rPr lang="en-NZ"/>
          <a:t>Re write in own words, and don’t go too much in depth all it is asking is how you are meeting these techniques. So simply :I am going meet this by including x</a:t>
        </a:r>
      </a:p>
    </p188:txBody>
  </p188:cm>
</p188:cmLst>
</file>

<file path=ppt/comments/modernComment_117_E97C5DDB.xml><?xml version="1.0" encoding="utf-8"?>
<p188:cmLst xmlns:a="http://schemas.openxmlformats.org/drawingml/2006/main" xmlns:r="http://schemas.openxmlformats.org/officeDocument/2006/relationships" xmlns:p188="http://schemas.microsoft.com/office/powerpoint/2018/8/main">
  <p188:cm id="{14EA2BAC-3D7E-4AD0-8925-75C71D51EC5E}" authorId="{13C077F8-8573-EEE0-B7B7-42F83088B50D}" created="2026-06-01T23:42:31.183">
    <pc:sldMkLst xmlns:pc="http://schemas.microsoft.com/office/powerpoint/2013/main/command">
      <pc:docMk/>
      <pc:sldMk cId="3917241819" sldId="279"/>
    </pc:sldMkLst>
    <p188:txBody>
      <a:bodyPr/>
      <a:lstStyle/>
      <a:p>
        <a:r>
          <a:rPr lang="en-NZ"/>
          <a:t>Really use own language</a:t>
        </a:r>
      </a:p>
    </p188:txBody>
  </p188:cm>
</p188:cmLst>
</file>

<file path=ppt/comments/modernComment_120_B005E26D.xml><?xml version="1.0" encoding="utf-8"?>
<p188:cmLst xmlns:a="http://schemas.openxmlformats.org/drawingml/2006/main" xmlns:r="http://schemas.openxmlformats.org/officeDocument/2006/relationships" xmlns:p188="http://schemas.microsoft.com/office/powerpoint/2018/8/main">
  <p188:cm id="{7BCE5537-69C4-4ECE-925D-538EA70AB39C}" authorId="{13C077F8-8573-EEE0-B7B7-42F83088B50D}" created="2026-06-01T23:42:42.580">
    <ac:deMkLst xmlns:ac="http://schemas.microsoft.com/office/drawing/2013/main/command">
      <pc:docMk xmlns:pc="http://schemas.microsoft.com/office/powerpoint/2013/main/command"/>
      <pc:sldMk xmlns:pc="http://schemas.microsoft.com/office/powerpoint/2013/main/command" cId="2953175661" sldId="288"/>
      <ac:spMk id="5" creationId="{208AF426-607B-1936-143C-7541AD8896ED}"/>
    </ac:deMkLst>
    <p188:txBody>
      <a:bodyPr/>
      <a:lstStyle/>
      <a:p>
        <a:r>
          <a:rPr lang="en-NZ"/>
          <a:t>AI</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98D9B-145B-9A82-3C38-BCF48D31EC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D910AC99-C740-9F4C-428D-D41BD763F9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23176CC6-7CE4-1664-EB37-BB0D71D727FC}"/>
              </a:ext>
            </a:extLst>
          </p:cNvPr>
          <p:cNvSpPr>
            <a:spLocks noGrp="1"/>
          </p:cNvSpPr>
          <p:nvPr>
            <p:ph type="dt" sz="half" idx="10"/>
          </p:nvPr>
        </p:nvSpPr>
        <p:spPr/>
        <p:txBody>
          <a:bodyPr/>
          <a:lstStyle/>
          <a:p>
            <a:fld id="{A609F6A2-FEED-40EB-83D5-ADDC04076AF0}" type="datetimeFigureOut">
              <a:rPr lang="en-NZ" smtClean="0"/>
              <a:t>22/10/2026</a:t>
            </a:fld>
            <a:endParaRPr lang="en-NZ"/>
          </a:p>
        </p:txBody>
      </p:sp>
      <p:sp>
        <p:nvSpPr>
          <p:cNvPr id="5" name="Footer Placeholder 4">
            <a:extLst>
              <a:ext uri="{FF2B5EF4-FFF2-40B4-BE49-F238E27FC236}">
                <a16:creationId xmlns:a16="http://schemas.microsoft.com/office/drawing/2014/main" id="{B43E30A3-92C6-7271-0C2C-AB9E109D3C70}"/>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EFD50F3C-19C2-B4E3-B4EA-637F2C2E4B2C}"/>
              </a:ext>
            </a:extLst>
          </p:cNvPr>
          <p:cNvSpPr>
            <a:spLocks noGrp="1"/>
          </p:cNvSpPr>
          <p:nvPr>
            <p:ph type="sldNum" sz="quarter" idx="12"/>
          </p:nvPr>
        </p:nvSpPr>
        <p:spPr/>
        <p:txBody>
          <a:bodyPr/>
          <a:lstStyle/>
          <a:p>
            <a:fld id="{0187B0B8-57B5-4F3C-A1FC-0FF8A465CA3C}" type="slidenum">
              <a:rPr lang="en-NZ" smtClean="0"/>
              <a:t>‹#›</a:t>
            </a:fld>
            <a:endParaRPr lang="en-NZ"/>
          </a:p>
        </p:txBody>
      </p:sp>
    </p:spTree>
    <p:extLst>
      <p:ext uri="{BB962C8B-B14F-4D97-AF65-F5344CB8AC3E}">
        <p14:creationId xmlns:p14="http://schemas.microsoft.com/office/powerpoint/2010/main" val="3743889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9629F-D34A-E636-2CA2-AE6B6F56B57A}"/>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002ABDA8-63AE-671D-2E21-D0FB694913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DE5F8534-6E58-6E88-9523-8A8949DC31B9}"/>
              </a:ext>
            </a:extLst>
          </p:cNvPr>
          <p:cNvSpPr>
            <a:spLocks noGrp="1"/>
          </p:cNvSpPr>
          <p:nvPr>
            <p:ph type="dt" sz="half" idx="10"/>
          </p:nvPr>
        </p:nvSpPr>
        <p:spPr/>
        <p:txBody>
          <a:bodyPr/>
          <a:lstStyle/>
          <a:p>
            <a:fld id="{A609F6A2-FEED-40EB-83D5-ADDC04076AF0}" type="datetimeFigureOut">
              <a:rPr lang="en-NZ" smtClean="0"/>
              <a:t>22/10/2026</a:t>
            </a:fld>
            <a:endParaRPr lang="en-NZ"/>
          </a:p>
        </p:txBody>
      </p:sp>
      <p:sp>
        <p:nvSpPr>
          <p:cNvPr id="5" name="Footer Placeholder 4">
            <a:extLst>
              <a:ext uri="{FF2B5EF4-FFF2-40B4-BE49-F238E27FC236}">
                <a16:creationId xmlns:a16="http://schemas.microsoft.com/office/drawing/2014/main" id="{A86B0705-725B-15CC-440D-F9EEA72763DC}"/>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02E39DF6-4133-D5EE-3739-6782A856E400}"/>
              </a:ext>
            </a:extLst>
          </p:cNvPr>
          <p:cNvSpPr>
            <a:spLocks noGrp="1"/>
          </p:cNvSpPr>
          <p:nvPr>
            <p:ph type="sldNum" sz="quarter" idx="12"/>
          </p:nvPr>
        </p:nvSpPr>
        <p:spPr/>
        <p:txBody>
          <a:bodyPr/>
          <a:lstStyle/>
          <a:p>
            <a:fld id="{0187B0B8-57B5-4F3C-A1FC-0FF8A465CA3C}" type="slidenum">
              <a:rPr lang="en-NZ" smtClean="0"/>
              <a:t>‹#›</a:t>
            </a:fld>
            <a:endParaRPr lang="en-NZ"/>
          </a:p>
        </p:txBody>
      </p:sp>
    </p:spTree>
    <p:extLst>
      <p:ext uri="{BB962C8B-B14F-4D97-AF65-F5344CB8AC3E}">
        <p14:creationId xmlns:p14="http://schemas.microsoft.com/office/powerpoint/2010/main" val="2984747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0A79A-EC40-F1E2-4DB6-8E6EEC7276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1EB7B16D-87B6-817E-24DE-DFDCEE57F00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DBC8AE-A43E-F7C5-2810-A28B0248A132}"/>
              </a:ext>
            </a:extLst>
          </p:cNvPr>
          <p:cNvSpPr>
            <a:spLocks noGrp="1"/>
          </p:cNvSpPr>
          <p:nvPr>
            <p:ph type="dt" sz="half" idx="10"/>
          </p:nvPr>
        </p:nvSpPr>
        <p:spPr/>
        <p:txBody>
          <a:bodyPr/>
          <a:lstStyle/>
          <a:p>
            <a:fld id="{A609F6A2-FEED-40EB-83D5-ADDC04076AF0}" type="datetimeFigureOut">
              <a:rPr lang="en-NZ" smtClean="0"/>
              <a:t>22/10/2026</a:t>
            </a:fld>
            <a:endParaRPr lang="en-NZ"/>
          </a:p>
        </p:txBody>
      </p:sp>
      <p:sp>
        <p:nvSpPr>
          <p:cNvPr id="5" name="Footer Placeholder 4">
            <a:extLst>
              <a:ext uri="{FF2B5EF4-FFF2-40B4-BE49-F238E27FC236}">
                <a16:creationId xmlns:a16="http://schemas.microsoft.com/office/drawing/2014/main" id="{22B1CE41-420D-F947-C83A-891FECF3F762}"/>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E073B702-0953-8462-419A-57BAA3CEDCE4}"/>
              </a:ext>
            </a:extLst>
          </p:cNvPr>
          <p:cNvSpPr>
            <a:spLocks noGrp="1"/>
          </p:cNvSpPr>
          <p:nvPr>
            <p:ph type="sldNum" sz="quarter" idx="12"/>
          </p:nvPr>
        </p:nvSpPr>
        <p:spPr/>
        <p:txBody>
          <a:bodyPr/>
          <a:lstStyle/>
          <a:p>
            <a:fld id="{0187B0B8-57B5-4F3C-A1FC-0FF8A465CA3C}" type="slidenum">
              <a:rPr lang="en-NZ" smtClean="0"/>
              <a:t>‹#›</a:t>
            </a:fld>
            <a:endParaRPr lang="en-NZ"/>
          </a:p>
        </p:txBody>
      </p:sp>
    </p:spTree>
    <p:extLst>
      <p:ext uri="{BB962C8B-B14F-4D97-AF65-F5344CB8AC3E}">
        <p14:creationId xmlns:p14="http://schemas.microsoft.com/office/powerpoint/2010/main" val="919374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37A3C-1B8D-954F-2FDA-2882C7DF2BAA}"/>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47269A1E-630D-115D-AA60-9319B17A6F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2FC8FE08-3D2D-72A8-DFB0-1C6CFFEBAB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96241EFA-9139-CE4A-77BE-D32E836710E9}"/>
              </a:ext>
            </a:extLst>
          </p:cNvPr>
          <p:cNvSpPr>
            <a:spLocks noGrp="1"/>
          </p:cNvSpPr>
          <p:nvPr>
            <p:ph type="dt" sz="half" idx="10"/>
          </p:nvPr>
        </p:nvSpPr>
        <p:spPr/>
        <p:txBody>
          <a:bodyPr/>
          <a:lstStyle/>
          <a:p>
            <a:fld id="{A609F6A2-FEED-40EB-83D5-ADDC04076AF0}" type="datetimeFigureOut">
              <a:rPr lang="en-NZ" smtClean="0"/>
              <a:t>22/10/2026</a:t>
            </a:fld>
            <a:endParaRPr lang="en-NZ"/>
          </a:p>
        </p:txBody>
      </p:sp>
      <p:sp>
        <p:nvSpPr>
          <p:cNvPr id="6" name="Footer Placeholder 5">
            <a:extLst>
              <a:ext uri="{FF2B5EF4-FFF2-40B4-BE49-F238E27FC236}">
                <a16:creationId xmlns:a16="http://schemas.microsoft.com/office/drawing/2014/main" id="{85E62D1A-AABB-A589-9AED-358678D3CEA5}"/>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CB9A46D8-E579-390A-E3D5-01F15AF61D36}"/>
              </a:ext>
            </a:extLst>
          </p:cNvPr>
          <p:cNvSpPr>
            <a:spLocks noGrp="1"/>
          </p:cNvSpPr>
          <p:nvPr>
            <p:ph type="sldNum" sz="quarter" idx="12"/>
          </p:nvPr>
        </p:nvSpPr>
        <p:spPr/>
        <p:txBody>
          <a:bodyPr/>
          <a:lstStyle/>
          <a:p>
            <a:fld id="{0187B0B8-57B5-4F3C-A1FC-0FF8A465CA3C}" type="slidenum">
              <a:rPr lang="en-NZ" smtClean="0"/>
              <a:t>‹#›</a:t>
            </a:fld>
            <a:endParaRPr lang="en-NZ"/>
          </a:p>
        </p:txBody>
      </p:sp>
    </p:spTree>
    <p:extLst>
      <p:ext uri="{BB962C8B-B14F-4D97-AF65-F5344CB8AC3E}">
        <p14:creationId xmlns:p14="http://schemas.microsoft.com/office/powerpoint/2010/main" val="4274757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3BFC-2D18-C004-A241-FE4798E8CA24}"/>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A88DB30A-BC29-1BD7-BF26-EB3DB6EFE7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B44B81-C8FA-6360-8BCF-95CC6E0862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D2A9765F-1BA1-58FC-A1ED-234A797664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FF36E5-6546-4D0B-4617-68A9685259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6E7D6AA3-F308-55AE-34F3-4ACD72807321}"/>
              </a:ext>
            </a:extLst>
          </p:cNvPr>
          <p:cNvSpPr>
            <a:spLocks noGrp="1"/>
          </p:cNvSpPr>
          <p:nvPr>
            <p:ph type="dt" sz="half" idx="10"/>
          </p:nvPr>
        </p:nvSpPr>
        <p:spPr/>
        <p:txBody>
          <a:bodyPr/>
          <a:lstStyle/>
          <a:p>
            <a:fld id="{A609F6A2-FEED-40EB-83D5-ADDC04076AF0}" type="datetimeFigureOut">
              <a:rPr lang="en-NZ" smtClean="0"/>
              <a:t>22/10/2026</a:t>
            </a:fld>
            <a:endParaRPr lang="en-NZ"/>
          </a:p>
        </p:txBody>
      </p:sp>
      <p:sp>
        <p:nvSpPr>
          <p:cNvPr id="8" name="Footer Placeholder 7">
            <a:extLst>
              <a:ext uri="{FF2B5EF4-FFF2-40B4-BE49-F238E27FC236}">
                <a16:creationId xmlns:a16="http://schemas.microsoft.com/office/drawing/2014/main" id="{98EF0DB1-9252-E187-E7A4-8396F47AFA86}"/>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EDCB405F-8CEC-2FBA-2092-12BBD10BA22B}"/>
              </a:ext>
            </a:extLst>
          </p:cNvPr>
          <p:cNvSpPr>
            <a:spLocks noGrp="1"/>
          </p:cNvSpPr>
          <p:nvPr>
            <p:ph type="sldNum" sz="quarter" idx="12"/>
          </p:nvPr>
        </p:nvSpPr>
        <p:spPr/>
        <p:txBody>
          <a:bodyPr/>
          <a:lstStyle/>
          <a:p>
            <a:fld id="{0187B0B8-57B5-4F3C-A1FC-0FF8A465CA3C}" type="slidenum">
              <a:rPr lang="en-NZ" smtClean="0"/>
              <a:t>‹#›</a:t>
            </a:fld>
            <a:endParaRPr lang="en-NZ"/>
          </a:p>
        </p:txBody>
      </p:sp>
    </p:spTree>
    <p:extLst>
      <p:ext uri="{BB962C8B-B14F-4D97-AF65-F5344CB8AC3E}">
        <p14:creationId xmlns:p14="http://schemas.microsoft.com/office/powerpoint/2010/main" val="2342246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670DA-0052-E1B9-859C-040BC64A52BC}"/>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DECE9831-6830-A6FB-EA6A-F6CCD39DF890}"/>
              </a:ext>
            </a:extLst>
          </p:cNvPr>
          <p:cNvSpPr>
            <a:spLocks noGrp="1"/>
          </p:cNvSpPr>
          <p:nvPr>
            <p:ph type="dt" sz="half" idx="10"/>
          </p:nvPr>
        </p:nvSpPr>
        <p:spPr/>
        <p:txBody>
          <a:bodyPr/>
          <a:lstStyle/>
          <a:p>
            <a:fld id="{A609F6A2-FEED-40EB-83D5-ADDC04076AF0}" type="datetimeFigureOut">
              <a:rPr lang="en-NZ" smtClean="0"/>
              <a:t>22/10/2026</a:t>
            </a:fld>
            <a:endParaRPr lang="en-NZ"/>
          </a:p>
        </p:txBody>
      </p:sp>
      <p:sp>
        <p:nvSpPr>
          <p:cNvPr id="4" name="Footer Placeholder 3">
            <a:extLst>
              <a:ext uri="{FF2B5EF4-FFF2-40B4-BE49-F238E27FC236}">
                <a16:creationId xmlns:a16="http://schemas.microsoft.com/office/drawing/2014/main" id="{DE93BEA7-507F-BDBD-D6F5-DA4CB7472FFA}"/>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0702DCD7-CB68-8F71-700F-DB432500B832}"/>
              </a:ext>
            </a:extLst>
          </p:cNvPr>
          <p:cNvSpPr>
            <a:spLocks noGrp="1"/>
          </p:cNvSpPr>
          <p:nvPr>
            <p:ph type="sldNum" sz="quarter" idx="12"/>
          </p:nvPr>
        </p:nvSpPr>
        <p:spPr/>
        <p:txBody>
          <a:bodyPr/>
          <a:lstStyle/>
          <a:p>
            <a:fld id="{0187B0B8-57B5-4F3C-A1FC-0FF8A465CA3C}" type="slidenum">
              <a:rPr lang="en-NZ" smtClean="0"/>
              <a:t>‹#›</a:t>
            </a:fld>
            <a:endParaRPr lang="en-NZ"/>
          </a:p>
        </p:txBody>
      </p:sp>
    </p:spTree>
    <p:extLst>
      <p:ext uri="{BB962C8B-B14F-4D97-AF65-F5344CB8AC3E}">
        <p14:creationId xmlns:p14="http://schemas.microsoft.com/office/powerpoint/2010/main" val="3012805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045C66-18CD-E8B1-074A-6E79530611A5}"/>
              </a:ext>
            </a:extLst>
          </p:cNvPr>
          <p:cNvSpPr>
            <a:spLocks noGrp="1"/>
          </p:cNvSpPr>
          <p:nvPr>
            <p:ph type="dt" sz="half" idx="10"/>
          </p:nvPr>
        </p:nvSpPr>
        <p:spPr/>
        <p:txBody>
          <a:bodyPr/>
          <a:lstStyle/>
          <a:p>
            <a:fld id="{A609F6A2-FEED-40EB-83D5-ADDC04076AF0}" type="datetimeFigureOut">
              <a:rPr lang="en-NZ" smtClean="0"/>
              <a:t>22/10/2026</a:t>
            </a:fld>
            <a:endParaRPr lang="en-NZ"/>
          </a:p>
        </p:txBody>
      </p:sp>
      <p:sp>
        <p:nvSpPr>
          <p:cNvPr id="3" name="Footer Placeholder 2">
            <a:extLst>
              <a:ext uri="{FF2B5EF4-FFF2-40B4-BE49-F238E27FC236}">
                <a16:creationId xmlns:a16="http://schemas.microsoft.com/office/drawing/2014/main" id="{6F9BA5B8-4E39-D65D-79D4-75F5ACCCCF81}"/>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C66761BF-00A0-A01E-FDAE-C61DEE4BF5D3}"/>
              </a:ext>
            </a:extLst>
          </p:cNvPr>
          <p:cNvSpPr>
            <a:spLocks noGrp="1"/>
          </p:cNvSpPr>
          <p:nvPr>
            <p:ph type="sldNum" sz="quarter" idx="12"/>
          </p:nvPr>
        </p:nvSpPr>
        <p:spPr/>
        <p:txBody>
          <a:bodyPr/>
          <a:lstStyle/>
          <a:p>
            <a:fld id="{0187B0B8-57B5-4F3C-A1FC-0FF8A465CA3C}" type="slidenum">
              <a:rPr lang="en-NZ" smtClean="0"/>
              <a:t>‹#›</a:t>
            </a:fld>
            <a:endParaRPr lang="en-NZ"/>
          </a:p>
        </p:txBody>
      </p:sp>
    </p:spTree>
    <p:extLst>
      <p:ext uri="{BB962C8B-B14F-4D97-AF65-F5344CB8AC3E}">
        <p14:creationId xmlns:p14="http://schemas.microsoft.com/office/powerpoint/2010/main" val="1386240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CEE19-727A-7893-45C2-FBD4D50BF3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A30F136F-FCAA-326A-E070-17553D4249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C73C8E90-582E-D30B-D58F-7263766E71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576D0E-8701-819C-ECB1-F93F0C679DCB}"/>
              </a:ext>
            </a:extLst>
          </p:cNvPr>
          <p:cNvSpPr>
            <a:spLocks noGrp="1"/>
          </p:cNvSpPr>
          <p:nvPr>
            <p:ph type="dt" sz="half" idx="10"/>
          </p:nvPr>
        </p:nvSpPr>
        <p:spPr/>
        <p:txBody>
          <a:bodyPr/>
          <a:lstStyle/>
          <a:p>
            <a:fld id="{A609F6A2-FEED-40EB-83D5-ADDC04076AF0}" type="datetimeFigureOut">
              <a:rPr lang="en-NZ" smtClean="0"/>
              <a:t>22/10/2026</a:t>
            </a:fld>
            <a:endParaRPr lang="en-NZ"/>
          </a:p>
        </p:txBody>
      </p:sp>
      <p:sp>
        <p:nvSpPr>
          <p:cNvPr id="6" name="Footer Placeholder 5">
            <a:extLst>
              <a:ext uri="{FF2B5EF4-FFF2-40B4-BE49-F238E27FC236}">
                <a16:creationId xmlns:a16="http://schemas.microsoft.com/office/drawing/2014/main" id="{4D0D1E14-7AA4-26B9-05B5-E19C9AD10B31}"/>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64128E01-59CA-40E7-CF16-56C2B576C9E4}"/>
              </a:ext>
            </a:extLst>
          </p:cNvPr>
          <p:cNvSpPr>
            <a:spLocks noGrp="1"/>
          </p:cNvSpPr>
          <p:nvPr>
            <p:ph type="sldNum" sz="quarter" idx="12"/>
          </p:nvPr>
        </p:nvSpPr>
        <p:spPr/>
        <p:txBody>
          <a:bodyPr/>
          <a:lstStyle/>
          <a:p>
            <a:fld id="{0187B0B8-57B5-4F3C-A1FC-0FF8A465CA3C}" type="slidenum">
              <a:rPr lang="en-NZ" smtClean="0"/>
              <a:t>‹#›</a:t>
            </a:fld>
            <a:endParaRPr lang="en-NZ"/>
          </a:p>
        </p:txBody>
      </p:sp>
    </p:spTree>
    <p:extLst>
      <p:ext uri="{BB962C8B-B14F-4D97-AF65-F5344CB8AC3E}">
        <p14:creationId xmlns:p14="http://schemas.microsoft.com/office/powerpoint/2010/main" val="5888167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F8DDC-10C7-4A38-8A08-3EC85B339D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9DBED555-6F02-7A8A-AACB-AFA7753CE2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606C2024-3B03-1031-BB5C-EA2C0B730F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ED1CAB-C95C-7578-D2F6-0FBA9CE8540C}"/>
              </a:ext>
            </a:extLst>
          </p:cNvPr>
          <p:cNvSpPr>
            <a:spLocks noGrp="1"/>
          </p:cNvSpPr>
          <p:nvPr>
            <p:ph type="dt" sz="half" idx="10"/>
          </p:nvPr>
        </p:nvSpPr>
        <p:spPr/>
        <p:txBody>
          <a:bodyPr/>
          <a:lstStyle/>
          <a:p>
            <a:fld id="{A609F6A2-FEED-40EB-83D5-ADDC04076AF0}" type="datetimeFigureOut">
              <a:rPr lang="en-NZ" smtClean="0"/>
              <a:t>22/10/2026</a:t>
            </a:fld>
            <a:endParaRPr lang="en-NZ"/>
          </a:p>
        </p:txBody>
      </p:sp>
      <p:sp>
        <p:nvSpPr>
          <p:cNvPr id="6" name="Footer Placeholder 5">
            <a:extLst>
              <a:ext uri="{FF2B5EF4-FFF2-40B4-BE49-F238E27FC236}">
                <a16:creationId xmlns:a16="http://schemas.microsoft.com/office/drawing/2014/main" id="{2E5C889D-687B-6D21-2521-2E48E280C49A}"/>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09E8B18A-05A0-8990-60C0-CC2D3A9669F4}"/>
              </a:ext>
            </a:extLst>
          </p:cNvPr>
          <p:cNvSpPr>
            <a:spLocks noGrp="1"/>
          </p:cNvSpPr>
          <p:nvPr>
            <p:ph type="sldNum" sz="quarter" idx="12"/>
          </p:nvPr>
        </p:nvSpPr>
        <p:spPr/>
        <p:txBody>
          <a:bodyPr/>
          <a:lstStyle/>
          <a:p>
            <a:fld id="{0187B0B8-57B5-4F3C-A1FC-0FF8A465CA3C}" type="slidenum">
              <a:rPr lang="en-NZ" smtClean="0"/>
              <a:t>‹#›</a:t>
            </a:fld>
            <a:endParaRPr lang="en-NZ"/>
          </a:p>
        </p:txBody>
      </p:sp>
    </p:spTree>
    <p:extLst>
      <p:ext uri="{BB962C8B-B14F-4D97-AF65-F5344CB8AC3E}">
        <p14:creationId xmlns:p14="http://schemas.microsoft.com/office/powerpoint/2010/main" val="2037258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B9DED-4CC8-0775-C305-0BA5958BDA9F}"/>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B25FBF30-BD57-5FFF-1311-A965D16568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3100D33A-2062-3D9A-100B-4538EA4E4FF4}"/>
              </a:ext>
            </a:extLst>
          </p:cNvPr>
          <p:cNvSpPr>
            <a:spLocks noGrp="1"/>
          </p:cNvSpPr>
          <p:nvPr>
            <p:ph type="dt" sz="half" idx="10"/>
          </p:nvPr>
        </p:nvSpPr>
        <p:spPr/>
        <p:txBody>
          <a:bodyPr/>
          <a:lstStyle/>
          <a:p>
            <a:fld id="{A609F6A2-FEED-40EB-83D5-ADDC04076AF0}" type="datetimeFigureOut">
              <a:rPr lang="en-NZ" smtClean="0"/>
              <a:t>22/10/2026</a:t>
            </a:fld>
            <a:endParaRPr lang="en-NZ"/>
          </a:p>
        </p:txBody>
      </p:sp>
      <p:sp>
        <p:nvSpPr>
          <p:cNvPr id="5" name="Footer Placeholder 4">
            <a:extLst>
              <a:ext uri="{FF2B5EF4-FFF2-40B4-BE49-F238E27FC236}">
                <a16:creationId xmlns:a16="http://schemas.microsoft.com/office/drawing/2014/main" id="{D7318DDD-AA4F-B349-18B4-CE00017832C5}"/>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44B8D42C-2299-4C74-7CF8-D91A9860D3DC}"/>
              </a:ext>
            </a:extLst>
          </p:cNvPr>
          <p:cNvSpPr>
            <a:spLocks noGrp="1"/>
          </p:cNvSpPr>
          <p:nvPr>
            <p:ph type="sldNum" sz="quarter" idx="12"/>
          </p:nvPr>
        </p:nvSpPr>
        <p:spPr/>
        <p:txBody>
          <a:bodyPr/>
          <a:lstStyle/>
          <a:p>
            <a:fld id="{0187B0B8-57B5-4F3C-A1FC-0FF8A465CA3C}" type="slidenum">
              <a:rPr lang="en-NZ" smtClean="0"/>
              <a:t>‹#›</a:t>
            </a:fld>
            <a:endParaRPr lang="en-NZ"/>
          </a:p>
        </p:txBody>
      </p:sp>
    </p:spTree>
    <p:extLst>
      <p:ext uri="{BB962C8B-B14F-4D97-AF65-F5344CB8AC3E}">
        <p14:creationId xmlns:p14="http://schemas.microsoft.com/office/powerpoint/2010/main" val="2022932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802E1B-FA30-ABB1-6122-EA0890A75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C9580E44-6A9B-9801-E465-227F3A4BAE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CDF0CBD0-0D25-EF9C-D675-97F90869275A}"/>
              </a:ext>
            </a:extLst>
          </p:cNvPr>
          <p:cNvSpPr>
            <a:spLocks noGrp="1"/>
          </p:cNvSpPr>
          <p:nvPr>
            <p:ph type="dt" sz="half" idx="10"/>
          </p:nvPr>
        </p:nvSpPr>
        <p:spPr/>
        <p:txBody>
          <a:bodyPr/>
          <a:lstStyle/>
          <a:p>
            <a:fld id="{A609F6A2-FEED-40EB-83D5-ADDC04076AF0}" type="datetimeFigureOut">
              <a:rPr lang="en-NZ" smtClean="0"/>
              <a:t>22/10/2026</a:t>
            </a:fld>
            <a:endParaRPr lang="en-NZ"/>
          </a:p>
        </p:txBody>
      </p:sp>
      <p:sp>
        <p:nvSpPr>
          <p:cNvPr id="5" name="Footer Placeholder 4">
            <a:extLst>
              <a:ext uri="{FF2B5EF4-FFF2-40B4-BE49-F238E27FC236}">
                <a16:creationId xmlns:a16="http://schemas.microsoft.com/office/drawing/2014/main" id="{FBC9C4DB-6786-6065-BA16-13827628BD4F}"/>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9D3857E3-142B-B0DB-38D2-900C69066EF2}"/>
              </a:ext>
            </a:extLst>
          </p:cNvPr>
          <p:cNvSpPr>
            <a:spLocks noGrp="1"/>
          </p:cNvSpPr>
          <p:nvPr>
            <p:ph type="sldNum" sz="quarter" idx="12"/>
          </p:nvPr>
        </p:nvSpPr>
        <p:spPr/>
        <p:txBody>
          <a:bodyPr/>
          <a:lstStyle/>
          <a:p>
            <a:fld id="{0187B0B8-57B5-4F3C-A1FC-0FF8A465CA3C}" type="slidenum">
              <a:rPr lang="en-NZ" smtClean="0"/>
              <a:t>‹#›</a:t>
            </a:fld>
            <a:endParaRPr lang="en-NZ"/>
          </a:p>
        </p:txBody>
      </p:sp>
    </p:spTree>
    <p:extLst>
      <p:ext uri="{BB962C8B-B14F-4D97-AF65-F5344CB8AC3E}">
        <p14:creationId xmlns:p14="http://schemas.microsoft.com/office/powerpoint/2010/main" val="487168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00159-0D37-0F36-A1AC-1D5DCF74E3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195CDB50-22F7-35EC-C321-276E58357B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E63B15E4-1BB2-7A3F-C1AA-B1EC6AAAD2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609F6A2-FEED-40EB-83D5-ADDC04076AF0}" type="datetimeFigureOut">
              <a:rPr lang="en-NZ" smtClean="0"/>
              <a:t>22/10/2026</a:t>
            </a:fld>
            <a:endParaRPr lang="en-NZ"/>
          </a:p>
        </p:txBody>
      </p:sp>
      <p:sp>
        <p:nvSpPr>
          <p:cNvPr id="5" name="Footer Placeholder 4">
            <a:extLst>
              <a:ext uri="{FF2B5EF4-FFF2-40B4-BE49-F238E27FC236}">
                <a16:creationId xmlns:a16="http://schemas.microsoft.com/office/drawing/2014/main" id="{177AD27E-E574-A4C5-E499-9591875791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Z"/>
          </a:p>
        </p:txBody>
      </p:sp>
      <p:sp>
        <p:nvSpPr>
          <p:cNvPr id="6" name="Slide Number Placeholder 5">
            <a:extLst>
              <a:ext uri="{FF2B5EF4-FFF2-40B4-BE49-F238E27FC236}">
                <a16:creationId xmlns:a16="http://schemas.microsoft.com/office/drawing/2014/main" id="{D36CEBF1-0956-617C-328F-E2C2024032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187B0B8-57B5-4F3C-A1FC-0FF8A465CA3C}" type="slidenum">
              <a:rPr lang="en-NZ" smtClean="0"/>
              <a:t>‹#›</a:t>
            </a:fld>
            <a:endParaRPr lang="en-NZ"/>
          </a:p>
        </p:txBody>
      </p:sp>
    </p:spTree>
    <p:extLst>
      <p:ext uri="{BB962C8B-B14F-4D97-AF65-F5344CB8AC3E}">
        <p14:creationId xmlns:p14="http://schemas.microsoft.com/office/powerpoint/2010/main" val="21576142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01_FFE3B6F5.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microsoft.com/office/2018/10/relationships/comments" Target="../comments/modernComment_102_8F82B50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microsoft.com/office/2018/10/relationships/comments" Target="../comments/modernComment_10D_B08B079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microsoft.com/office/2018/10/relationships/comments" Target="../comments/modernComment_11D_F491498A.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microsoft.com/office/2018/10/relationships/comments" Target="../comments/modernComment_117_E97C5DDB.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microsoft.com/office/2018/10/relationships/comments" Target="../comments/modernComment_120_B005E26D.xml"/><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eg"/></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microsoft.com/office/2007/relationships/media" Target="../media/media2.MOV"/><Relationship Id="rId7" Type="http://schemas.openxmlformats.org/officeDocument/2006/relationships/image" Target="../media/image19.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8.png"/><Relationship Id="rId5" Type="http://schemas.openxmlformats.org/officeDocument/2006/relationships/slideLayout" Target="../slideLayouts/slideLayout2.xml"/><Relationship Id="rId4" Type="http://schemas.openxmlformats.org/officeDocument/2006/relationships/video" Target="../media/media2.MOV"/></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12B8-20B0-6CD5-0B3A-49E60F0ED368}"/>
              </a:ext>
            </a:extLst>
          </p:cNvPr>
          <p:cNvSpPr>
            <a:spLocks noGrp="1"/>
          </p:cNvSpPr>
          <p:nvPr>
            <p:ph type="ctrTitle"/>
          </p:nvPr>
        </p:nvSpPr>
        <p:spPr/>
        <p:txBody>
          <a:bodyPr/>
          <a:lstStyle/>
          <a:p>
            <a:r>
              <a:rPr lang="en-NZ" noProof="0" dirty="0"/>
              <a:t>AS91904 Electronics Outcome</a:t>
            </a:r>
          </a:p>
        </p:txBody>
      </p:sp>
      <p:sp>
        <p:nvSpPr>
          <p:cNvPr id="3" name="Subtitle 2">
            <a:extLst>
              <a:ext uri="{FF2B5EF4-FFF2-40B4-BE49-F238E27FC236}">
                <a16:creationId xmlns:a16="http://schemas.microsoft.com/office/drawing/2014/main" id="{F66D802B-CDB6-E9D2-44F0-86BC0E80FB38}"/>
              </a:ext>
            </a:extLst>
          </p:cNvPr>
          <p:cNvSpPr>
            <a:spLocks noGrp="1"/>
          </p:cNvSpPr>
          <p:nvPr>
            <p:ph type="subTitle" idx="1"/>
          </p:nvPr>
        </p:nvSpPr>
        <p:spPr/>
        <p:txBody>
          <a:bodyPr>
            <a:normAutofit/>
          </a:bodyPr>
          <a:lstStyle/>
          <a:p>
            <a:r>
              <a:rPr lang="en-NZ" noProof="0" dirty="0"/>
              <a:t>Student Name: Heinrich venter</a:t>
            </a:r>
            <a:br>
              <a:rPr lang="en-NZ" noProof="0" dirty="0"/>
            </a:br>
            <a:r>
              <a:rPr lang="en-NZ" noProof="0" dirty="0"/>
              <a:t>Project Name:</a:t>
            </a:r>
            <a:r>
              <a:rPr lang="en-NZ" dirty="0"/>
              <a:t>hybrid </a:t>
            </a:r>
            <a:r>
              <a:rPr lang="en-NZ" dirty="0" err="1"/>
              <a:t>pitbike</a:t>
            </a:r>
            <a:endParaRPr lang="en-NZ" noProof="0" dirty="0"/>
          </a:p>
        </p:txBody>
      </p:sp>
    </p:spTree>
    <p:extLst>
      <p:ext uri="{BB962C8B-B14F-4D97-AF65-F5344CB8AC3E}">
        <p14:creationId xmlns:p14="http://schemas.microsoft.com/office/powerpoint/2010/main" val="730004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FC11F-97EB-B839-6C45-028E3079F8C7}"/>
              </a:ext>
            </a:extLst>
          </p:cNvPr>
          <p:cNvSpPr>
            <a:spLocks noGrp="1"/>
          </p:cNvSpPr>
          <p:nvPr>
            <p:ph type="title"/>
          </p:nvPr>
        </p:nvSpPr>
        <p:spPr>
          <a:solidFill>
            <a:srgbClr val="FF5050"/>
          </a:solidFill>
        </p:spPr>
        <p:txBody>
          <a:bodyPr/>
          <a:lstStyle/>
          <a:p>
            <a:r>
              <a:rPr lang="en-NZ" noProof="0" dirty="0"/>
              <a:t>Project Details</a:t>
            </a:r>
          </a:p>
        </p:txBody>
      </p:sp>
      <p:sp>
        <p:nvSpPr>
          <p:cNvPr id="3" name="Content Placeholder 2">
            <a:extLst>
              <a:ext uri="{FF2B5EF4-FFF2-40B4-BE49-F238E27FC236}">
                <a16:creationId xmlns:a16="http://schemas.microsoft.com/office/drawing/2014/main" id="{EB73A0B0-8C2E-99B2-DFB1-974EF0CDEB52}"/>
              </a:ext>
            </a:extLst>
          </p:cNvPr>
          <p:cNvSpPr>
            <a:spLocks noGrp="1"/>
          </p:cNvSpPr>
          <p:nvPr>
            <p:ph idx="1"/>
          </p:nvPr>
        </p:nvSpPr>
        <p:spPr>
          <a:solidFill>
            <a:srgbClr val="FFCCCC"/>
          </a:solidFill>
        </p:spPr>
        <p:txBody>
          <a:bodyPr/>
          <a:lstStyle/>
          <a:p>
            <a:pPr marL="0" indent="0">
              <a:buNone/>
            </a:pPr>
            <a:r>
              <a:rPr lang="en-NZ" noProof="0" dirty="0"/>
              <a:t>Describe your project here:</a:t>
            </a:r>
            <a:r>
              <a:rPr lang="en-NZ" dirty="0"/>
              <a:t> This project is a hybrid 70cc pit bike that combines a petrol engine with an 800 W, 36 V electric motor to improve low-speed torque and acceleration. An ESP32 uses analogue and digital Hall effect sensors to monitor throttle position and engine speed, then controls the electric motor through a motor controller. An electromagnetic clutch engages the motor only when assistance is needed, creating a hybrid drivetrain that combines mechanical and electronic systems.</a:t>
            </a:r>
            <a:br>
              <a:rPr lang="en-NZ" noProof="0" dirty="0"/>
            </a:br>
            <a:br>
              <a:rPr lang="en-NZ" noProof="0" dirty="0"/>
            </a:br>
            <a:br>
              <a:rPr lang="en-NZ" noProof="0" dirty="0"/>
            </a:br>
            <a:endParaRPr lang="en-NZ" noProof="0" dirty="0"/>
          </a:p>
        </p:txBody>
      </p:sp>
    </p:spTree>
    <p:extLst>
      <p:ext uri="{BB962C8B-B14F-4D97-AF65-F5344CB8AC3E}">
        <p14:creationId xmlns:p14="http://schemas.microsoft.com/office/powerpoint/2010/main" val="4293113589"/>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28E67-C358-B25E-8DC5-C2B61C5D2D10}"/>
              </a:ext>
            </a:extLst>
          </p:cNvPr>
          <p:cNvSpPr>
            <a:spLocks noGrp="1"/>
          </p:cNvSpPr>
          <p:nvPr>
            <p:ph type="title"/>
          </p:nvPr>
        </p:nvSpPr>
        <p:spPr>
          <a:solidFill>
            <a:srgbClr val="FF5050"/>
          </a:solidFill>
        </p:spPr>
        <p:txBody>
          <a:bodyPr/>
          <a:lstStyle/>
          <a:p>
            <a:r>
              <a:rPr lang="en-NZ" noProof="0" dirty="0"/>
              <a:t>Techniques used</a:t>
            </a:r>
          </a:p>
        </p:txBody>
      </p:sp>
      <p:sp>
        <p:nvSpPr>
          <p:cNvPr id="3" name="Content Placeholder 2">
            <a:extLst>
              <a:ext uri="{FF2B5EF4-FFF2-40B4-BE49-F238E27FC236}">
                <a16:creationId xmlns:a16="http://schemas.microsoft.com/office/drawing/2014/main" id="{48517805-ABAD-9125-D5EB-9C37B582DC52}"/>
              </a:ext>
            </a:extLst>
          </p:cNvPr>
          <p:cNvSpPr>
            <a:spLocks noGrp="1"/>
          </p:cNvSpPr>
          <p:nvPr>
            <p:ph idx="1"/>
          </p:nvPr>
        </p:nvSpPr>
        <p:spPr>
          <a:xfrm>
            <a:off x="838201" y="1825625"/>
            <a:ext cx="3419167" cy="4351338"/>
          </a:xfrm>
          <a:solidFill>
            <a:srgbClr val="FFCCCC"/>
          </a:solidFill>
        </p:spPr>
        <p:txBody>
          <a:bodyPr>
            <a:normAutofit fontScale="70000" lnSpcReduction="20000"/>
          </a:bodyPr>
          <a:lstStyle/>
          <a:p>
            <a:pPr marL="0" indent="0">
              <a:buNone/>
            </a:pPr>
            <a:r>
              <a:rPr lang="en-NZ" noProof="0" dirty="0"/>
              <a:t>Technique 1: Implementing communication protocols</a:t>
            </a:r>
          </a:p>
          <a:p>
            <a:pPr marL="0" indent="0">
              <a:buNone/>
            </a:pPr>
            <a:endParaRPr lang="en-NZ" noProof="0" dirty="0"/>
          </a:p>
          <a:p>
            <a:pPr marL="0" indent="0">
              <a:buNone/>
            </a:pPr>
            <a:r>
              <a:rPr lang="en-NZ" noProof="0" dirty="0"/>
              <a:t>Evidence:</a:t>
            </a:r>
          </a:p>
          <a:p>
            <a:pPr marL="0" indent="0">
              <a:buNone/>
            </a:pPr>
            <a:r>
              <a:rPr lang="en-NZ" dirty="0"/>
              <a:t>I will meet this requirement by using I2C communication to connect the ESP32 to the OLED dashboard display. This allows important information such as speed and RPM data to be transferred to the display while only using two communication pins, leaving the remaining pins available for other sensors and system components.</a:t>
            </a:r>
            <a:endParaRPr lang="en-NZ" noProof="0" dirty="0"/>
          </a:p>
        </p:txBody>
      </p:sp>
      <p:sp>
        <p:nvSpPr>
          <p:cNvPr id="4" name="Content Placeholder 2">
            <a:extLst>
              <a:ext uri="{FF2B5EF4-FFF2-40B4-BE49-F238E27FC236}">
                <a16:creationId xmlns:a16="http://schemas.microsoft.com/office/drawing/2014/main" id="{6748CEDE-0DB3-164E-E438-A407CD2F953C}"/>
              </a:ext>
            </a:extLst>
          </p:cNvPr>
          <p:cNvSpPr txBox="1">
            <a:spLocks/>
          </p:cNvSpPr>
          <p:nvPr/>
        </p:nvSpPr>
        <p:spPr>
          <a:xfrm>
            <a:off x="7580671" y="1825625"/>
            <a:ext cx="3773129" cy="4351338"/>
          </a:xfrm>
          <a:prstGeom prst="rect">
            <a:avLst/>
          </a:prstGeom>
          <a:solidFill>
            <a:srgbClr val="FFCCCC"/>
          </a:solidFill>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NZ" noProof="0" dirty="0"/>
              <a:t>Technique 2: </a:t>
            </a:r>
            <a:r>
              <a:rPr lang="en-US" dirty="0"/>
              <a:t>Filtering, noise and EMI suppression</a:t>
            </a:r>
          </a:p>
          <a:p>
            <a:pPr marL="0" indent="0">
              <a:buFont typeface="Arial" panose="020B0604020202020204" pitchFamily="34" charset="0"/>
              <a:buNone/>
            </a:pPr>
            <a:endParaRPr lang="en-NZ" noProof="0" dirty="0"/>
          </a:p>
          <a:p>
            <a:pPr marL="0" indent="0">
              <a:buFont typeface="Arial" panose="020B0604020202020204" pitchFamily="34" charset="0"/>
              <a:buNone/>
            </a:pPr>
            <a:r>
              <a:rPr lang="en-NZ" noProof="0" dirty="0"/>
              <a:t>Evidence:</a:t>
            </a:r>
          </a:p>
          <a:p>
            <a:pPr marL="0" indent="0">
              <a:buNone/>
            </a:pPr>
            <a:r>
              <a:rPr lang="en-NZ" dirty="0"/>
              <a:t>I will meet this requirement by adding filtering components, such as 0.1µF ceramic capacitors, to reduce electrical noise caused by the high-current electric motor. This will improve the reliability of the Hall effect sensors, LED indicators, and battery monitoring system by providing more stable and accurate readings.</a:t>
            </a:r>
            <a:br>
              <a:rPr lang="en-US" dirty="0"/>
            </a:br>
            <a:endParaRPr lang="en-US" dirty="0"/>
          </a:p>
          <a:p>
            <a:pPr marL="0" indent="0">
              <a:buFont typeface="Arial" panose="020B0604020202020204" pitchFamily="34" charset="0"/>
              <a:buNone/>
            </a:pPr>
            <a:endParaRPr lang="en-NZ" noProof="0" dirty="0"/>
          </a:p>
          <a:p>
            <a:pPr marL="0" indent="0">
              <a:buFont typeface="Arial" panose="020B0604020202020204" pitchFamily="34" charset="0"/>
              <a:buNone/>
            </a:pPr>
            <a:endParaRPr lang="en-NZ" noProof="0" dirty="0"/>
          </a:p>
        </p:txBody>
      </p:sp>
      <p:sp>
        <p:nvSpPr>
          <p:cNvPr id="6" name="Content Placeholder 2">
            <a:extLst>
              <a:ext uri="{FF2B5EF4-FFF2-40B4-BE49-F238E27FC236}">
                <a16:creationId xmlns:a16="http://schemas.microsoft.com/office/drawing/2014/main" id="{EED03FF5-47BD-3A7B-FF9B-170CD3F3BE90}"/>
              </a:ext>
            </a:extLst>
          </p:cNvPr>
          <p:cNvSpPr txBox="1">
            <a:spLocks/>
          </p:cNvSpPr>
          <p:nvPr/>
        </p:nvSpPr>
        <p:spPr>
          <a:xfrm>
            <a:off x="4161504" y="1825625"/>
            <a:ext cx="3419167" cy="4351338"/>
          </a:xfrm>
          <a:prstGeom prst="rect">
            <a:avLst/>
          </a:prstGeom>
          <a:solidFill>
            <a:schemeClr val="bg2">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NZ" sz="2000" noProof="0" dirty="0"/>
              <a:t>Techniques could be:</a:t>
            </a:r>
          </a:p>
          <a:p>
            <a:r>
              <a:rPr lang="en-NZ" sz="2000" b="1" dirty="0"/>
              <a:t>implementing communication protocols</a:t>
            </a:r>
          </a:p>
          <a:p>
            <a:r>
              <a:rPr lang="en-NZ" sz="2000" dirty="0"/>
              <a:t>Wireless transfer of information</a:t>
            </a:r>
          </a:p>
          <a:p>
            <a:r>
              <a:rPr lang="en-NZ" sz="2000" dirty="0"/>
              <a:t>Feedback control</a:t>
            </a:r>
          </a:p>
          <a:p>
            <a:r>
              <a:rPr lang="en-US" sz="2000" dirty="0"/>
              <a:t>Implementing software flags and interrupts </a:t>
            </a:r>
          </a:p>
          <a:p>
            <a:r>
              <a:rPr lang="en-US" sz="2000" dirty="0"/>
              <a:t>CAD design, 3D printing, CNC, PCB making </a:t>
            </a:r>
          </a:p>
          <a:p>
            <a:r>
              <a:rPr lang="en-US" sz="2000" dirty="0"/>
              <a:t>filtering, noise and EMI suppression.</a:t>
            </a:r>
            <a:endParaRPr lang="en-NZ" sz="2000" noProof="0" dirty="0"/>
          </a:p>
        </p:txBody>
      </p:sp>
    </p:spTree>
    <p:extLst>
      <p:ext uri="{BB962C8B-B14F-4D97-AF65-F5344CB8AC3E}">
        <p14:creationId xmlns:p14="http://schemas.microsoft.com/office/powerpoint/2010/main" val="2407707907"/>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B2FDF-320D-4BBD-D480-A4F954A02710}"/>
              </a:ext>
            </a:extLst>
          </p:cNvPr>
          <p:cNvSpPr>
            <a:spLocks noGrp="1"/>
          </p:cNvSpPr>
          <p:nvPr>
            <p:ph type="title"/>
          </p:nvPr>
        </p:nvSpPr>
        <p:spPr/>
        <p:txBody>
          <a:bodyPr/>
          <a:lstStyle/>
          <a:p>
            <a:r>
              <a:rPr lang="en-NZ" noProof="0" dirty="0"/>
              <a:t>Relevant Implications</a:t>
            </a:r>
          </a:p>
        </p:txBody>
      </p:sp>
      <p:graphicFrame>
        <p:nvGraphicFramePr>
          <p:cNvPr id="5" name="Table 4">
            <a:extLst>
              <a:ext uri="{FF2B5EF4-FFF2-40B4-BE49-F238E27FC236}">
                <a16:creationId xmlns:a16="http://schemas.microsoft.com/office/drawing/2014/main" id="{F519459D-F748-3377-4E55-D51E89AF6AC2}"/>
              </a:ext>
            </a:extLst>
          </p:cNvPr>
          <p:cNvGraphicFramePr>
            <a:graphicFrameLocks noGrp="1"/>
          </p:cNvGraphicFramePr>
          <p:nvPr>
            <p:extLst>
              <p:ext uri="{D42A27DB-BD31-4B8C-83A1-F6EECF244321}">
                <p14:modId xmlns:p14="http://schemas.microsoft.com/office/powerpoint/2010/main" val="3206773261"/>
              </p:ext>
            </p:extLst>
          </p:nvPr>
        </p:nvGraphicFramePr>
        <p:xfrm>
          <a:off x="392784" y="1951294"/>
          <a:ext cx="11406432" cy="10778791"/>
        </p:xfrm>
        <a:graphic>
          <a:graphicData uri="http://schemas.openxmlformats.org/drawingml/2006/table">
            <a:tbl>
              <a:tblPr firstRow="1" bandRow="1">
                <a:tableStyleId>{5C22544A-7EE6-4342-B048-85BDC9FD1C3A}</a:tableStyleId>
              </a:tblPr>
              <a:tblGrid>
                <a:gridCol w="3802144">
                  <a:extLst>
                    <a:ext uri="{9D8B030D-6E8A-4147-A177-3AD203B41FA5}">
                      <a16:colId xmlns:a16="http://schemas.microsoft.com/office/drawing/2014/main" val="432899679"/>
                    </a:ext>
                  </a:extLst>
                </a:gridCol>
                <a:gridCol w="3802144">
                  <a:extLst>
                    <a:ext uri="{9D8B030D-6E8A-4147-A177-3AD203B41FA5}">
                      <a16:colId xmlns:a16="http://schemas.microsoft.com/office/drawing/2014/main" val="1221611069"/>
                    </a:ext>
                  </a:extLst>
                </a:gridCol>
                <a:gridCol w="3802144">
                  <a:extLst>
                    <a:ext uri="{9D8B030D-6E8A-4147-A177-3AD203B41FA5}">
                      <a16:colId xmlns:a16="http://schemas.microsoft.com/office/drawing/2014/main" val="1564170305"/>
                    </a:ext>
                  </a:extLst>
                </a:gridCol>
              </a:tblGrid>
              <a:tr h="811831">
                <a:tc>
                  <a:txBody>
                    <a:bodyPr/>
                    <a:lstStyle/>
                    <a:p>
                      <a:r>
                        <a:rPr lang="en-NZ" noProof="0" dirty="0"/>
                        <a:t>Description of Implication</a:t>
                      </a:r>
                      <a:br>
                        <a:rPr lang="en-NZ" noProof="0" dirty="0"/>
                      </a:br>
                      <a:r>
                        <a:rPr lang="en-NZ" noProof="0" dirty="0"/>
                        <a:t>(What Where Why)</a:t>
                      </a:r>
                    </a:p>
                  </a:txBody>
                  <a:tcPr>
                    <a:solidFill>
                      <a:srgbClr val="FF5050"/>
                    </a:solidFill>
                  </a:tcPr>
                </a:tc>
                <a:tc>
                  <a:txBody>
                    <a:bodyPr/>
                    <a:lstStyle/>
                    <a:p>
                      <a:r>
                        <a:rPr lang="en-NZ" noProof="0" dirty="0"/>
                        <a:t>Explanation of Implication</a:t>
                      </a:r>
                      <a:br>
                        <a:rPr lang="en-NZ" noProof="0" dirty="0"/>
                      </a:br>
                      <a:r>
                        <a:rPr lang="en-NZ" noProof="0" dirty="0"/>
                        <a:t>(How, Why)</a:t>
                      </a:r>
                    </a:p>
                  </a:txBody>
                  <a:tcPr>
                    <a:solidFill>
                      <a:srgbClr val="FF5050"/>
                    </a:solidFill>
                  </a:tcPr>
                </a:tc>
                <a:tc>
                  <a:txBody>
                    <a:bodyPr/>
                    <a:lstStyle/>
                    <a:p>
                      <a:r>
                        <a:rPr lang="en-NZ" noProof="0" dirty="0"/>
                        <a:t>Evidence of addressing.</a:t>
                      </a:r>
                    </a:p>
                  </a:txBody>
                  <a:tcPr>
                    <a:solidFill>
                      <a:srgbClr val="FF5050"/>
                    </a:solidFill>
                  </a:tcPr>
                </a:tc>
                <a:extLst>
                  <a:ext uri="{0D108BD9-81ED-4DB2-BD59-A6C34878D82A}">
                    <a16:rowId xmlns:a16="http://schemas.microsoft.com/office/drawing/2014/main" val="2823653061"/>
                  </a:ext>
                </a:extLst>
              </a:tr>
              <a:tr h="811831">
                <a:tc>
                  <a:txBody>
                    <a:bodyPr/>
                    <a:lstStyle/>
                    <a:p>
                      <a:r>
                        <a:rPr lang="en-US" sz="1800" b="1" kern="1200" dirty="0">
                          <a:solidFill>
                            <a:schemeClr val="dk1"/>
                          </a:solidFill>
                          <a:effectLst/>
                          <a:latin typeface="+mn-lt"/>
                          <a:ea typeface="+mn-ea"/>
                          <a:cs typeface="+mn-cs"/>
                        </a:rPr>
                        <a:t>Accessibility </a:t>
                      </a:r>
                      <a:r>
                        <a:rPr lang="en-US" sz="1800" kern="1200" dirty="0">
                          <a:solidFill>
                            <a:schemeClr val="dk1"/>
                          </a:solidFill>
                          <a:effectLst/>
                          <a:latin typeface="+mn-lt"/>
                          <a:ea typeface="+mn-ea"/>
                          <a:cs typeface="+mn-cs"/>
                        </a:rPr>
                        <a:t>for the </a:t>
                      </a:r>
                      <a:r>
                        <a:rPr lang="en-US" sz="1800" kern="1200" dirty="0" err="1">
                          <a:solidFill>
                            <a:schemeClr val="dk1"/>
                          </a:solidFill>
                          <a:effectLst/>
                          <a:latin typeface="+mn-lt"/>
                          <a:ea typeface="+mn-ea"/>
                          <a:cs typeface="+mn-cs"/>
                        </a:rPr>
                        <a:t>pitbike</a:t>
                      </a:r>
                      <a:r>
                        <a:rPr lang="en-US" sz="1800" kern="1200" dirty="0">
                          <a:solidFill>
                            <a:schemeClr val="dk1"/>
                          </a:solidFill>
                          <a:effectLst/>
                          <a:latin typeface="+mn-lt"/>
                          <a:ea typeface="+mn-ea"/>
                          <a:cs typeface="+mn-cs"/>
                        </a:rPr>
                        <a:t> means the bike’s controls, indicators, and basic functions need to be understandable and manageable for a range of riders. This includes clear visual indicators, easy-to-reach switches, and controls that don’t require excessive strength.</a:t>
                      </a:r>
                      <a:endParaRPr lang="en-NZ" sz="1200" noProof="0" dirty="0"/>
                    </a:p>
                  </a:txBody>
                  <a:tcPr>
                    <a:solidFill>
                      <a:srgbClr val="FFCCCC"/>
                    </a:solidFill>
                  </a:tcPr>
                </a:tc>
                <a:tc>
                  <a:txBody>
                    <a:bodyPr/>
                    <a:lstStyle/>
                    <a:p>
                      <a:r>
                        <a:rPr lang="en-NZ" sz="1800" kern="1200" dirty="0">
                          <a:solidFill>
                            <a:schemeClr val="dk1"/>
                          </a:solidFill>
                          <a:effectLst/>
                          <a:latin typeface="+mn-lt"/>
                          <a:ea typeface="+mn-ea"/>
                          <a:cs typeface="+mn-cs"/>
                        </a:rPr>
                        <a:t>It is important because riders need to operate the hybrid system, throttle, and display safely without confusion. I will address this by using clearly labelled switches, simple control layouts, and making sure components like the electric–petrol mode indicator are easy to read.</a:t>
                      </a:r>
                      <a:endParaRPr lang="en-NZ" sz="1200" noProof="0" dirty="0"/>
                    </a:p>
                  </a:txBody>
                  <a:tcPr>
                    <a:solidFill>
                      <a:srgbClr val="FFCCCC"/>
                    </a:solidFill>
                  </a:tcPr>
                </a:tc>
                <a:tc>
                  <a:txBody>
                    <a:bodyPr/>
                    <a:lstStyle/>
                    <a:p>
                      <a:r>
                        <a:rPr lang="en-NZ" sz="1200" noProof="0" dirty="0"/>
                        <a:t>This was done by coding and producing a dashboard with 2 lines of leds one for the motor rpm and the other for the engine rpm to see when the clutch has to disengage and when the gear on the engine has to change as well as a Oled screen to see the speed of the bike as well as a second screen for sensor values so that troubleshooting can be done on the fly without needing a phone (for simpler usability)</a:t>
                      </a:r>
                    </a:p>
                  </a:txBody>
                  <a:tcPr>
                    <a:solidFill>
                      <a:srgbClr val="FFCCCC"/>
                    </a:solidFill>
                  </a:tcPr>
                </a:tc>
                <a:extLst>
                  <a:ext uri="{0D108BD9-81ED-4DB2-BD59-A6C34878D82A}">
                    <a16:rowId xmlns:a16="http://schemas.microsoft.com/office/drawing/2014/main" val="2120864744"/>
                  </a:ext>
                </a:extLst>
              </a:tr>
              <a:tr h="811831">
                <a:tc>
                  <a:txBody>
                    <a:bodyPr/>
                    <a:lstStyle/>
                    <a:p>
                      <a:r>
                        <a:rPr lang="en-NZ" sz="1800" kern="1200" dirty="0">
                          <a:solidFill>
                            <a:schemeClr val="dk1"/>
                          </a:solidFill>
                          <a:effectLst/>
                          <a:latin typeface="+mn-lt"/>
                          <a:ea typeface="+mn-ea"/>
                          <a:cs typeface="+mn-cs"/>
                        </a:rPr>
                        <a:t>Usability relates to how easy it is to understand and use the </a:t>
                      </a:r>
                      <a:r>
                        <a:rPr lang="en-NZ" sz="1800" kern="1200" dirty="0" err="1">
                          <a:solidFill>
                            <a:schemeClr val="dk1"/>
                          </a:solidFill>
                          <a:effectLst/>
                          <a:latin typeface="+mn-lt"/>
                          <a:ea typeface="+mn-ea"/>
                          <a:cs typeface="+mn-cs"/>
                        </a:rPr>
                        <a:t>pitbike’s</a:t>
                      </a:r>
                      <a:r>
                        <a:rPr lang="en-NZ" sz="1800" kern="1200" dirty="0">
                          <a:solidFill>
                            <a:schemeClr val="dk1"/>
                          </a:solidFill>
                          <a:effectLst/>
                          <a:latin typeface="+mn-lt"/>
                          <a:ea typeface="+mn-ea"/>
                          <a:cs typeface="+mn-cs"/>
                        </a:rPr>
                        <a:t> hybrid systems, such as switching modes, checking battery levels, or starting the bike. The design needs to feel intuitive even for new riders.</a:t>
                      </a:r>
                      <a:endParaRPr lang="en-NZ" sz="1200" noProof="0" dirty="0"/>
                    </a:p>
                  </a:txBody>
                  <a:tcPr>
                    <a:solidFill>
                      <a:srgbClr val="FFCCCC"/>
                    </a:solidFill>
                  </a:tcPr>
                </a:tc>
                <a:tc>
                  <a:txBody>
                    <a:bodyPr/>
                    <a:lstStyle/>
                    <a:p>
                      <a:r>
                        <a:rPr lang="en-NZ" sz="1800" kern="1200" dirty="0">
                          <a:solidFill>
                            <a:schemeClr val="dk1"/>
                          </a:solidFill>
                          <a:effectLst/>
                          <a:latin typeface="+mn-lt"/>
                          <a:ea typeface="+mn-ea"/>
                          <a:cs typeface="+mn-cs"/>
                        </a:rPr>
                        <a:t>It matters because if the interface is confusing, the rider could misuse the bike or struggle during operation. I will address this by keeping the hybrid controls simple, limiting unnecessary switches, and providing a logical layout similar to standard </a:t>
                      </a:r>
                      <a:r>
                        <a:rPr lang="en-NZ" sz="1800" kern="1200" dirty="0" err="1">
                          <a:solidFill>
                            <a:schemeClr val="dk1"/>
                          </a:solidFill>
                          <a:effectLst/>
                          <a:latin typeface="+mn-lt"/>
                          <a:ea typeface="+mn-ea"/>
                          <a:cs typeface="+mn-cs"/>
                        </a:rPr>
                        <a:t>pitbikes</a:t>
                      </a:r>
                      <a:r>
                        <a:rPr lang="en-NZ" sz="1800" kern="1200" dirty="0">
                          <a:solidFill>
                            <a:schemeClr val="dk1"/>
                          </a:solidFill>
                          <a:effectLst/>
                          <a:latin typeface="+mn-lt"/>
                          <a:ea typeface="+mn-ea"/>
                          <a:cs typeface="+mn-cs"/>
                        </a:rPr>
                        <a:t> so it feels familiar.</a:t>
                      </a:r>
                      <a:endParaRPr lang="en-NZ" sz="1200" noProof="0" dirty="0"/>
                    </a:p>
                  </a:txBody>
                  <a:tcPr>
                    <a:solidFill>
                      <a:srgbClr val="FFCCCC"/>
                    </a:solidFill>
                  </a:tcPr>
                </a:tc>
                <a:tc>
                  <a:txBody>
                    <a:bodyPr/>
                    <a:lstStyle/>
                    <a:p>
                      <a:r>
                        <a:rPr lang="en-NZ" sz="1200" dirty="0"/>
                        <a:t>Mapping the analogue throttle Hall sensors linearly alongside the petrol throttle, using software constraints </a:t>
                      </a:r>
                      <a:r>
                        <a:rPr lang="en-NZ" sz="1050" dirty="0"/>
                        <a:t>(</a:t>
                      </a:r>
                      <a:r>
                        <a:rPr lang="en-NZ" sz="1050" b="0" u="none" strike="noStrike" kern="1200" dirty="0">
                          <a:solidFill>
                            <a:schemeClr val="dk1"/>
                          </a:solidFill>
                          <a:effectLst/>
                          <a:latin typeface="+mn-lt"/>
                          <a:ea typeface="+mn-ea"/>
                          <a:cs typeface="+mn-cs"/>
                        </a:rPr>
                        <a:t>constrain(</a:t>
                      </a:r>
                      <a:r>
                        <a:rPr lang="en-NZ" sz="1050" b="0" u="none" strike="noStrike" kern="1200" dirty="0" err="1">
                          <a:solidFill>
                            <a:schemeClr val="dk1"/>
                          </a:solidFill>
                          <a:effectLst/>
                          <a:latin typeface="+mn-lt"/>
                          <a:ea typeface="+mn-ea"/>
                          <a:cs typeface="+mn-cs"/>
                        </a:rPr>
                        <a:t>throttlePercent</a:t>
                      </a:r>
                      <a:r>
                        <a:rPr lang="en-NZ" sz="1050" b="0" u="none" strike="noStrike" kern="1200" dirty="0">
                          <a:solidFill>
                            <a:schemeClr val="dk1"/>
                          </a:solidFill>
                          <a:effectLst/>
                          <a:latin typeface="+mn-lt"/>
                          <a:ea typeface="+mn-ea"/>
                          <a:cs typeface="+mn-cs"/>
                        </a:rPr>
                        <a:t>, 0, 100)</a:t>
                      </a:r>
                      <a:r>
                        <a:rPr lang="en-NZ" sz="1050" dirty="0"/>
                        <a:t>).</a:t>
                      </a:r>
                      <a:endParaRPr lang="en-NZ" sz="1050" noProof="0" dirty="0"/>
                    </a:p>
                  </a:txBody>
                  <a:tcPr>
                    <a:solidFill>
                      <a:srgbClr val="FFCCCC"/>
                    </a:solidFill>
                  </a:tcPr>
                </a:tc>
                <a:extLst>
                  <a:ext uri="{0D108BD9-81ED-4DB2-BD59-A6C34878D82A}">
                    <a16:rowId xmlns:a16="http://schemas.microsoft.com/office/drawing/2014/main" val="570688745"/>
                  </a:ext>
                </a:extLst>
              </a:tr>
              <a:tr h="811831">
                <a:tc>
                  <a:txBody>
                    <a:bodyPr/>
                    <a:lstStyle/>
                    <a:p>
                      <a:r>
                        <a:rPr lang="en-US" sz="1800" kern="1200" dirty="0">
                          <a:solidFill>
                            <a:schemeClr val="dk1"/>
                          </a:solidFill>
                          <a:effectLst/>
                          <a:latin typeface="+mn-lt"/>
                          <a:ea typeface="+mn-ea"/>
                          <a:cs typeface="+mn-cs"/>
                        </a:rPr>
                        <a:t>Functionality refers to how well the 70cc hybrid </a:t>
                      </a:r>
                      <a:r>
                        <a:rPr lang="en-US" sz="1800" kern="1200" dirty="0" err="1">
                          <a:solidFill>
                            <a:schemeClr val="dk1"/>
                          </a:solidFill>
                          <a:effectLst/>
                          <a:latin typeface="+mn-lt"/>
                          <a:ea typeface="+mn-ea"/>
                          <a:cs typeface="+mn-cs"/>
                        </a:rPr>
                        <a:t>pitbike</a:t>
                      </a:r>
                      <a:r>
                        <a:rPr lang="en-US" sz="1800" kern="1200" dirty="0">
                          <a:solidFill>
                            <a:schemeClr val="dk1"/>
                          </a:solidFill>
                          <a:effectLst/>
                          <a:latin typeface="+mn-lt"/>
                          <a:ea typeface="+mn-ea"/>
                          <a:cs typeface="+mn-cs"/>
                        </a:rPr>
                        <a:t> performs its intended purpose—delivering reliable petrol and electric operation, smooth power delivery, and stable riding. It also includes ensuring the components (battery, controller, mechanical systems) work together correctly.</a:t>
                      </a:r>
                      <a:endParaRPr lang="en-NZ" sz="1200" noProof="0" dirty="0"/>
                    </a:p>
                  </a:txBody>
                  <a:tcPr>
                    <a:solidFill>
                      <a:srgbClr val="FFCCCC"/>
                    </a:solidFill>
                  </a:tcPr>
                </a:tc>
                <a:tc>
                  <a:txBody>
                    <a:bodyPr/>
                    <a:lstStyle/>
                    <a:p>
                      <a:r>
                        <a:rPr lang="en-NZ" sz="1800" kern="1200" dirty="0">
                          <a:solidFill>
                            <a:schemeClr val="dk1"/>
                          </a:solidFill>
                          <a:effectLst/>
                          <a:latin typeface="+mn-lt"/>
                          <a:ea typeface="+mn-ea"/>
                          <a:cs typeface="+mn-cs"/>
                        </a:rPr>
                        <a:t>It is important because the bike must be reliable and safe. I will address this by testing the hybrid system regularly, checking wiring, ensuring the mechanical and electrical parts don’t interfere with each other, and confirming that power output remains stable.</a:t>
                      </a:r>
                      <a:endParaRPr lang="en-NZ" sz="1200" noProof="0" dirty="0"/>
                    </a:p>
                  </a:txBody>
                  <a:tcPr>
                    <a:solidFill>
                      <a:srgbClr val="FFCCCC"/>
                    </a:solidFill>
                  </a:tcPr>
                </a:tc>
                <a:tc>
                  <a:txBody>
                    <a:bodyPr/>
                    <a:lstStyle/>
                    <a:p>
                      <a:r>
                        <a:rPr lang="en-NZ" sz="1100" dirty="0"/>
                        <a:t>Offloading sensor pulses to low-overhead interrupts (</a:t>
                      </a:r>
                      <a:r>
                        <a:rPr lang="en-NZ" sz="1100" b="0" u="none" strike="noStrike" kern="1200" dirty="0" err="1">
                          <a:solidFill>
                            <a:schemeClr val="dk1"/>
                          </a:solidFill>
                          <a:effectLst/>
                          <a:latin typeface="+mn-lt"/>
                          <a:ea typeface="+mn-ea"/>
                          <a:cs typeface="+mn-cs"/>
                        </a:rPr>
                        <a:t>enginePulse</a:t>
                      </a:r>
                      <a:r>
                        <a:rPr lang="en-NZ" sz="1100" dirty="0"/>
                        <a:t>, </a:t>
                      </a:r>
                      <a:r>
                        <a:rPr lang="en-NZ" sz="1100" b="0" u="none" strike="noStrike" kern="1200" dirty="0" err="1">
                          <a:solidFill>
                            <a:schemeClr val="dk1"/>
                          </a:solidFill>
                          <a:effectLst/>
                          <a:latin typeface="+mn-lt"/>
                          <a:ea typeface="+mn-ea"/>
                          <a:cs typeface="+mn-cs"/>
                        </a:rPr>
                        <a:t>matchPulse</a:t>
                      </a:r>
                      <a:r>
                        <a:rPr lang="en-NZ" sz="1100" dirty="0"/>
                        <a:t>, </a:t>
                      </a:r>
                      <a:r>
                        <a:rPr lang="en-NZ" sz="1100" b="0" u="none" strike="noStrike" kern="1200" dirty="0" err="1">
                          <a:solidFill>
                            <a:schemeClr val="dk1"/>
                          </a:solidFill>
                          <a:effectLst/>
                          <a:latin typeface="+mn-lt"/>
                          <a:ea typeface="+mn-ea"/>
                          <a:cs typeface="+mn-cs"/>
                        </a:rPr>
                        <a:t>motorPulse</a:t>
                      </a:r>
                      <a:r>
                        <a:rPr lang="en-NZ" sz="1100" dirty="0"/>
                        <a:t>), allowing the VCU to match shaft speeds before engaging the 24V clutch.</a:t>
                      </a:r>
                      <a:endParaRPr lang="en-NZ" sz="1100" noProof="0" dirty="0"/>
                    </a:p>
                  </a:txBody>
                  <a:tcPr>
                    <a:solidFill>
                      <a:srgbClr val="FFCCCC"/>
                    </a:solidFill>
                  </a:tcPr>
                </a:tc>
                <a:extLst>
                  <a:ext uri="{0D108BD9-81ED-4DB2-BD59-A6C34878D82A}">
                    <a16:rowId xmlns:a16="http://schemas.microsoft.com/office/drawing/2014/main" val="2686728311"/>
                  </a:ext>
                </a:extLst>
              </a:tr>
              <a:tr h="811831">
                <a:tc>
                  <a:txBody>
                    <a:bodyPr/>
                    <a:lstStyle/>
                    <a:p>
                      <a:r>
                        <a:rPr lang="en-NZ" sz="1800" kern="1200" dirty="0">
                          <a:solidFill>
                            <a:schemeClr val="dk1"/>
                          </a:solidFill>
                          <a:effectLst/>
                          <a:latin typeface="+mn-lt"/>
                          <a:ea typeface="+mn-ea"/>
                          <a:cs typeface="+mn-cs"/>
                        </a:rPr>
                        <a:t>Aesthetics for the </a:t>
                      </a:r>
                      <a:r>
                        <a:rPr lang="en-NZ" sz="1800" kern="1200" dirty="0" err="1">
                          <a:solidFill>
                            <a:schemeClr val="dk1"/>
                          </a:solidFill>
                          <a:effectLst/>
                          <a:latin typeface="+mn-lt"/>
                          <a:ea typeface="+mn-ea"/>
                          <a:cs typeface="+mn-cs"/>
                        </a:rPr>
                        <a:t>pitbike</a:t>
                      </a:r>
                      <a:r>
                        <a:rPr lang="en-NZ" sz="1800" kern="1200" dirty="0">
                          <a:solidFill>
                            <a:schemeClr val="dk1"/>
                          </a:solidFill>
                          <a:effectLst/>
                          <a:latin typeface="+mn-lt"/>
                          <a:ea typeface="+mn-ea"/>
                          <a:cs typeface="+mn-cs"/>
                        </a:rPr>
                        <a:t> include the visual design—how the hybrid components are integrated, how tidy the wiring is, and the overall look of the bike. A clean, professional aesthetic helps the bike feel intentional rather than thrown together.</a:t>
                      </a:r>
                      <a:endParaRPr lang="en-NZ" sz="1200" noProof="0" dirty="0"/>
                    </a:p>
                  </a:txBody>
                  <a:tcPr>
                    <a:solidFill>
                      <a:srgbClr val="FFCCCC"/>
                    </a:solidFill>
                  </a:tcPr>
                </a:tc>
                <a:tc>
                  <a:txBody>
                    <a:bodyPr/>
                    <a:lstStyle/>
                    <a:p>
                      <a:r>
                        <a:rPr lang="en-NZ" sz="1800" kern="1200" dirty="0">
                          <a:solidFill>
                            <a:schemeClr val="dk1"/>
                          </a:solidFill>
                          <a:effectLst/>
                          <a:latin typeface="+mn-lt"/>
                          <a:ea typeface="+mn-ea"/>
                          <a:cs typeface="+mn-cs"/>
                        </a:rPr>
                        <a:t>It is important because a well-presented bike improves user confidence and makes maintenance easier. I will address this by organising wiring neatly, using matching colours or covers, and ensuring added components blend with the original frame so the hybrid upgrade looks cohesive.</a:t>
                      </a:r>
                      <a:endParaRPr lang="en-NZ" sz="1200" noProof="0" dirty="0"/>
                    </a:p>
                  </a:txBody>
                  <a:tcPr>
                    <a:solidFill>
                      <a:srgbClr val="FFCCCC"/>
                    </a:solidFill>
                  </a:tcPr>
                </a:tc>
                <a:tc>
                  <a:txBody>
                    <a:bodyPr/>
                    <a:lstStyle/>
                    <a:p>
                      <a:r>
                        <a:rPr lang="en-NZ" sz="1200" dirty="0"/>
                        <a:t>Consolidating loose jumper wires onto a custom dual-layer PCB enclosed in a watertight, form-fitting 3D-printed ABS structural housing shell. </a:t>
                      </a:r>
                      <a:endParaRPr lang="en-NZ" sz="1200" noProof="0" dirty="0"/>
                    </a:p>
                  </a:txBody>
                  <a:tcPr>
                    <a:solidFill>
                      <a:srgbClr val="FFCCCC"/>
                    </a:solidFill>
                  </a:tcPr>
                </a:tc>
                <a:extLst>
                  <a:ext uri="{0D108BD9-81ED-4DB2-BD59-A6C34878D82A}">
                    <a16:rowId xmlns:a16="http://schemas.microsoft.com/office/drawing/2014/main" val="730498769"/>
                  </a:ext>
                </a:extLst>
              </a:tr>
            </a:tbl>
          </a:graphicData>
        </a:graphic>
      </p:graphicFrame>
    </p:spTree>
    <p:extLst>
      <p:ext uri="{BB962C8B-B14F-4D97-AF65-F5344CB8AC3E}">
        <p14:creationId xmlns:p14="http://schemas.microsoft.com/office/powerpoint/2010/main" val="4279029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E497E-C549-2DAD-64FC-FE29C099443A}"/>
              </a:ext>
            </a:extLst>
          </p:cNvPr>
          <p:cNvSpPr>
            <a:spLocks noGrp="1"/>
          </p:cNvSpPr>
          <p:nvPr>
            <p:ph type="title"/>
          </p:nvPr>
        </p:nvSpPr>
        <p:spPr>
          <a:solidFill>
            <a:srgbClr val="FF5050"/>
          </a:solidFill>
        </p:spPr>
        <p:txBody>
          <a:bodyPr/>
          <a:lstStyle/>
          <a:p>
            <a:r>
              <a:rPr lang="en-NZ" noProof="0" dirty="0"/>
              <a:t>Original Design</a:t>
            </a:r>
          </a:p>
        </p:txBody>
      </p:sp>
      <p:sp>
        <p:nvSpPr>
          <p:cNvPr id="3" name="Content Placeholder 2">
            <a:extLst>
              <a:ext uri="{FF2B5EF4-FFF2-40B4-BE49-F238E27FC236}">
                <a16:creationId xmlns:a16="http://schemas.microsoft.com/office/drawing/2014/main" id="{DA45C6F8-39B2-B16D-3499-DEBD85A6474C}"/>
              </a:ext>
            </a:extLst>
          </p:cNvPr>
          <p:cNvSpPr>
            <a:spLocks noGrp="1"/>
          </p:cNvSpPr>
          <p:nvPr>
            <p:ph idx="1"/>
          </p:nvPr>
        </p:nvSpPr>
        <p:spPr/>
        <p:txBody>
          <a:bodyPr/>
          <a:lstStyle/>
          <a:p>
            <a:pPr marL="0" indent="0">
              <a:buNone/>
            </a:pPr>
            <a:r>
              <a:rPr lang="en-NZ" noProof="0" dirty="0"/>
              <a:t>Insert diagram here of electronics outcome</a:t>
            </a:r>
          </a:p>
          <a:p>
            <a:pPr marL="0" indent="0">
              <a:buNone/>
            </a:pPr>
            <a:r>
              <a:rPr lang="en-NZ" noProof="0"/>
              <a:t>v</a:t>
            </a:r>
            <a:endParaRPr lang="en-NZ" noProof="0" dirty="0"/>
          </a:p>
        </p:txBody>
      </p:sp>
      <p:pic>
        <p:nvPicPr>
          <p:cNvPr id="6" name="Picture 5">
            <a:extLst>
              <a:ext uri="{FF2B5EF4-FFF2-40B4-BE49-F238E27FC236}">
                <a16:creationId xmlns:a16="http://schemas.microsoft.com/office/drawing/2014/main" id="{492AF9CD-BEC7-1A70-4B88-CD503A3E326B}"/>
              </a:ext>
            </a:extLst>
          </p:cNvPr>
          <p:cNvPicPr>
            <a:picLocks noChangeAspect="1"/>
          </p:cNvPicPr>
          <p:nvPr/>
        </p:nvPicPr>
        <p:blipFill>
          <a:blip r:embed="rId2"/>
          <a:stretch>
            <a:fillRect/>
          </a:stretch>
        </p:blipFill>
        <p:spPr>
          <a:xfrm>
            <a:off x="838200" y="2307001"/>
            <a:ext cx="6735115" cy="4258269"/>
          </a:xfrm>
          <a:prstGeom prst="rect">
            <a:avLst/>
          </a:prstGeom>
        </p:spPr>
      </p:pic>
      <p:sp>
        <p:nvSpPr>
          <p:cNvPr id="4" name="TextBox 3">
            <a:extLst>
              <a:ext uri="{FF2B5EF4-FFF2-40B4-BE49-F238E27FC236}">
                <a16:creationId xmlns:a16="http://schemas.microsoft.com/office/drawing/2014/main" id="{81A5D173-99A8-51AD-67D3-349F5CFE1C53}"/>
              </a:ext>
            </a:extLst>
          </p:cNvPr>
          <p:cNvSpPr txBox="1"/>
          <p:nvPr/>
        </p:nvSpPr>
        <p:spPr>
          <a:xfrm>
            <a:off x="9281160" y="5797296"/>
            <a:ext cx="1291700" cy="369332"/>
          </a:xfrm>
          <a:prstGeom prst="rect">
            <a:avLst/>
          </a:prstGeom>
          <a:noFill/>
        </p:spPr>
        <p:txBody>
          <a:bodyPr wrap="none" rtlCol="0">
            <a:spAutoFit/>
          </a:bodyPr>
          <a:lstStyle/>
          <a:p>
            <a:r>
              <a:rPr lang="en-GB" dirty="0"/>
              <a:t>Made by ai </a:t>
            </a:r>
            <a:endParaRPr lang="en-NZ" dirty="0"/>
          </a:p>
        </p:txBody>
      </p:sp>
    </p:spTree>
    <p:extLst>
      <p:ext uri="{BB962C8B-B14F-4D97-AF65-F5344CB8AC3E}">
        <p14:creationId xmlns:p14="http://schemas.microsoft.com/office/powerpoint/2010/main" val="1365950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AA192-D8D4-BF2A-AC46-D062E56A1ABD}"/>
              </a:ext>
            </a:extLst>
          </p:cNvPr>
          <p:cNvSpPr>
            <a:spLocks noGrp="1"/>
          </p:cNvSpPr>
          <p:nvPr>
            <p:ph type="title"/>
          </p:nvPr>
        </p:nvSpPr>
        <p:spPr>
          <a:solidFill>
            <a:srgbClr val="FF5050"/>
          </a:solidFill>
        </p:spPr>
        <p:txBody>
          <a:bodyPr/>
          <a:lstStyle/>
          <a:p>
            <a:r>
              <a:rPr lang="en-NZ" noProof="0" dirty="0"/>
              <a:t>Behaviour and function</a:t>
            </a:r>
          </a:p>
        </p:txBody>
      </p:sp>
      <p:sp>
        <p:nvSpPr>
          <p:cNvPr id="3" name="Content Placeholder 2">
            <a:extLst>
              <a:ext uri="{FF2B5EF4-FFF2-40B4-BE49-F238E27FC236}">
                <a16:creationId xmlns:a16="http://schemas.microsoft.com/office/drawing/2014/main" id="{A52EF0A1-3D21-8BB7-02F3-33253F2DFB43}"/>
              </a:ext>
            </a:extLst>
          </p:cNvPr>
          <p:cNvSpPr>
            <a:spLocks noGrp="1"/>
          </p:cNvSpPr>
          <p:nvPr>
            <p:ph idx="1"/>
          </p:nvPr>
        </p:nvSpPr>
        <p:spPr>
          <a:solidFill>
            <a:srgbClr val="FFCCCC"/>
          </a:solidFill>
        </p:spPr>
        <p:txBody>
          <a:bodyPr>
            <a:normAutofit fontScale="85000" lnSpcReduction="10000"/>
          </a:bodyPr>
          <a:lstStyle/>
          <a:p>
            <a:pPr marL="0" indent="0">
              <a:buNone/>
            </a:pPr>
            <a:r>
              <a:rPr lang="en-US" sz="1800" i="1" noProof="0" dirty="0"/>
              <a:t>The </a:t>
            </a:r>
            <a:r>
              <a:rPr lang="en-US" sz="1800" i="1" noProof="0" dirty="0" err="1"/>
              <a:t>behaviour</a:t>
            </a:r>
            <a:r>
              <a:rPr lang="en-US" sz="1800" i="1" noProof="0" dirty="0"/>
              <a:t> of the electronics is as follows. </a:t>
            </a:r>
          </a:p>
          <a:p>
            <a:pPr marL="0" indent="0">
              <a:buNone/>
            </a:pPr>
            <a:r>
              <a:rPr lang="en-NZ" sz="1800" u="sng" dirty="0"/>
              <a:t>Electric Motor Control</a:t>
            </a:r>
          </a:p>
          <a:p>
            <a:pPr marL="0" indent="0">
              <a:buNone/>
            </a:pPr>
            <a:r>
              <a:rPr lang="en-NZ" sz="1800" dirty="0"/>
              <a:t>An analogue Hall effect sensor is used as the throttle input to send a signal to the 36 V motor controller, which controls the 800 W electric motor. </a:t>
            </a:r>
          </a:p>
          <a:p>
            <a:pPr marL="0" indent="0">
              <a:buNone/>
            </a:pPr>
            <a:r>
              <a:rPr lang="en-NZ" sz="1800" dirty="0"/>
              <a:t>A 36 V to 12 V DC-DC buck converter is used to safely power the Arduino Uno R4 </a:t>
            </a:r>
            <a:r>
              <a:rPr lang="en-NZ" sz="1800" dirty="0" err="1"/>
              <a:t>WiFi</a:t>
            </a:r>
            <a:r>
              <a:rPr lang="en-NZ" sz="1800" dirty="0"/>
              <a:t> from the bike’s main battery system. </a:t>
            </a:r>
          </a:p>
          <a:p>
            <a:pPr marL="0" indent="0">
              <a:buNone/>
            </a:pPr>
            <a:r>
              <a:rPr lang="en-NZ" sz="1800" u="sng" dirty="0"/>
              <a:t>Hybrid Power Switching</a:t>
            </a:r>
          </a:p>
          <a:p>
            <a:pPr marL="0" indent="0">
              <a:buNone/>
            </a:pPr>
            <a:r>
              <a:rPr lang="en-NZ" sz="1800" dirty="0"/>
              <a:t>A 24 V electromagnetic clutch is used to connect and disconnect the electric motor from the drivetrain. </a:t>
            </a:r>
          </a:p>
          <a:p>
            <a:pPr marL="0" indent="0">
              <a:buNone/>
            </a:pPr>
            <a:r>
              <a:rPr lang="en-NZ" sz="1800" dirty="0"/>
              <a:t>Both the petrol engine and electric motor provide power during acceleration to improve low-speed torque. </a:t>
            </a:r>
          </a:p>
          <a:p>
            <a:pPr marL="0" indent="0">
              <a:buNone/>
            </a:pPr>
            <a:r>
              <a:rPr lang="en-NZ" sz="1800" dirty="0"/>
              <a:t>At higher speeds, the electric motor disengages because the petrol engine can operate at a higher RPM. </a:t>
            </a:r>
          </a:p>
          <a:p>
            <a:pPr marL="0" indent="0">
              <a:buNone/>
            </a:pPr>
            <a:r>
              <a:rPr lang="en-NZ" sz="1800" dirty="0"/>
              <a:t>A second Hall effect sensor is connected to the clutch lever, allowing the rider to manually disengage the electric motor when required. </a:t>
            </a:r>
          </a:p>
          <a:p>
            <a:pPr marL="0" indent="0">
              <a:buNone/>
            </a:pPr>
            <a:r>
              <a:rPr lang="en-NZ" sz="1800" u="sng" dirty="0"/>
              <a:t>RPM Matching System</a:t>
            </a:r>
          </a:p>
          <a:p>
            <a:pPr marL="0" indent="0">
              <a:buNone/>
            </a:pPr>
            <a:r>
              <a:rPr lang="en-NZ" sz="1800" dirty="0"/>
              <a:t>Two digital Hall effect sensors measure the RPM on both sides of the electromagnetic clutch. </a:t>
            </a:r>
          </a:p>
          <a:p>
            <a:pPr marL="0" indent="0">
              <a:buNone/>
            </a:pPr>
            <a:r>
              <a:rPr lang="en-NZ" sz="1800" dirty="0"/>
              <a:t>The Arduino uses this data to match the electric motor speed with the drivetrain before engaging the clutch, preventing drivetrain damage and sudden speed changes.</a:t>
            </a:r>
          </a:p>
          <a:p>
            <a:pPr marL="0" indent="0">
              <a:buNone/>
            </a:pPr>
            <a:endParaRPr lang="en-NZ" sz="1800" i="1" noProof="0" dirty="0"/>
          </a:p>
        </p:txBody>
      </p:sp>
    </p:spTree>
    <p:extLst>
      <p:ext uri="{BB962C8B-B14F-4D97-AF65-F5344CB8AC3E}">
        <p14:creationId xmlns:p14="http://schemas.microsoft.com/office/powerpoint/2010/main" val="2961901457"/>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63D47-06A1-3925-FCDA-1F2C3981AD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CC3126-8DD8-8C54-83C8-B51AC26F67BA}"/>
              </a:ext>
            </a:extLst>
          </p:cNvPr>
          <p:cNvSpPr>
            <a:spLocks noGrp="1"/>
          </p:cNvSpPr>
          <p:nvPr>
            <p:ph idx="1"/>
          </p:nvPr>
        </p:nvSpPr>
        <p:spPr>
          <a:xfrm>
            <a:off x="838200" y="612648"/>
            <a:ext cx="10515600" cy="5564315"/>
          </a:xfrm>
          <a:solidFill>
            <a:srgbClr val="FFCCCC"/>
          </a:solidFill>
        </p:spPr>
        <p:txBody>
          <a:bodyPr>
            <a:normAutofit/>
          </a:bodyPr>
          <a:lstStyle/>
          <a:p>
            <a:pPr marL="0" indent="0">
              <a:buNone/>
            </a:pPr>
            <a:r>
              <a:rPr lang="en-NZ" sz="1900" u="sng" dirty="0"/>
              <a:t>Speed Monitoring</a:t>
            </a:r>
          </a:p>
          <a:p>
            <a:pPr marL="0" indent="0">
              <a:buNone/>
            </a:pPr>
            <a:r>
              <a:rPr lang="en-NZ" sz="1900" dirty="0"/>
              <a:t>A digital Hall effect sensor mounted near the rear wheel measures wheel rotation speed. </a:t>
            </a:r>
          </a:p>
          <a:p>
            <a:pPr marL="0" indent="0">
              <a:buNone/>
            </a:pPr>
            <a:r>
              <a:rPr lang="en-NZ" sz="1900" dirty="0"/>
              <a:t>The Arduino calculates the bike’s speed and displays it on the dashboard. </a:t>
            </a:r>
          </a:p>
          <a:p>
            <a:pPr marL="0" indent="0">
              <a:buNone/>
            </a:pPr>
            <a:r>
              <a:rPr lang="en-NZ" sz="1900" u="sng" dirty="0"/>
              <a:t>Dashboard Display</a:t>
            </a:r>
          </a:p>
          <a:p>
            <a:pPr marL="0" indent="0">
              <a:buNone/>
            </a:pPr>
            <a:r>
              <a:rPr lang="en-NZ" sz="1900" dirty="0"/>
              <a:t>An OLED display and LED indicators provide the rider with real-time information. </a:t>
            </a:r>
          </a:p>
          <a:p>
            <a:pPr marL="0" indent="0">
              <a:buNone/>
            </a:pPr>
            <a:r>
              <a:rPr lang="en-NZ" sz="1900" dirty="0"/>
              <a:t>The dashboard displays: </a:t>
            </a:r>
          </a:p>
          <a:p>
            <a:pPr marL="0" indent="0">
              <a:buNone/>
            </a:pPr>
            <a:r>
              <a:rPr lang="en-NZ" sz="1900" dirty="0"/>
              <a:t>Vehicle speed </a:t>
            </a:r>
          </a:p>
          <a:p>
            <a:pPr marL="0" indent="0">
              <a:buNone/>
            </a:pPr>
            <a:r>
              <a:rPr lang="en-NZ" sz="1900" dirty="0"/>
              <a:t>Engine RPM </a:t>
            </a:r>
          </a:p>
          <a:p>
            <a:pPr marL="0" indent="0">
              <a:buNone/>
            </a:pPr>
            <a:r>
              <a:rPr lang="en-NZ" sz="1900" dirty="0"/>
              <a:t>Electric motor RPM </a:t>
            </a:r>
          </a:p>
          <a:p>
            <a:pPr marL="0" indent="0">
              <a:buNone/>
            </a:pPr>
            <a:r>
              <a:rPr lang="en-NZ" sz="1900" dirty="0"/>
              <a:t>Battery percentage </a:t>
            </a:r>
          </a:p>
          <a:p>
            <a:pPr marL="0" indent="0">
              <a:buNone/>
            </a:pPr>
            <a:endParaRPr lang="en-NZ" sz="1800" i="1" noProof="0" dirty="0"/>
          </a:p>
        </p:txBody>
      </p:sp>
    </p:spTree>
    <p:extLst>
      <p:ext uri="{BB962C8B-B14F-4D97-AF65-F5344CB8AC3E}">
        <p14:creationId xmlns:p14="http://schemas.microsoft.com/office/powerpoint/2010/main" val="2786755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AA192-D8D4-BF2A-AC46-D062E56A1ABD}"/>
              </a:ext>
            </a:extLst>
          </p:cNvPr>
          <p:cNvSpPr>
            <a:spLocks noGrp="1"/>
          </p:cNvSpPr>
          <p:nvPr>
            <p:ph type="title"/>
          </p:nvPr>
        </p:nvSpPr>
        <p:spPr>
          <a:solidFill>
            <a:srgbClr val="FF5050"/>
          </a:solidFill>
        </p:spPr>
        <p:txBody>
          <a:bodyPr/>
          <a:lstStyle/>
          <a:p>
            <a:r>
              <a:rPr lang="en-NZ" noProof="0" dirty="0"/>
              <a:t>Explaining relevant communication protocols</a:t>
            </a:r>
          </a:p>
        </p:txBody>
      </p:sp>
      <p:sp>
        <p:nvSpPr>
          <p:cNvPr id="3" name="Content Placeholder 2">
            <a:extLst>
              <a:ext uri="{FF2B5EF4-FFF2-40B4-BE49-F238E27FC236}">
                <a16:creationId xmlns:a16="http://schemas.microsoft.com/office/drawing/2014/main" id="{A52EF0A1-3D21-8BB7-02F3-33253F2DFB43}"/>
              </a:ext>
            </a:extLst>
          </p:cNvPr>
          <p:cNvSpPr>
            <a:spLocks noGrp="1"/>
          </p:cNvSpPr>
          <p:nvPr>
            <p:ph idx="1"/>
          </p:nvPr>
        </p:nvSpPr>
        <p:spPr>
          <a:xfrm>
            <a:off x="838200" y="1825625"/>
            <a:ext cx="10515600" cy="2205601"/>
          </a:xfrm>
          <a:solidFill>
            <a:srgbClr val="FFCCCC"/>
          </a:solidFill>
        </p:spPr>
        <p:txBody>
          <a:bodyPr>
            <a:normAutofit/>
          </a:bodyPr>
          <a:lstStyle/>
          <a:p>
            <a:pPr marL="0" indent="0">
              <a:buNone/>
            </a:pPr>
            <a:r>
              <a:rPr lang="en-NZ" sz="1800" dirty="0"/>
              <a:t>I am using I2C communication between the ESP32and the OLED dashboard display. I2C works by using two communication lines: SDA (Serial Data) to transfer information and SCL (Serial Clock) to synchronise the data transfer. The Arduino acts as the master device, sending information to the OLED display, which acts as the slave device. This allows the system to display real-time information such as speed, RPM, and battery voltage.</a:t>
            </a:r>
            <a:endParaRPr lang="en-NZ" sz="1800" i="1" noProof="0" dirty="0"/>
          </a:p>
        </p:txBody>
      </p:sp>
      <p:sp>
        <p:nvSpPr>
          <p:cNvPr id="4" name="Content Placeholder 2">
            <a:extLst>
              <a:ext uri="{FF2B5EF4-FFF2-40B4-BE49-F238E27FC236}">
                <a16:creationId xmlns:a16="http://schemas.microsoft.com/office/drawing/2014/main" id="{733B3A00-9BAD-4EED-A5B0-1F15087135FA}"/>
              </a:ext>
            </a:extLst>
          </p:cNvPr>
          <p:cNvSpPr txBox="1">
            <a:spLocks/>
          </p:cNvSpPr>
          <p:nvPr/>
        </p:nvSpPr>
        <p:spPr>
          <a:xfrm>
            <a:off x="838200" y="4166163"/>
            <a:ext cx="10515600" cy="2205601"/>
          </a:xfrm>
          <a:prstGeom prst="rect">
            <a:avLst/>
          </a:prstGeom>
          <a:solidFill>
            <a:schemeClr val="accent6">
              <a:lumMod val="40000"/>
              <a:lumOff val="6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NZ" sz="1800" dirty="0"/>
              <a:t>I selected I2C because it only requires two Arduino pins, leaving more available pins for the other sensors used in the bike, such as Hall effect sensors and RPM sensors. I2C also provides enough communication speed for a small OLED display while allowing additional devices to be added to the same communication bus in the future.</a:t>
            </a:r>
            <a:endParaRPr lang="en-NZ" sz="1800" i="1" dirty="0"/>
          </a:p>
        </p:txBody>
      </p:sp>
    </p:spTree>
    <p:extLst>
      <p:ext uri="{BB962C8B-B14F-4D97-AF65-F5344CB8AC3E}">
        <p14:creationId xmlns:p14="http://schemas.microsoft.com/office/powerpoint/2010/main" val="4103162250"/>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556D0-C1D9-5C68-8845-C708DF5F31D1}"/>
              </a:ext>
            </a:extLst>
          </p:cNvPr>
          <p:cNvSpPr>
            <a:spLocks noGrp="1"/>
          </p:cNvSpPr>
          <p:nvPr>
            <p:ph type="title"/>
          </p:nvPr>
        </p:nvSpPr>
        <p:spPr>
          <a:xfrm>
            <a:off x="838200" y="365126"/>
            <a:ext cx="10515600" cy="878246"/>
          </a:xfrm>
          <a:solidFill>
            <a:schemeClr val="accent6">
              <a:lumMod val="40000"/>
              <a:lumOff val="60000"/>
            </a:schemeClr>
          </a:solidFill>
        </p:spPr>
        <p:txBody>
          <a:bodyPr/>
          <a:lstStyle/>
          <a:p>
            <a:r>
              <a:rPr lang="en-NZ" noProof="0" dirty="0"/>
              <a:t>Iterated Design</a:t>
            </a:r>
          </a:p>
        </p:txBody>
      </p:sp>
      <p:sp>
        <p:nvSpPr>
          <p:cNvPr id="3" name="Content Placeholder 2">
            <a:extLst>
              <a:ext uri="{FF2B5EF4-FFF2-40B4-BE49-F238E27FC236}">
                <a16:creationId xmlns:a16="http://schemas.microsoft.com/office/drawing/2014/main" id="{4ECA3479-9DD9-B6D5-BE2D-ABCAF7C76293}"/>
              </a:ext>
            </a:extLst>
          </p:cNvPr>
          <p:cNvSpPr>
            <a:spLocks noGrp="1"/>
          </p:cNvSpPr>
          <p:nvPr>
            <p:ph idx="1"/>
          </p:nvPr>
        </p:nvSpPr>
        <p:spPr>
          <a:xfrm>
            <a:off x="838200" y="1243372"/>
            <a:ext cx="10515600" cy="541336"/>
          </a:xfrm>
          <a:solidFill>
            <a:schemeClr val="accent6">
              <a:lumMod val="40000"/>
              <a:lumOff val="60000"/>
            </a:schemeClr>
          </a:solidFill>
        </p:spPr>
        <p:txBody>
          <a:bodyPr/>
          <a:lstStyle/>
          <a:p>
            <a:pPr marL="0" indent="0">
              <a:buNone/>
            </a:pPr>
            <a:r>
              <a:rPr lang="en-NZ" noProof="0" dirty="0"/>
              <a:t>Feedback:</a:t>
            </a:r>
          </a:p>
        </p:txBody>
      </p:sp>
      <p:sp>
        <p:nvSpPr>
          <p:cNvPr id="4" name="Content Placeholder 2">
            <a:extLst>
              <a:ext uri="{FF2B5EF4-FFF2-40B4-BE49-F238E27FC236}">
                <a16:creationId xmlns:a16="http://schemas.microsoft.com/office/drawing/2014/main" id="{0BDD2F55-C254-2B6C-E842-EDF49DD5A11C}"/>
              </a:ext>
            </a:extLst>
          </p:cNvPr>
          <p:cNvSpPr txBox="1">
            <a:spLocks/>
          </p:cNvSpPr>
          <p:nvPr/>
        </p:nvSpPr>
        <p:spPr>
          <a:xfrm>
            <a:off x="838200" y="3047999"/>
            <a:ext cx="10515600" cy="31289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NZ" noProof="0" dirty="0"/>
          </a:p>
        </p:txBody>
      </p:sp>
      <p:sp>
        <p:nvSpPr>
          <p:cNvPr id="6" name="TextBox 5">
            <a:extLst>
              <a:ext uri="{FF2B5EF4-FFF2-40B4-BE49-F238E27FC236}">
                <a16:creationId xmlns:a16="http://schemas.microsoft.com/office/drawing/2014/main" id="{92E838D8-6EAC-C0AF-8820-D8D3D7E132B8}"/>
              </a:ext>
            </a:extLst>
          </p:cNvPr>
          <p:cNvSpPr txBox="1"/>
          <p:nvPr/>
        </p:nvSpPr>
        <p:spPr>
          <a:xfrm>
            <a:off x="8193024" y="6428232"/>
            <a:ext cx="1245213" cy="369332"/>
          </a:xfrm>
          <a:prstGeom prst="rect">
            <a:avLst/>
          </a:prstGeom>
          <a:noFill/>
        </p:spPr>
        <p:txBody>
          <a:bodyPr wrap="none" rtlCol="0">
            <a:spAutoFit/>
          </a:bodyPr>
          <a:lstStyle/>
          <a:p>
            <a:r>
              <a:rPr lang="en-GB" dirty="0"/>
              <a:t>Made by ai</a:t>
            </a:r>
            <a:endParaRPr lang="en-NZ" dirty="0"/>
          </a:p>
        </p:txBody>
      </p:sp>
      <p:pic>
        <p:nvPicPr>
          <p:cNvPr id="8" name="Picture 7">
            <a:extLst>
              <a:ext uri="{FF2B5EF4-FFF2-40B4-BE49-F238E27FC236}">
                <a16:creationId xmlns:a16="http://schemas.microsoft.com/office/drawing/2014/main" id="{A92DCFDB-72A7-6C02-0E60-B8B3F2A800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5975" y="1991083"/>
            <a:ext cx="7379208" cy="4919472"/>
          </a:xfrm>
          <a:prstGeom prst="rect">
            <a:avLst/>
          </a:prstGeom>
        </p:spPr>
      </p:pic>
    </p:spTree>
    <p:extLst>
      <p:ext uri="{BB962C8B-B14F-4D97-AF65-F5344CB8AC3E}">
        <p14:creationId xmlns:p14="http://schemas.microsoft.com/office/powerpoint/2010/main" val="974559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56BB34-A33E-CA54-E3A0-74010D4B0A63}"/>
              </a:ext>
            </a:extLst>
          </p:cNvPr>
          <p:cNvSpPr>
            <a:spLocks noGrp="1"/>
          </p:cNvSpPr>
          <p:nvPr>
            <p:ph type="ctrTitle"/>
          </p:nvPr>
        </p:nvSpPr>
        <p:spPr/>
        <p:txBody>
          <a:bodyPr/>
          <a:lstStyle/>
          <a:p>
            <a:r>
              <a:rPr lang="en-NZ" noProof="0" dirty="0"/>
              <a:t>Components and Systems</a:t>
            </a:r>
          </a:p>
        </p:txBody>
      </p:sp>
      <p:sp>
        <p:nvSpPr>
          <p:cNvPr id="5" name="Subtitle 4">
            <a:extLst>
              <a:ext uri="{FF2B5EF4-FFF2-40B4-BE49-F238E27FC236}">
                <a16:creationId xmlns:a16="http://schemas.microsoft.com/office/drawing/2014/main" id="{E04ACEFA-C5B9-70D8-D43C-68A151E2A2DE}"/>
              </a:ext>
            </a:extLst>
          </p:cNvPr>
          <p:cNvSpPr>
            <a:spLocks noGrp="1"/>
          </p:cNvSpPr>
          <p:nvPr>
            <p:ph type="subTitle" idx="1"/>
          </p:nvPr>
        </p:nvSpPr>
        <p:spPr/>
        <p:txBody>
          <a:bodyPr/>
          <a:lstStyle/>
          <a:p>
            <a:endParaRPr lang="en-NZ" noProof="0" dirty="0"/>
          </a:p>
        </p:txBody>
      </p:sp>
    </p:spTree>
    <p:extLst>
      <p:ext uri="{BB962C8B-B14F-4D97-AF65-F5344CB8AC3E}">
        <p14:creationId xmlns:p14="http://schemas.microsoft.com/office/powerpoint/2010/main" val="3440362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4EB2B-85A8-4549-4E6D-72F4823A20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3A040-4DF6-3A52-2828-494419344D41}"/>
              </a:ext>
            </a:extLst>
          </p:cNvPr>
          <p:cNvSpPr>
            <a:spLocks noGrp="1"/>
          </p:cNvSpPr>
          <p:nvPr>
            <p:ph type="title"/>
          </p:nvPr>
        </p:nvSpPr>
        <p:spPr>
          <a:xfrm>
            <a:off x="838200" y="365125"/>
            <a:ext cx="10515600" cy="720725"/>
          </a:xfrm>
          <a:solidFill>
            <a:schemeClr val="accent3">
              <a:lumMod val="20000"/>
              <a:lumOff val="80000"/>
            </a:schemeClr>
          </a:solidFill>
        </p:spPr>
        <p:txBody>
          <a:bodyPr/>
          <a:lstStyle/>
          <a:p>
            <a:r>
              <a:rPr lang="en-NZ" noProof="0" dirty="0"/>
              <a:t>Choice of Component/System 1: controller</a:t>
            </a:r>
          </a:p>
        </p:txBody>
      </p:sp>
      <p:sp>
        <p:nvSpPr>
          <p:cNvPr id="5" name="Content Placeholder 2">
            <a:extLst>
              <a:ext uri="{FF2B5EF4-FFF2-40B4-BE49-F238E27FC236}">
                <a16:creationId xmlns:a16="http://schemas.microsoft.com/office/drawing/2014/main" id="{208AF426-607B-1936-143C-7541AD8896ED}"/>
              </a:ext>
            </a:extLst>
          </p:cNvPr>
          <p:cNvSpPr txBox="1">
            <a:spLocks/>
          </p:cNvSpPr>
          <p:nvPr/>
        </p:nvSpPr>
        <p:spPr>
          <a:xfrm>
            <a:off x="838200" y="3646026"/>
            <a:ext cx="10225548" cy="2726095"/>
          </a:xfrm>
          <a:prstGeom prst="rect">
            <a:avLst/>
          </a:prstGeom>
          <a:solidFill>
            <a:schemeClr val="accent6">
              <a:lumMod val="20000"/>
              <a:lumOff val="8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Justification of choice made</a:t>
            </a:r>
          </a:p>
          <a:p>
            <a:pPr marL="0" indent="0">
              <a:buFont typeface="Arial" panose="020B0604020202020204" pitchFamily="34" charset="0"/>
              <a:buNone/>
            </a:pPr>
            <a:r>
              <a:rPr lang="en-NZ" dirty="0"/>
              <a:t>I chose the esp32 for its native </a:t>
            </a:r>
            <a:r>
              <a:rPr lang="en-NZ" dirty="0" err="1"/>
              <a:t>wifi</a:t>
            </a:r>
            <a:r>
              <a:rPr lang="en-NZ" dirty="0"/>
              <a:t> and Bluetooth capabilities </a:t>
            </a:r>
            <a:r>
              <a:rPr lang="en-NZ" dirty="0" err="1"/>
              <a:t>aswell</a:t>
            </a:r>
            <a:r>
              <a:rPr lang="en-NZ" dirty="0"/>
              <a:t> as its increased </a:t>
            </a:r>
            <a:r>
              <a:rPr lang="en-NZ" dirty="0" err="1"/>
              <a:t>gpio</a:t>
            </a:r>
            <a:r>
              <a:rPr lang="en-NZ" dirty="0"/>
              <a:t> pins compared to other boards, another reason is that it is faster at reading sensor readings </a:t>
            </a:r>
            <a:endParaRPr lang="en-NZ" noProof="0" dirty="0"/>
          </a:p>
        </p:txBody>
      </p:sp>
      <p:sp>
        <p:nvSpPr>
          <p:cNvPr id="8" name="Content Placeholder 7">
            <a:extLst>
              <a:ext uri="{FF2B5EF4-FFF2-40B4-BE49-F238E27FC236}">
                <a16:creationId xmlns:a16="http://schemas.microsoft.com/office/drawing/2014/main" id="{DFB8CE4C-97AF-7F3E-9CAC-E06101B7E86D}"/>
              </a:ext>
            </a:extLst>
          </p:cNvPr>
          <p:cNvSpPr>
            <a:spLocks noGrp="1"/>
          </p:cNvSpPr>
          <p:nvPr>
            <p:ph idx="1"/>
          </p:nvPr>
        </p:nvSpPr>
        <p:spPr>
          <a:xfrm>
            <a:off x="838200" y="1085850"/>
            <a:ext cx="3723968" cy="1325563"/>
          </a:xfrm>
        </p:spPr>
        <p:txBody>
          <a:bodyPr/>
          <a:lstStyle/>
          <a:p>
            <a:pPr marL="0" indent="0">
              <a:buNone/>
            </a:pPr>
            <a:r>
              <a:rPr lang="en-NZ" noProof="0" dirty="0"/>
              <a:t>Chosen</a:t>
            </a:r>
          </a:p>
          <a:p>
            <a:pPr marL="0" indent="0">
              <a:buNone/>
            </a:pPr>
            <a:r>
              <a:rPr lang="en-NZ" dirty="0"/>
              <a:t>ESP32-s3</a:t>
            </a:r>
          </a:p>
          <a:p>
            <a:pPr marL="0" indent="0">
              <a:buNone/>
            </a:pPr>
            <a:endParaRPr lang="en-NZ" noProof="0" dirty="0"/>
          </a:p>
        </p:txBody>
      </p:sp>
      <p:sp>
        <p:nvSpPr>
          <p:cNvPr id="9" name="Content Placeholder 7">
            <a:extLst>
              <a:ext uri="{FF2B5EF4-FFF2-40B4-BE49-F238E27FC236}">
                <a16:creationId xmlns:a16="http://schemas.microsoft.com/office/drawing/2014/main" id="{0A4F4AF7-5E5A-2D76-3F73-6A09F3F31537}"/>
              </a:ext>
            </a:extLst>
          </p:cNvPr>
          <p:cNvSpPr txBox="1">
            <a:spLocks/>
          </p:cNvSpPr>
          <p:nvPr/>
        </p:nvSpPr>
        <p:spPr>
          <a:xfrm>
            <a:off x="4234016" y="1085849"/>
            <a:ext cx="3723968"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Alternative 1</a:t>
            </a:r>
          </a:p>
          <a:p>
            <a:pPr marL="0" indent="0">
              <a:buFont typeface="Arial" panose="020B0604020202020204" pitchFamily="34" charset="0"/>
              <a:buNone/>
            </a:pPr>
            <a:r>
              <a:rPr lang="en-NZ" noProof="0" dirty="0"/>
              <a:t>Arduino r4 </a:t>
            </a:r>
            <a:r>
              <a:rPr lang="en-NZ" noProof="0" dirty="0" err="1"/>
              <a:t>wifi</a:t>
            </a:r>
            <a:endParaRPr lang="en-NZ" noProof="0" dirty="0"/>
          </a:p>
        </p:txBody>
      </p:sp>
      <p:sp>
        <p:nvSpPr>
          <p:cNvPr id="10" name="Content Placeholder 7">
            <a:extLst>
              <a:ext uri="{FF2B5EF4-FFF2-40B4-BE49-F238E27FC236}">
                <a16:creationId xmlns:a16="http://schemas.microsoft.com/office/drawing/2014/main" id="{841EBE6D-B5D0-4C30-C32E-F3AA1F02B8FD}"/>
              </a:ext>
            </a:extLst>
          </p:cNvPr>
          <p:cNvSpPr txBox="1">
            <a:spLocks/>
          </p:cNvSpPr>
          <p:nvPr/>
        </p:nvSpPr>
        <p:spPr>
          <a:xfrm>
            <a:off x="7793908" y="1085848"/>
            <a:ext cx="3723968" cy="132556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Alternative 2</a:t>
            </a:r>
          </a:p>
          <a:p>
            <a:pPr marL="0" indent="0">
              <a:buFont typeface="Arial" panose="020B0604020202020204" pitchFamily="34" charset="0"/>
              <a:buNone/>
            </a:pPr>
            <a:r>
              <a:rPr lang="en-NZ" dirty="0"/>
              <a:t>Arduino r3</a:t>
            </a:r>
          </a:p>
          <a:p>
            <a:pPr marL="0" indent="0">
              <a:buFont typeface="Arial" panose="020B0604020202020204" pitchFamily="34" charset="0"/>
              <a:buNone/>
            </a:pPr>
            <a:r>
              <a:rPr lang="en-NZ" noProof="0" dirty="0"/>
              <a:t> </a:t>
            </a:r>
          </a:p>
        </p:txBody>
      </p:sp>
      <p:pic>
        <p:nvPicPr>
          <p:cNvPr id="4" name="Picture 3" descr="Arduino UNO R4 WiFi - SparkFun Electronics">
            <a:extLst>
              <a:ext uri="{FF2B5EF4-FFF2-40B4-BE49-F238E27FC236}">
                <a16:creationId xmlns:a16="http://schemas.microsoft.com/office/drawing/2014/main" id="{DB5BC4F3-C531-1D3F-2F74-03D6ADDD369B}"/>
              </a:ext>
            </a:extLst>
          </p:cNvPr>
          <p:cNvPicPr>
            <a:picLocks noChangeAspect="1"/>
          </p:cNvPicPr>
          <p:nvPr/>
        </p:nvPicPr>
        <p:blipFill>
          <a:blip r:embed="rId2"/>
          <a:stretch>
            <a:fillRect/>
          </a:stretch>
        </p:blipFill>
        <p:spPr>
          <a:xfrm>
            <a:off x="4086857" y="1962483"/>
            <a:ext cx="1704974" cy="1704974"/>
          </a:xfrm>
          <a:prstGeom prst="rect">
            <a:avLst/>
          </a:prstGeom>
        </p:spPr>
      </p:pic>
      <p:pic>
        <p:nvPicPr>
          <p:cNvPr id="6" name="Picture 5" descr="Buy ESP32 ESP-32S WiFi+ Bluetooth Development Board">
            <a:extLst>
              <a:ext uri="{FF2B5EF4-FFF2-40B4-BE49-F238E27FC236}">
                <a16:creationId xmlns:a16="http://schemas.microsoft.com/office/drawing/2014/main" id="{0738B815-EC1C-C22B-E05D-CE494F7F36C9}"/>
              </a:ext>
            </a:extLst>
          </p:cNvPr>
          <p:cNvPicPr>
            <a:picLocks noChangeAspect="1"/>
          </p:cNvPicPr>
          <p:nvPr/>
        </p:nvPicPr>
        <p:blipFill>
          <a:blip r:embed="rId3"/>
          <a:stretch>
            <a:fillRect/>
          </a:stretch>
        </p:blipFill>
        <p:spPr>
          <a:xfrm>
            <a:off x="838199" y="1956925"/>
            <a:ext cx="1246583" cy="1662110"/>
          </a:xfrm>
          <a:prstGeom prst="rect">
            <a:avLst/>
          </a:prstGeom>
        </p:spPr>
      </p:pic>
      <p:pic>
        <p:nvPicPr>
          <p:cNvPr id="7" name="Picture 6" descr="Arduino Uno Rev 3 SMD, A000073">
            <a:extLst>
              <a:ext uri="{FF2B5EF4-FFF2-40B4-BE49-F238E27FC236}">
                <a16:creationId xmlns:a16="http://schemas.microsoft.com/office/drawing/2014/main" id="{A3CFC61C-74CA-3081-5974-868F80B6B667}"/>
              </a:ext>
            </a:extLst>
          </p:cNvPr>
          <p:cNvPicPr>
            <a:picLocks noChangeAspect="1"/>
          </p:cNvPicPr>
          <p:nvPr/>
        </p:nvPicPr>
        <p:blipFill>
          <a:blip r:embed="rId4"/>
          <a:stretch>
            <a:fillRect/>
          </a:stretch>
        </p:blipFill>
        <p:spPr>
          <a:xfrm>
            <a:off x="7793907" y="1983916"/>
            <a:ext cx="2230497" cy="1662108"/>
          </a:xfrm>
          <a:prstGeom prst="rect">
            <a:avLst/>
          </a:prstGeom>
        </p:spPr>
      </p:pic>
    </p:spTree>
    <p:extLst>
      <p:ext uri="{BB962C8B-B14F-4D97-AF65-F5344CB8AC3E}">
        <p14:creationId xmlns:p14="http://schemas.microsoft.com/office/powerpoint/2010/main" val="4188302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7FDEA-E680-2E00-410E-88328EBB1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EA619-26CF-A135-A2F3-C9429F3013EA}"/>
              </a:ext>
            </a:extLst>
          </p:cNvPr>
          <p:cNvSpPr>
            <a:spLocks noGrp="1"/>
          </p:cNvSpPr>
          <p:nvPr>
            <p:ph type="title"/>
          </p:nvPr>
        </p:nvSpPr>
        <p:spPr>
          <a:solidFill>
            <a:srgbClr val="FF5050"/>
          </a:solidFill>
        </p:spPr>
        <p:txBody>
          <a:bodyPr/>
          <a:lstStyle/>
          <a:p>
            <a:r>
              <a:rPr lang="en-NZ" noProof="0" dirty="0"/>
              <a:t>Component/System 1</a:t>
            </a:r>
          </a:p>
        </p:txBody>
      </p:sp>
      <p:sp>
        <p:nvSpPr>
          <p:cNvPr id="3" name="Content Placeholder 2">
            <a:extLst>
              <a:ext uri="{FF2B5EF4-FFF2-40B4-BE49-F238E27FC236}">
                <a16:creationId xmlns:a16="http://schemas.microsoft.com/office/drawing/2014/main" id="{109C2FE0-6991-DDAF-C4F7-B3415EC34474}"/>
              </a:ext>
            </a:extLst>
          </p:cNvPr>
          <p:cNvSpPr>
            <a:spLocks noGrp="1"/>
          </p:cNvSpPr>
          <p:nvPr>
            <p:ph idx="1"/>
          </p:nvPr>
        </p:nvSpPr>
        <p:spPr>
          <a:xfrm>
            <a:off x="943897" y="1877091"/>
            <a:ext cx="10225548" cy="1623193"/>
          </a:xfrm>
          <a:solidFill>
            <a:srgbClr val="FFCCCC"/>
          </a:solidFill>
        </p:spPr>
        <p:txBody>
          <a:bodyPr>
            <a:normAutofit fontScale="85000" lnSpcReduction="20000"/>
          </a:bodyPr>
          <a:lstStyle/>
          <a:p>
            <a:pPr marL="0" indent="0">
              <a:buNone/>
            </a:pPr>
            <a:r>
              <a:rPr lang="en-NZ" noProof="0" dirty="0"/>
              <a:t>Explanation of component-brain</a:t>
            </a:r>
          </a:p>
          <a:p>
            <a:pPr marL="0" indent="0">
              <a:buNone/>
            </a:pPr>
            <a:r>
              <a:rPr lang="en-NZ" dirty="0"/>
              <a:t>The ESP32 is the main microcontroller used in my project. It is a microcontroller with a </a:t>
            </a:r>
            <a:r>
              <a:rPr lang="en-NZ" dirty="0" err="1"/>
              <a:t>wifi</a:t>
            </a:r>
            <a:r>
              <a:rPr lang="en-NZ" dirty="0"/>
              <a:t> component onboard meaning it can be controlled wirelessly using </a:t>
            </a:r>
            <a:r>
              <a:rPr lang="en-NZ" dirty="0" err="1"/>
              <a:t>wifi</a:t>
            </a:r>
            <a:r>
              <a:rPr lang="en-NZ" dirty="0"/>
              <a:t>, it also has </a:t>
            </a:r>
            <a:r>
              <a:rPr lang="en-NZ" dirty="0" err="1"/>
              <a:t>gpio</a:t>
            </a:r>
            <a:r>
              <a:rPr lang="en-NZ" dirty="0"/>
              <a:t> pins on the side so that sensors and components like a PCB can be added for adding more components</a:t>
            </a:r>
            <a:endParaRPr lang="en-NZ" noProof="0" dirty="0"/>
          </a:p>
        </p:txBody>
      </p:sp>
      <p:sp>
        <p:nvSpPr>
          <p:cNvPr id="4" name="Content Placeholder 2">
            <a:extLst>
              <a:ext uri="{FF2B5EF4-FFF2-40B4-BE49-F238E27FC236}">
                <a16:creationId xmlns:a16="http://schemas.microsoft.com/office/drawing/2014/main" id="{48BF1EF6-F8B8-8CF4-9169-05F15F67B902}"/>
              </a:ext>
            </a:extLst>
          </p:cNvPr>
          <p:cNvSpPr txBox="1">
            <a:spLocks/>
          </p:cNvSpPr>
          <p:nvPr/>
        </p:nvSpPr>
        <p:spPr>
          <a:xfrm>
            <a:off x="943897" y="3500284"/>
            <a:ext cx="5471651" cy="3171313"/>
          </a:xfrm>
          <a:prstGeom prst="rect">
            <a:avLst/>
          </a:prstGeom>
          <a:solidFill>
            <a:srgbClr val="FFCC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Component Picture</a:t>
            </a:r>
          </a:p>
          <a:p>
            <a:pPr marL="0" indent="0">
              <a:buFont typeface="Arial" panose="020B0604020202020204" pitchFamily="34" charset="0"/>
              <a:buNone/>
            </a:pPr>
            <a:endParaRPr lang="en-NZ" noProof="0" dirty="0"/>
          </a:p>
        </p:txBody>
      </p:sp>
      <p:sp>
        <p:nvSpPr>
          <p:cNvPr id="5" name="Content Placeholder 2">
            <a:extLst>
              <a:ext uri="{FF2B5EF4-FFF2-40B4-BE49-F238E27FC236}">
                <a16:creationId xmlns:a16="http://schemas.microsoft.com/office/drawing/2014/main" id="{F10EB81D-A986-42AD-847E-FF3A1F656CEB}"/>
              </a:ext>
            </a:extLst>
          </p:cNvPr>
          <p:cNvSpPr txBox="1">
            <a:spLocks/>
          </p:cNvSpPr>
          <p:nvPr/>
        </p:nvSpPr>
        <p:spPr>
          <a:xfrm>
            <a:off x="6415548" y="3500283"/>
            <a:ext cx="4753897" cy="3171313"/>
          </a:xfrm>
          <a:prstGeom prst="rect">
            <a:avLst/>
          </a:prstGeom>
          <a:solidFill>
            <a:srgbClr val="FFCC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Component test </a:t>
            </a:r>
            <a:r>
              <a:rPr lang="en-NZ" noProof="0"/>
              <a:t>log: </a:t>
            </a:r>
            <a:endParaRPr lang="en-NZ" noProof="0" dirty="0"/>
          </a:p>
        </p:txBody>
      </p:sp>
      <p:pic>
        <p:nvPicPr>
          <p:cNvPr id="7" name="Picture 6" descr="Buy ESP32 ESP-32S WiFi+ Bluetooth Development Board">
            <a:extLst>
              <a:ext uri="{FF2B5EF4-FFF2-40B4-BE49-F238E27FC236}">
                <a16:creationId xmlns:a16="http://schemas.microsoft.com/office/drawing/2014/main" id="{6A8339F2-099A-A5DA-1381-4B912633BE7E}"/>
              </a:ext>
            </a:extLst>
          </p:cNvPr>
          <p:cNvPicPr>
            <a:picLocks noChangeAspect="1"/>
          </p:cNvPicPr>
          <p:nvPr/>
        </p:nvPicPr>
        <p:blipFill>
          <a:blip r:embed="rId3"/>
          <a:stretch>
            <a:fillRect/>
          </a:stretch>
        </p:blipFill>
        <p:spPr>
          <a:xfrm>
            <a:off x="943897" y="3909550"/>
            <a:ext cx="1246583" cy="1662110"/>
          </a:xfrm>
          <a:prstGeom prst="rect">
            <a:avLst/>
          </a:prstGeom>
        </p:spPr>
      </p:pic>
    </p:spTree>
    <p:extLst>
      <p:ext uri="{BB962C8B-B14F-4D97-AF65-F5344CB8AC3E}">
        <p14:creationId xmlns:p14="http://schemas.microsoft.com/office/powerpoint/2010/main" val="3917241819"/>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DE6CF-B445-2DC3-DAC3-8D1AA76DC0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207242-68C4-C11B-D99F-A2DCAB543E47}"/>
              </a:ext>
            </a:extLst>
          </p:cNvPr>
          <p:cNvSpPr>
            <a:spLocks noGrp="1"/>
          </p:cNvSpPr>
          <p:nvPr>
            <p:ph type="title"/>
          </p:nvPr>
        </p:nvSpPr>
        <p:spPr>
          <a:solidFill>
            <a:srgbClr val="FFFFCC"/>
          </a:solidFill>
        </p:spPr>
        <p:txBody>
          <a:bodyPr/>
          <a:lstStyle/>
          <a:p>
            <a:r>
              <a:rPr lang="en-NZ" noProof="0" dirty="0"/>
              <a:t>Reliability Testing</a:t>
            </a:r>
          </a:p>
        </p:txBody>
      </p:sp>
      <p:sp>
        <p:nvSpPr>
          <p:cNvPr id="5" name="Content Placeholder 2">
            <a:extLst>
              <a:ext uri="{FF2B5EF4-FFF2-40B4-BE49-F238E27FC236}">
                <a16:creationId xmlns:a16="http://schemas.microsoft.com/office/drawing/2014/main" id="{7BB92E76-E3F6-6C1B-4C93-7DF5D363240A}"/>
              </a:ext>
            </a:extLst>
          </p:cNvPr>
          <p:cNvSpPr txBox="1">
            <a:spLocks/>
          </p:cNvSpPr>
          <p:nvPr/>
        </p:nvSpPr>
        <p:spPr>
          <a:xfrm>
            <a:off x="983226" y="4869118"/>
            <a:ext cx="10225548" cy="1623757"/>
          </a:xfrm>
          <a:prstGeom prst="rect">
            <a:avLst/>
          </a:prstGeom>
          <a:solidFill>
            <a:srgbClr val="FFFF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Analyse notes from testing and note changes to be made:</a:t>
            </a:r>
          </a:p>
        </p:txBody>
      </p:sp>
      <p:sp>
        <p:nvSpPr>
          <p:cNvPr id="6" name="Content Placeholder 2">
            <a:extLst>
              <a:ext uri="{FF2B5EF4-FFF2-40B4-BE49-F238E27FC236}">
                <a16:creationId xmlns:a16="http://schemas.microsoft.com/office/drawing/2014/main" id="{8561BD7D-2184-D401-94A5-899C74EC469D}"/>
              </a:ext>
            </a:extLst>
          </p:cNvPr>
          <p:cNvSpPr txBox="1">
            <a:spLocks/>
          </p:cNvSpPr>
          <p:nvPr/>
        </p:nvSpPr>
        <p:spPr>
          <a:xfrm>
            <a:off x="943898" y="1986117"/>
            <a:ext cx="10225548" cy="530941"/>
          </a:xfrm>
          <a:prstGeom prst="rect">
            <a:avLst/>
          </a:prstGeom>
          <a:solidFill>
            <a:srgbClr val="FFFF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dirty="0"/>
              <a:t>Multiple test</a:t>
            </a:r>
            <a:endParaRPr lang="en-NZ" noProof="0" dirty="0"/>
          </a:p>
        </p:txBody>
      </p:sp>
      <p:sp>
        <p:nvSpPr>
          <p:cNvPr id="11" name="Content Placeholder 2">
            <a:extLst>
              <a:ext uri="{FF2B5EF4-FFF2-40B4-BE49-F238E27FC236}">
                <a16:creationId xmlns:a16="http://schemas.microsoft.com/office/drawing/2014/main" id="{44929486-D4C8-D2C0-400A-3937434FA30D}"/>
              </a:ext>
            </a:extLst>
          </p:cNvPr>
          <p:cNvSpPr txBox="1">
            <a:spLocks/>
          </p:cNvSpPr>
          <p:nvPr/>
        </p:nvSpPr>
        <p:spPr>
          <a:xfrm>
            <a:off x="983226" y="2812487"/>
            <a:ext cx="10225548" cy="1824114"/>
          </a:xfrm>
          <a:prstGeom prst="rect">
            <a:avLst/>
          </a:prstGeom>
          <a:solidFill>
            <a:srgbClr val="FFFF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dirty="0"/>
              <a:t>Reliability notes from testing: </a:t>
            </a:r>
            <a:endParaRPr lang="en-NZ" noProof="0" dirty="0"/>
          </a:p>
        </p:txBody>
      </p:sp>
    </p:spTree>
    <p:extLst>
      <p:ext uri="{BB962C8B-B14F-4D97-AF65-F5344CB8AC3E}">
        <p14:creationId xmlns:p14="http://schemas.microsoft.com/office/powerpoint/2010/main" val="38895813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E3CD5-AD13-3CED-8541-FFF36FE096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89EDAD-08EF-0BF2-303D-015961EDDF03}"/>
              </a:ext>
            </a:extLst>
          </p:cNvPr>
          <p:cNvSpPr>
            <a:spLocks noGrp="1"/>
          </p:cNvSpPr>
          <p:nvPr>
            <p:ph type="title"/>
          </p:nvPr>
        </p:nvSpPr>
        <p:spPr>
          <a:xfrm>
            <a:off x="838200" y="365125"/>
            <a:ext cx="10515600" cy="720725"/>
          </a:xfrm>
          <a:solidFill>
            <a:schemeClr val="accent3">
              <a:lumMod val="20000"/>
              <a:lumOff val="80000"/>
            </a:schemeClr>
          </a:solidFill>
        </p:spPr>
        <p:txBody>
          <a:bodyPr>
            <a:normAutofit fontScale="90000"/>
          </a:bodyPr>
          <a:lstStyle/>
          <a:p>
            <a:r>
              <a:rPr lang="en-NZ" noProof="0" dirty="0"/>
              <a:t>Choice of Component/System 2:physical controls </a:t>
            </a:r>
          </a:p>
        </p:txBody>
      </p:sp>
      <p:sp>
        <p:nvSpPr>
          <p:cNvPr id="5" name="Content Placeholder 2">
            <a:extLst>
              <a:ext uri="{FF2B5EF4-FFF2-40B4-BE49-F238E27FC236}">
                <a16:creationId xmlns:a16="http://schemas.microsoft.com/office/drawing/2014/main" id="{2EEF68AF-73CE-D67A-CD84-BEC0EFDE6C33}"/>
              </a:ext>
            </a:extLst>
          </p:cNvPr>
          <p:cNvSpPr txBox="1">
            <a:spLocks/>
          </p:cNvSpPr>
          <p:nvPr/>
        </p:nvSpPr>
        <p:spPr>
          <a:xfrm>
            <a:off x="838200" y="3646026"/>
            <a:ext cx="10225548" cy="2726095"/>
          </a:xfrm>
          <a:prstGeom prst="rect">
            <a:avLst/>
          </a:prstGeom>
          <a:solidFill>
            <a:schemeClr val="accent6">
              <a:lumMod val="20000"/>
              <a:lumOff val="8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Justification of choice made</a:t>
            </a:r>
          </a:p>
          <a:p>
            <a:pPr marL="0" indent="0">
              <a:buFont typeface="Arial" panose="020B0604020202020204" pitchFamily="34" charset="0"/>
              <a:buNone/>
            </a:pPr>
            <a:r>
              <a:rPr lang="en-NZ" dirty="0"/>
              <a:t>The reason why I chose the hall effect sensor  is due to simplicity and the fact that it use magnets for signal input meaning nothing is touching so no friction and near zero wear in the parts, it is also very easy to make a custom casing for it to be held in place where ever its needed  </a:t>
            </a:r>
            <a:endParaRPr lang="en-NZ" noProof="0" dirty="0"/>
          </a:p>
        </p:txBody>
      </p:sp>
      <p:sp>
        <p:nvSpPr>
          <p:cNvPr id="8" name="Content Placeholder 7">
            <a:extLst>
              <a:ext uri="{FF2B5EF4-FFF2-40B4-BE49-F238E27FC236}">
                <a16:creationId xmlns:a16="http://schemas.microsoft.com/office/drawing/2014/main" id="{2437FB4A-C1CF-2945-BDF4-05A3E375C32A}"/>
              </a:ext>
            </a:extLst>
          </p:cNvPr>
          <p:cNvSpPr>
            <a:spLocks noGrp="1"/>
          </p:cNvSpPr>
          <p:nvPr>
            <p:ph idx="1"/>
          </p:nvPr>
        </p:nvSpPr>
        <p:spPr>
          <a:xfrm>
            <a:off x="838200" y="1085850"/>
            <a:ext cx="3723968" cy="1325563"/>
          </a:xfrm>
        </p:spPr>
        <p:txBody>
          <a:bodyPr/>
          <a:lstStyle/>
          <a:p>
            <a:pPr marL="0" indent="0">
              <a:buNone/>
            </a:pPr>
            <a:r>
              <a:rPr lang="en-NZ" noProof="0" dirty="0"/>
              <a:t>Chosen</a:t>
            </a:r>
          </a:p>
          <a:p>
            <a:pPr marL="0" indent="0">
              <a:buNone/>
            </a:pPr>
            <a:r>
              <a:rPr lang="en-NZ" dirty="0"/>
              <a:t>Hall effect sensor</a:t>
            </a:r>
          </a:p>
          <a:p>
            <a:pPr marL="0" indent="0">
              <a:buNone/>
            </a:pPr>
            <a:endParaRPr lang="en-NZ" noProof="0" dirty="0"/>
          </a:p>
        </p:txBody>
      </p:sp>
      <p:sp>
        <p:nvSpPr>
          <p:cNvPr id="9" name="Content Placeholder 7">
            <a:extLst>
              <a:ext uri="{FF2B5EF4-FFF2-40B4-BE49-F238E27FC236}">
                <a16:creationId xmlns:a16="http://schemas.microsoft.com/office/drawing/2014/main" id="{F0228A46-E104-EC79-C468-348E78F19B26}"/>
              </a:ext>
            </a:extLst>
          </p:cNvPr>
          <p:cNvSpPr txBox="1">
            <a:spLocks/>
          </p:cNvSpPr>
          <p:nvPr/>
        </p:nvSpPr>
        <p:spPr>
          <a:xfrm>
            <a:off x="4234016" y="1085849"/>
            <a:ext cx="3723968"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Alternative 1</a:t>
            </a:r>
          </a:p>
          <a:p>
            <a:pPr marL="0" indent="0">
              <a:buFont typeface="Arial" panose="020B0604020202020204" pitchFamily="34" charset="0"/>
              <a:buNone/>
            </a:pPr>
            <a:r>
              <a:rPr lang="en-NZ" dirty="0"/>
              <a:t>Potentiometer</a:t>
            </a:r>
          </a:p>
          <a:p>
            <a:pPr marL="0" indent="0">
              <a:buFont typeface="Arial" panose="020B0604020202020204" pitchFamily="34" charset="0"/>
              <a:buNone/>
            </a:pPr>
            <a:endParaRPr lang="en-NZ" noProof="0" dirty="0"/>
          </a:p>
        </p:txBody>
      </p:sp>
      <p:sp>
        <p:nvSpPr>
          <p:cNvPr id="10" name="Content Placeholder 7">
            <a:extLst>
              <a:ext uri="{FF2B5EF4-FFF2-40B4-BE49-F238E27FC236}">
                <a16:creationId xmlns:a16="http://schemas.microsoft.com/office/drawing/2014/main" id="{9A871463-3208-9FA6-0521-010FAA2EDF1A}"/>
              </a:ext>
            </a:extLst>
          </p:cNvPr>
          <p:cNvSpPr txBox="1">
            <a:spLocks/>
          </p:cNvSpPr>
          <p:nvPr/>
        </p:nvSpPr>
        <p:spPr>
          <a:xfrm>
            <a:off x="7793908" y="1085848"/>
            <a:ext cx="3723968" cy="132556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Alternative 2</a:t>
            </a:r>
          </a:p>
          <a:p>
            <a:pPr marL="0" indent="0">
              <a:buFont typeface="Arial" panose="020B0604020202020204" pitchFamily="34" charset="0"/>
              <a:buNone/>
            </a:pPr>
            <a:r>
              <a:rPr lang="en-NZ" noProof="0" dirty="0"/>
              <a:t> optical encoder </a:t>
            </a:r>
          </a:p>
          <a:p>
            <a:pPr marL="0" indent="0">
              <a:buFont typeface="Arial" panose="020B0604020202020204" pitchFamily="34" charset="0"/>
              <a:buNone/>
            </a:pPr>
            <a:r>
              <a:rPr lang="en-NZ" noProof="0" dirty="0"/>
              <a:t>      </a:t>
            </a:r>
          </a:p>
        </p:txBody>
      </p:sp>
      <p:pic>
        <p:nvPicPr>
          <p:cNvPr id="11" name="Picture 10" descr="UGN3503UA Hall Effect Sensor | Afterpay &amp; ZipPay Available | Click &amp; Collect | Jaycar">
            <a:extLst>
              <a:ext uri="{FF2B5EF4-FFF2-40B4-BE49-F238E27FC236}">
                <a16:creationId xmlns:a16="http://schemas.microsoft.com/office/drawing/2014/main" id="{74D8C263-7852-B94D-311C-7133FC240A2D}"/>
              </a:ext>
            </a:extLst>
          </p:cNvPr>
          <p:cNvPicPr>
            <a:picLocks noChangeAspect="1"/>
          </p:cNvPicPr>
          <p:nvPr/>
        </p:nvPicPr>
        <p:blipFill>
          <a:blip r:embed="rId2"/>
          <a:stretch>
            <a:fillRect/>
          </a:stretch>
        </p:blipFill>
        <p:spPr>
          <a:xfrm>
            <a:off x="1002276" y="2091017"/>
            <a:ext cx="1337983" cy="1337983"/>
          </a:xfrm>
          <a:prstGeom prst="rect">
            <a:avLst/>
          </a:prstGeom>
        </p:spPr>
      </p:pic>
      <p:pic>
        <p:nvPicPr>
          <p:cNvPr id="12" name="Picture 11" descr="25k Ohm Logarithmic (A) Single Gang 24mm Potentiometer | Afterpay &amp; ZipPay Available | Click &amp; Collect | Jaycar">
            <a:extLst>
              <a:ext uri="{FF2B5EF4-FFF2-40B4-BE49-F238E27FC236}">
                <a16:creationId xmlns:a16="http://schemas.microsoft.com/office/drawing/2014/main" id="{B027A818-A851-A2E7-7756-A4924647D6FF}"/>
              </a:ext>
            </a:extLst>
          </p:cNvPr>
          <p:cNvPicPr>
            <a:picLocks noChangeAspect="1"/>
          </p:cNvPicPr>
          <p:nvPr/>
        </p:nvPicPr>
        <p:blipFill>
          <a:blip r:embed="rId3"/>
          <a:stretch>
            <a:fillRect/>
          </a:stretch>
        </p:blipFill>
        <p:spPr>
          <a:xfrm>
            <a:off x="4398091" y="1959446"/>
            <a:ext cx="1337984" cy="1337984"/>
          </a:xfrm>
          <a:prstGeom prst="rect">
            <a:avLst/>
          </a:prstGeom>
        </p:spPr>
      </p:pic>
      <p:pic>
        <p:nvPicPr>
          <p:cNvPr id="13" name="Picture 12" descr="Optical Encoders: How They Work, Types &amp; Applications">
            <a:extLst>
              <a:ext uri="{FF2B5EF4-FFF2-40B4-BE49-F238E27FC236}">
                <a16:creationId xmlns:a16="http://schemas.microsoft.com/office/drawing/2014/main" id="{528DC37D-C413-9270-1979-4BCCBBB1C8F7}"/>
              </a:ext>
            </a:extLst>
          </p:cNvPr>
          <p:cNvPicPr>
            <a:picLocks noChangeAspect="1"/>
          </p:cNvPicPr>
          <p:nvPr/>
        </p:nvPicPr>
        <p:blipFill>
          <a:blip r:embed="rId4"/>
          <a:stretch>
            <a:fillRect/>
          </a:stretch>
        </p:blipFill>
        <p:spPr>
          <a:xfrm>
            <a:off x="7957984" y="1979423"/>
            <a:ext cx="1449577" cy="1449577"/>
          </a:xfrm>
          <a:prstGeom prst="rect">
            <a:avLst/>
          </a:prstGeom>
        </p:spPr>
      </p:pic>
    </p:spTree>
    <p:extLst>
      <p:ext uri="{BB962C8B-B14F-4D97-AF65-F5344CB8AC3E}">
        <p14:creationId xmlns:p14="http://schemas.microsoft.com/office/powerpoint/2010/main" val="3412286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7FDEA-E680-2E00-410E-88328EBB1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EA619-26CF-A135-A2F3-C9429F3013EA}"/>
              </a:ext>
            </a:extLst>
          </p:cNvPr>
          <p:cNvSpPr>
            <a:spLocks noGrp="1"/>
          </p:cNvSpPr>
          <p:nvPr>
            <p:ph type="title"/>
          </p:nvPr>
        </p:nvSpPr>
        <p:spPr>
          <a:solidFill>
            <a:srgbClr val="FF5050"/>
          </a:solidFill>
        </p:spPr>
        <p:txBody>
          <a:bodyPr/>
          <a:lstStyle/>
          <a:p>
            <a:r>
              <a:rPr lang="en-NZ" noProof="0" dirty="0"/>
              <a:t>Component/System 2</a:t>
            </a:r>
          </a:p>
        </p:txBody>
      </p:sp>
      <p:sp>
        <p:nvSpPr>
          <p:cNvPr id="3" name="Content Placeholder 2">
            <a:extLst>
              <a:ext uri="{FF2B5EF4-FFF2-40B4-BE49-F238E27FC236}">
                <a16:creationId xmlns:a16="http://schemas.microsoft.com/office/drawing/2014/main" id="{109C2FE0-6991-DDAF-C4F7-B3415EC34474}"/>
              </a:ext>
            </a:extLst>
          </p:cNvPr>
          <p:cNvSpPr>
            <a:spLocks noGrp="1"/>
          </p:cNvSpPr>
          <p:nvPr>
            <p:ph idx="1"/>
          </p:nvPr>
        </p:nvSpPr>
        <p:spPr>
          <a:xfrm>
            <a:off x="943897" y="1877091"/>
            <a:ext cx="10225548" cy="1623193"/>
          </a:xfrm>
          <a:solidFill>
            <a:srgbClr val="FFCCCC"/>
          </a:solidFill>
        </p:spPr>
        <p:txBody>
          <a:bodyPr>
            <a:normAutofit fontScale="55000" lnSpcReduction="20000"/>
          </a:bodyPr>
          <a:lstStyle/>
          <a:p>
            <a:pPr marL="0" indent="0">
              <a:buNone/>
            </a:pPr>
            <a:r>
              <a:rPr lang="en-NZ" noProof="0" dirty="0"/>
              <a:t>Explanation of component-speed/rpm sensing</a:t>
            </a:r>
          </a:p>
          <a:p>
            <a:pPr marL="0" indent="0">
              <a:buNone/>
            </a:pPr>
            <a:r>
              <a:rPr lang="en-NZ" dirty="0"/>
              <a:t>The speed and RPM tracking system uses digital Hall effect sensors with neodymium magnets attached to the rotating parts of the bike, including the clutches and rear wheel. When the magnet passes the sensor, it detects the change in the magnetic field and sends a digital signal (0V or 5V) to the Arduino. These signals are used by the Arduino to calculate the RPM of the drivetrain and the speed of the bike by measuring the time between each pulse.</a:t>
            </a:r>
          </a:p>
          <a:p>
            <a:pPr marL="0" indent="0">
              <a:buNone/>
            </a:pPr>
            <a:br>
              <a:rPr lang="en-US" dirty="0"/>
            </a:br>
            <a:endParaRPr lang="en-US" dirty="0"/>
          </a:p>
          <a:p>
            <a:pPr marL="0" indent="0">
              <a:buNone/>
            </a:pPr>
            <a:endParaRPr lang="en-NZ" noProof="0" dirty="0"/>
          </a:p>
        </p:txBody>
      </p:sp>
      <p:sp>
        <p:nvSpPr>
          <p:cNvPr id="4" name="Content Placeholder 2">
            <a:extLst>
              <a:ext uri="{FF2B5EF4-FFF2-40B4-BE49-F238E27FC236}">
                <a16:creationId xmlns:a16="http://schemas.microsoft.com/office/drawing/2014/main" id="{48BF1EF6-F8B8-8CF4-9169-05F15F67B902}"/>
              </a:ext>
            </a:extLst>
          </p:cNvPr>
          <p:cNvSpPr txBox="1">
            <a:spLocks/>
          </p:cNvSpPr>
          <p:nvPr/>
        </p:nvSpPr>
        <p:spPr>
          <a:xfrm>
            <a:off x="943897" y="3686687"/>
            <a:ext cx="5385620" cy="2441984"/>
          </a:xfrm>
          <a:prstGeom prst="rect">
            <a:avLst/>
          </a:prstGeom>
          <a:solidFill>
            <a:srgbClr val="FFCC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Component Picture</a:t>
            </a:r>
          </a:p>
          <a:p>
            <a:pPr marL="0" indent="0">
              <a:buFont typeface="Arial" panose="020B0604020202020204" pitchFamily="34" charset="0"/>
              <a:buNone/>
            </a:pPr>
            <a:endParaRPr lang="en-NZ" noProof="0" dirty="0"/>
          </a:p>
          <a:p>
            <a:pPr marL="0" indent="0">
              <a:buFont typeface="Arial" panose="020B0604020202020204" pitchFamily="34" charset="0"/>
              <a:buNone/>
            </a:pPr>
            <a:endParaRPr lang="en-NZ" noProof="0" dirty="0"/>
          </a:p>
        </p:txBody>
      </p:sp>
      <p:sp>
        <p:nvSpPr>
          <p:cNvPr id="5" name="Content Placeholder 2">
            <a:extLst>
              <a:ext uri="{FF2B5EF4-FFF2-40B4-BE49-F238E27FC236}">
                <a16:creationId xmlns:a16="http://schemas.microsoft.com/office/drawing/2014/main" id="{F10EB81D-A986-42AD-847E-FF3A1F656CEB}"/>
              </a:ext>
            </a:extLst>
          </p:cNvPr>
          <p:cNvSpPr txBox="1">
            <a:spLocks/>
          </p:cNvSpPr>
          <p:nvPr/>
        </p:nvSpPr>
        <p:spPr>
          <a:xfrm>
            <a:off x="6415548" y="3686687"/>
            <a:ext cx="4753897" cy="2441984"/>
          </a:xfrm>
          <a:prstGeom prst="rect">
            <a:avLst/>
          </a:prstGeom>
          <a:solidFill>
            <a:srgbClr val="FFCCCC"/>
          </a:solidFill>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NZ" dirty="0"/>
              <a:t>Component Test Log:</a:t>
            </a:r>
            <a:br>
              <a:rPr lang="en-NZ" dirty="0"/>
            </a:br>
            <a:r>
              <a:rPr lang="en-NZ" dirty="0"/>
              <a:t>there is a bit of electromagnetic interference from other magnets like the clutch and the engine, adding a 0.1uf capacitor across the signal and </a:t>
            </a:r>
            <a:r>
              <a:rPr lang="en-NZ" dirty="0" err="1"/>
              <a:t>gnd</a:t>
            </a:r>
            <a:r>
              <a:rPr lang="en-NZ" dirty="0"/>
              <a:t> wires did reduce this </a:t>
            </a:r>
            <a:r>
              <a:rPr lang="en-NZ" dirty="0" err="1"/>
              <a:t>emi</a:t>
            </a:r>
            <a:endParaRPr lang="en-NZ" noProof="0" dirty="0"/>
          </a:p>
        </p:txBody>
      </p:sp>
      <p:pic>
        <p:nvPicPr>
          <p:cNvPr id="6" name="Picture 5" descr="UGN3503UA Hall Effect Sensor | Afterpay &amp; ZipPay Available | Click &amp; Collect | Jaycar">
            <a:extLst>
              <a:ext uri="{FF2B5EF4-FFF2-40B4-BE49-F238E27FC236}">
                <a16:creationId xmlns:a16="http://schemas.microsoft.com/office/drawing/2014/main" id="{AF91522F-8864-87D1-BC0D-289AA19074B0}"/>
              </a:ext>
            </a:extLst>
          </p:cNvPr>
          <p:cNvPicPr>
            <a:picLocks noChangeAspect="1"/>
          </p:cNvPicPr>
          <p:nvPr/>
        </p:nvPicPr>
        <p:blipFill>
          <a:blip r:embed="rId2"/>
          <a:stretch>
            <a:fillRect/>
          </a:stretch>
        </p:blipFill>
        <p:spPr>
          <a:xfrm>
            <a:off x="1022555" y="4210050"/>
            <a:ext cx="1738312" cy="1738312"/>
          </a:xfrm>
          <a:prstGeom prst="rect">
            <a:avLst/>
          </a:prstGeom>
        </p:spPr>
      </p:pic>
    </p:spTree>
    <p:extLst>
      <p:ext uri="{BB962C8B-B14F-4D97-AF65-F5344CB8AC3E}">
        <p14:creationId xmlns:p14="http://schemas.microsoft.com/office/powerpoint/2010/main" val="708745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AB4D7-9EFD-2EDD-86C5-7124EF8D89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145C90-B6D3-BDE8-E1D1-5BE0CEFD46B4}"/>
              </a:ext>
            </a:extLst>
          </p:cNvPr>
          <p:cNvSpPr>
            <a:spLocks noGrp="1"/>
          </p:cNvSpPr>
          <p:nvPr>
            <p:ph type="title"/>
          </p:nvPr>
        </p:nvSpPr>
        <p:spPr>
          <a:solidFill>
            <a:srgbClr val="FFFFCC"/>
          </a:solidFill>
        </p:spPr>
        <p:txBody>
          <a:bodyPr/>
          <a:lstStyle/>
          <a:p>
            <a:r>
              <a:rPr lang="en-NZ" noProof="0" dirty="0"/>
              <a:t>Reliability Testing</a:t>
            </a:r>
          </a:p>
        </p:txBody>
      </p:sp>
      <p:sp>
        <p:nvSpPr>
          <p:cNvPr id="5" name="Content Placeholder 2">
            <a:extLst>
              <a:ext uri="{FF2B5EF4-FFF2-40B4-BE49-F238E27FC236}">
                <a16:creationId xmlns:a16="http://schemas.microsoft.com/office/drawing/2014/main" id="{50C57F65-7853-E45D-CA58-31BCC9DE7B02}"/>
              </a:ext>
            </a:extLst>
          </p:cNvPr>
          <p:cNvSpPr txBox="1">
            <a:spLocks/>
          </p:cNvSpPr>
          <p:nvPr/>
        </p:nvSpPr>
        <p:spPr>
          <a:xfrm>
            <a:off x="983226" y="4869118"/>
            <a:ext cx="10225548" cy="1623757"/>
          </a:xfrm>
          <a:prstGeom prst="rect">
            <a:avLst/>
          </a:prstGeom>
          <a:solidFill>
            <a:srgbClr val="FFFF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NZ" noProof="0" dirty="0"/>
              <a:t>Analyse notes from testing and note changes to be made:</a:t>
            </a:r>
            <a:r>
              <a:rPr lang="en-NZ" dirty="0"/>
              <a:t> twisting the 3 wires </a:t>
            </a:r>
            <a:r>
              <a:rPr lang="en-NZ" dirty="0" err="1"/>
              <a:t>ontop</a:t>
            </a:r>
            <a:r>
              <a:rPr lang="en-NZ" dirty="0"/>
              <a:t> of </a:t>
            </a:r>
            <a:r>
              <a:rPr lang="en-NZ" dirty="0" err="1"/>
              <a:t>eachother</a:t>
            </a:r>
            <a:r>
              <a:rPr lang="en-NZ" dirty="0"/>
              <a:t> which creates an inductor which resist signal roughness </a:t>
            </a:r>
            <a:endParaRPr lang="en-NZ" noProof="0" dirty="0"/>
          </a:p>
        </p:txBody>
      </p:sp>
      <p:sp>
        <p:nvSpPr>
          <p:cNvPr id="6" name="Content Placeholder 2">
            <a:extLst>
              <a:ext uri="{FF2B5EF4-FFF2-40B4-BE49-F238E27FC236}">
                <a16:creationId xmlns:a16="http://schemas.microsoft.com/office/drawing/2014/main" id="{4FBA3B69-CE34-9320-97C4-16C15C4852CE}"/>
              </a:ext>
            </a:extLst>
          </p:cNvPr>
          <p:cNvSpPr txBox="1">
            <a:spLocks/>
          </p:cNvSpPr>
          <p:nvPr/>
        </p:nvSpPr>
        <p:spPr>
          <a:xfrm>
            <a:off x="943898" y="1986117"/>
            <a:ext cx="10225548" cy="530941"/>
          </a:xfrm>
          <a:prstGeom prst="rect">
            <a:avLst/>
          </a:prstGeom>
          <a:solidFill>
            <a:srgbClr val="FFFF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dirty="0"/>
              <a:t>Multiple test</a:t>
            </a:r>
            <a:endParaRPr lang="en-NZ" noProof="0" dirty="0"/>
          </a:p>
        </p:txBody>
      </p:sp>
      <p:sp>
        <p:nvSpPr>
          <p:cNvPr id="11" name="Content Placeholder 2">
            <a:extLst>
              <a:ext uri="{FF2B5EF4-FFF2-40B4-BE49-F238E27FC236}">
                <a16:creationId xmlns:a16="http://schemas.microsoft.com/office/drawing/2014/main" id="{E3D936A8-CA08-48BB-AA98-F3A8B43B31CF}"/>
              </a:ext>
            </a:extLst>
          </p:cNvPr>
          <p:cNvSpPr txBox="1">
            <a:spLocks/>
          </p:cNvSpPr>
          <p:nvPr/>
        </p:nvSpPr>
        <p:spPr>
          <a:xfrm>
            <a:off x="983226" y="2812487"/>
            <a:ext cx="10225548" cy="1824114"/>
          </a:xfrm>
          <a:prstGeom prst="rect">
            <a:avLst/>
          </a:prstGeom>
          <a:solidFill>
            <a:srgbClr val="FFFF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dirty="0"/>
              <a:t>Reliability notes from testing: the analog hall sensors still have a little bit of bounce to its signal but still readable </a:t>
            </a:r>
            <a:r>
              <a:rPr lang="en-NZ" dirty="0" err="1"/>
              <a:t>tho</a:t>
            </a:r>
            <a:endParaRPr lang="en-NZ" noProof="0" dirty="0"/>
          </a:p>
        </p:txBody>
      </p:sp>
    </p:spTree>
    <p:extLst>
      <p:ext uri="{BB962C8B-B14F-4D97-AF65-F5344CB8AC3E}">
        <p14:creationId xmlns:p14="http://schemas.microsoft.com/office/powerpoint/2010/main" val="34691564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4EB2B-85A8-4549-4E6D-72F4823A20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3A040-4DF6-3A52-2828-494419344D41}"/>
              </a:ext>
            </a:extLst>
          </p:cNvPr>
          <p:cNvSpPr>
            <a:spLocks noGrp="1"/>
          </p:cNvSpPr>
          <p:nvPr>
            <p:ph type="title"/>
          </p:nvPr>
        </p:nvSpPr>
        <p:spPr>
          <a:xfrm>
            <a:off x="838200" y="165100"/>
            <a:ext cx="10515600" cy="777875"/>
          </a:xfrm>
          <a:solidFill>
            <a:schemeClr val="accent3">
              <a:lumMod val="20000"/>
              <a:lumOff val="80000"/>
            </a:schemeClr>
          </a:solidFill>
        </p:spPr>
        <p:txBody>
          <a:bodyPr/>
          <a:lstStyle/>
          <a:p>
            <a:r>
              <a:rPr lang="en-NZ" noProof="0" dirty="0"/>
              <a:t>Choice of Component/System 3</a:t>
            </a:r>
          </a:p>
        </p:txBody>
      </p:sp>
      <p:sp>
        <p:nvSpPr>
          <p:cNvPr id="5" name="Content Placeholder 2">
            <a:extLst>
              <a:ext uri="{FF2B5EF4-FFF2-40B4-BE49-F238E27FC236}">
                <a16:creationId xmlns:a16="http://schemas.microsoft.com/office/drawing/2014/main" id="{208AF426-607B-1936-143C-7541AD8896ED}"/>
              </a:ext>
            </a:extLst>
          </p:cNvPr>
          <p:cNvSpPr txBox="1">
            <a:spLocks/>
          </p:cNvSpPr>
          <p:nvPr/>
        </p:nvSpPr>
        <p:spPr>
          <a:xfrm>
            <a:off x="838200" y="3646026"/>
            <a:ext cx="10225548" cy="2726095"/>
          </a:xfrm>
          <a:prstGeom prst="rect">
            <a:avLst/>
          </a:prstGeom>
          <a:solidFill>
            <a:schemeClr val="accent6">
              <a:lumMod val="20000"/>
              <a:lumOff val="8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Justification of choice made</a:t>
            </a:r>
          </a:p>
          <a:p>
            <a:pPr marL="0" indent="0">
              <a:buNone/>
            </a:pPr>
            <a:r>
              <a:rPr lang="en-NZ" dirty="0"/>
              <a:t>The chosen 1.3" I2C OLED display was selected because it provides a clear and efficient way to display information from the ESP. It is not only bright enough to be seen in the day but only uses 4 wires (</a:t>
            </a:r>
            <a:r>
              <a:rPr lang="en-NZ" dirty="0" err="1"/>
              <a:t>gnd</a:t>
            </a:r>
            <a:r>
              <a:rPr lang="en-NZ" dirty="0"/>
              <a:t>, 3v3, </a:t>
            </a:r>
            <a:r>
              <a:rPr lang="en-NZ" dirty="0" err="1"/>
              <a:t>sda</a:t>
            </a:r>
            <a:r>
              <a:rPr lang="en-NZ" dirty="0"/>
              <a:t> and </a:t>
            </a:r>
            <a:r>
              <a:rPr lang="en-NZ" dirty="0" err="1"/>
              <a:t>scl</a:t>
            </a:r>
            <a:r>
              <a:rPr lang="en-NZ" dirty="0"/>
              <a:t>) (</a:t>
            </a:r>
            <a:r>
              <a:rPr lang="en-NZ" dirty="0" err="1"/>
              <a:t>scl:serial</a:t>
            </a:r>
            <a:r>
              <a:rPr lang="en-NZ" dirty="0"/>
              <a:t> clock  </a:t>
            </a:r>
            <a:r>
              <a:rPr lang="en-NZ" dirty="0" err="1"/>
              <a:t>sda</a:t>
            </a:r>
            <a:r>
              <a:rPr lang="en-NZ" dirty="0"/>
              <a:t>: serial data) </a:t>
            </a:r>
            <a:r>
              <a:rPr lang="en-NZ" dirty="0" err="1"/>
              <a:t>wich</a:t>
            </a:r>
            <a:r>
              <a:rPr lang="en-NZ" dirty="0"/>
              <a:t> is also very easy to programme and </a:t>
            </a:r>
            <a:r>
              <a:rPr lang="en-NZ" dirty="0" err="1"/>
              <a:t>controll</a:t>
            </a:r>
            <a:endParaRPr lang="en-NZ" noProof="0" dirty="0"/>
          </a:p>
        </p:txBody>
      </p:sp>
      <p:sp>
        <p:nvSpPr>
          <p:cNvPr id="8" name="Content Placeholder 7">
            <a:extLst>
              <a:ext uri="{FF2B5EF4-FFF2-40B4-BE49-F238E27FC236}">
                <a16:creationId xmlns:a16="http://schemas.microsoft.com/office/drawing/2014/main" id="{DFB8CE4C-97AF-7F3E-9CAC-E06101B7E86D}"/>
              </a:ext>
            </a:extLst>
          </p:cNvPr>
          <p:cNvSpPr>
            <a:spLocks noGrp="1"/>
          </p:cNvSpPr>
          <p:nvPr>
            <p:ph idx="1"/>
          </p:nvPr>
        </p:nvSpPr>
        <p:spPr>
          <a:xfrm>
            <a:off x="838200" y="942975"/>
            <a:ext cx="3723968" cy="1325563"/>
          </a:xfrm>
        </p:spPr>
        <p:txBody>
          <a:bodyPr/>
          <a:lstStyle/>
          <a:p>
            <a:pPr marL="0" indent="0">
              <a:buNone/>
            </a:pPr>
            <a:r>
              <a:rPr lang="en-NZ" noProof="0" dirty="0"/>
              <a:t>Chosen</a:t>
            </a:r>
          </a:p>
          <a:p>
            <a:pPr marL="0" indent="0">
              <a:buNone/>
            </a:pPr>
            <a:r>
              <a:rPr lang="en-NZ" dirty="0"/>
              <a:t>1.3” i2c </a:t>
            </a:r>
            <a:r>
              <a:rPr lang="en-NZ" dirty="0" err="1"/>
              <a:t>Oled</a:t>
            </a:r>
            <a:r>
              <a:rPr lang="en-NZ" dirty="0"/>
              <a:t> screen</a:t>
            </a:r>
          </a:p>
          <a:p>
            <a:pPr marL="0" indent="0">
              <a:buNone/>
            </a:pPr>
            <a:endParaRPr lang="en-NZ" noProof="0" dirty="0"/>
          </a:p>
        </p:txBody>
      </p:sp>
      <p:sp>
        <p:nvSpPr>
          <p:cNvPr id="9" name="Content Placeholder 7">
            <a:extLst>
              <a:ext uri="{FF2B5EF4-FFF2-40B4-BE49-F238E27FC236}">
                <a16:creationId xmlns:a16="http://schemas.microsoft.com/office/drawing/2014/main" id="{0A4F4AF7-5E5A-2D76-3F73-6A09F3F31537}"/>
              </a:ext>
            </a:extLst>
          </p:cNvPr>
          <p:cNvSpPr txBox="1">
            <a:spLocks/>
          </p:cNvSpPr>
          <p:nvPr/>
        </p:nvSpPr>
        <p:spPr>
          <a:xfrm>
            <a:off x="4234016" y="942974"/>
            <a:ext cx="3723968"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Alternative 1</a:t>
            </a:r>
          </a:p>
          <a:p>
            <a:pPr marL="0" indent="0">
              <a:buFont typeface="Arial" panose="020B0604020202020204" pitchFamily="34" charset="0"/>
              <a:buNone/>
            </a:pPr>
            <a:r>
              <a:rPr lang="en-NZ" dirty="0"/>
              <a:t>Lcd screen</a:t>
            </a:r>
            <a:r>
              <a:rPr lang="en-NZ" noProof="0" dirty="0"/>
              <a:t> </a:t>
            </a:r>
          </a:p>
          <a:p>
            <a:pPr marL="0" indent="0">
              <a:buFont typeface="Arial" panose="020B0604020202020204" pitchFamily="34" charset="0"/>
              <a:buNone/>
            </a:pPr>
            <a:endParaRPr lang="en-NZ" noProof="0" dirty="0"/>
          </a:p>
        </p:txBody>
      </p:sp>
      <p:sp>
        <p:nvSpPr>
          <p:cNvPr id="10" name="Content Placeholder 7">
            <a:extLst>
              <a:ext uri="{FF2B5EF4-FFF2-40B4-BE49-F238E27FC236}">
                <a16:creationId xmlns:a16="http://schemas.microsoft.com/office/drawing/2014/main" id="{841EBE6D-B5D0-4C30-C32E-F3AA1F02B8FD}"/>
              </a:ext>
            </a:extLst>
          </p:cNvPr>
          <p:cNvSpPr txBox="1">
            <a:spLocks/>
          </p:cNvSpPr>
          <p:nvPr/>
        </p:nvSpPr>
        <p:spPr>
          <a:xfrm>
            <a:off x="7793908" y="942973"/>
            <a:ext cx="3723968" cy="132556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Alternative 2</a:t>
            </a:r>
          </a:p>
          <a:p>
            <a:pPr marL="0" indent="0">
              <a:buFont typeface="Arial" panose="020B0604020202020204" pitchFamily="34" charset="0"/>
              <a:buNone/>
            </a:pPr>
            <a:r>
              <a:rPr lang="en-NZ" dirty="0"/>
              <a:t> SPI TFT colour display</a:t>
            </a:r>
          </a:p>
          <a:p>
            <a:pPr marL="0" indent="0">
              <a:buFont typeface="Arial" panose="020B0604020202020204" pitchFamily="34" charset="0"/>
              <a:buNone/>
            </a:pPr>
            <a:r>
              <a:rPr lang="en-NZ" noProof="0" dirty="0"/>
              <a:t> </a:t>
            </a:r>
          </a:p>
        </p:txBody>
      </p:sp>
      <p:pic>
        <p:nvPicPr>
          <p:cNvPr id="3" name="Picture 2" descr="1.3&quot; IIC I2C Serial 128x64 SSH1106 OLED Display Module | SunFounder">
            <a:extLst>
              <a:ext uri="{FF2B5EF4-FFF2-40B4-BE49-F238E27FC236}">
                <a16:creationId xmlns:a16="http://schemas.microsoft.com/office/drawing/2014/main" id="{F5E4ECB3-7C85-9278-8865-913F5712CD83}"/>
              </a:ext>
            </a:extLst>
          </p:cNvPr>
          <p:cNvPicPr>
            <a:picLocks noChangeAspect="1"/>
          </p:cNvPicPr>
          <p:nvPr/>
        </p:nvPicPr>
        <p:blipFill>
          <a:blip r:embed="rId3"/>
          <a:stretch>
            <a:fillRect/>
          </a:stretch>
        </p:blipFill>
        <p:spPr>
          <a:xfrm>
            <a:off x="838200" y="1862138"/>
            <a:ext cx="1566862" cy="1566862"/>
          </a:xfrm>
          <a:prstGeom prst="rect">
            <a:avLst/>
          </a:prstGeom>
        </p:spPr>
      </p:pic>
      <p:pic>
        <p:nvPicPr>
          <p:cNvPr id="4" name="Picture 3" descr="Dot Matrix White on Blue LCD 16x2 Character">
            <a:extLst>
              <a:ext uri="{FF2B5EF4-FFF2-40B4-BE49-F238E27FC236}">
                <a16:creationId xmlns:a16="http://schemas.microsoft.com/office/drawing/2014/main" id="{32BBFE84-3B48-9181-4D61-41F2CE571F1A}"/>
              </a:ext>
            </a:extLst>
          </p:cNvPr>
          <p:cNvPicPr>
            <a:picLocks noChangeAspect="1"/>
          </p:cNvPicPr>
          <p:nvPr/>
        </p:nvPicPr>
        <p:blipFill>
          <a:blip r:embed="rId4"/>
          <a:stretch>
            <a:fillRect/>
          </a:stretch>
        </p:blipFill>
        <p:spPr>
          <a:xfrm>
            <a:off x="4234016" y="1928812"/>
            <a:ext cx="1433513" cy="1433513"/>
          </a:xfrm>
          <a:prstGeom prst="rect">
            <a:avLst/>
          </a:prstGeom>
        </p:spPr>
      </p:pic>
      <p:pic>
        <p:nvPicPr>
          <p:cNvPr id="6" name="Picture 5" descr="TFT LCD - Full Colour TFT LCD Display 1.8 inch(128x160) SPI Interface">
            <a:extLst>
              <a:ext uri="{FF2B5EF4-FFF2-40B4-BE49-F238E27FC236}">
                <a16:creationId xmlns:a16="http://schemas.microsoft.com/office/drawing/2014/main" id="{41234967-307F-BDE8-49C4-83E454CBA3FC}"/>
              </a:ext>
            </a:extLst>
          </p:cNvPr>
          <p:cNvPicPr>
            <a:picLocks noChangeAspect="1"/>
          </p:cNvPicPr>
          <p:nvPr/>
        </p:nvPicPr>
        <p:blipFill>
          <a:blip r:embed="rId5"/>
          <a:stretch>
            <a:fillRect/>
          </a:stretch>
        </p:blipFill>
        <p:spPr>
          <a:xfrm>
            <a:off x="7793908" y="1909762"/>
            <a:ext cx="1471612" cy="1471612"/>
          </a:xfrm>
          <a:prstGeom prst="rect">
            <a:avLst/>
          </a:prstGeom>
        </p:spPr>
      </p:pic>
    </p:spTree>
    <p:extLst>
      <p:ext uri="{BB962C8B-B14F-4D97-AF65-F5344CB8AC3E}">
        <p14:creationId xmlns:p14="http://schemas.microsoft.com/office/powerpoint/2010/main" val="2953175661"/>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7FDEA-E680-2E00-410E-88328EBB1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EA619-26CF-A135-A2F3-C9429F3013EA}"/>
              </a:ext>
            </a:extLst>
          </p:cNvPr>
          <p:cNvSpPr>
            <a:spLocks noGrp="1"/>
          </p:cNvSpPr>
          <p:nvPr>
            <p:ph type="title"/>
          </p:nvPr>
        </p:nvSpPr>
        <p:spPr>
          <a:solidFill>
            <a:srgbClr val="FF5050"/>
          </a:solidFill>
        </p:spPr>
        <p:txBody>
          <a:bodyPr/>
          <a:lstStyle/>
          <a:p>
            <a:r>
              <a:rPr lang="en-NZ" noProof="0" dirty="0"/>
              <a:t>Component/System </a:t>
            </a:r>
            <a:r>
              <a:rPr lang="en-NZ" dirty="0"/>
              <a:t>3</a:t>
            </a:r>
            <a:endParaRPr lang="en-NZ" noProof="0" dirty="0"/>
          </a:p>
        </p:txBody>
      </p:sp>
      <p:sp>
        <p:nvSpPr>
          <p:cNvPr id="3" name="Content Placeholder 2">
            <a:extLst>
              <a:ext uri="{FF2B5EF4-FFF2-40B4-BE49-F238E27FC236}">
                <a16:creationId xmlns:a16="http://schemas.microsoft.com/office/drawing/2014/main" id="{109C2FE0-6991-DDAF-C4F7-B3415EC34474}"/>
              </a:ext>
            </a:extLst>
          </p:cNvPr>
          <p:cNvSpPr>
            <a:spLocks noGrp="1"/>
          </p:cNvSpPr>
          <p:nvPr>
            <p:ph idx="1"/>
          </p:nvPr>
        </p:nvSpPr>
        <p:spPr>
          <a:xfrm>
            <a:off x="943897" y="1877091"/>
            <a:ext cx="10225548" cy="1623193"/>
          </a:xfrm>
          <a:solidFill>
            <a:srgbClr val="FFCCCC"/>
          </a:solidFill>
        </p:spPr>
        <p:txBody>
          <a:bodyPr>
            <a:normAutofit fontScale="92500"/>
          </a:bodyPr>
          <a:lstStyle/>
          <a:p>
            <a:pPr marL="0" indent="0">
              <a:buNone/>
            </a:pPr>
            <a:r>
              <a:rPr lang="en-NZ" noProof="0" dirty="0"/>
              <a:t>Explanation of component-dashboard:</a:t>
            </a:r>
            <a:r>
              <a:rPr lang="en-NZ" dirty="0"/>
              <a:t>The dashboard provides the rider with a real-time visual interface displaying operational telemetry. It features a 1.3" SH1106 I2C OLED display running in tandem with a custom 16-LED tachometer bar driven by an MCP23017 port expander.</a:t>
            </a:r>
            <a:endParaRPr lang="en-NZ" noProof="0" dirty="0"/>
          </a:p>
        </p:txBody>
      </p:sp>
      <p:sp>
        <p:nvSpPr>
          <p:cNvPr id="4" name="Content Placeholder 2">
            <a:extLst>
              <a:ext uri="{FF2B5EF4-FFF2-40B4-BE49-F238E27FC236}">
                <a16:creationId xmlns:a16="http://schemas.microsoft.com/office/drawing/2014/main" id="{48BF1EF6-F8B8-8CF4-9169-05F15F67B902}"/>
              </a:ext>
            </a:extLst>
          </p:cNvPr>
          <p:cNvSpPr txBox="1">
            <a:spLocks/>
          </p:cNvSpPr>
          <p:nvPr/>
        </p:nvSpPr>
        <p:spPr>
          <a:xfrm>
            <a:off x="943897" y="3686687"/>
            <a:ext cx="5385620" cy="2441984"/>
          </a:xfrm>
          <a:prstGeom prst="rect">
            <a:avLst/>
          </a:prstGeom>
          <a:solidFill>
            <a:srgbClr val="FFCC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Component Picture</a:t>
            </a:r>
          </a:p>
          <a:p>
            <a:pPr marL="0" indent="0">
              <a:buFont typeface="Arial" panose="020B0604020202020204" pitchFamily="34" charset="0"/>
              <a:buNone/>
            </a:pPr>
            <a:endParaRPr lang="en-NZ" noProof="0" dirty="0"/>
          </a:p>
        </p:txBody>
      </p:sp>
      <p:sp>
        <p:nvSpPr>
          <p:cNvPr id="5" name="Content Placeholder 2">
            <a:extLst>
              <a:ext uri="{FF2B5EF4-FFF2-40B4-BE49-F238E27FC236}">
                <a16:creationId xmlns:a16="http://schemas.microsoft.com/office/drawing/2014/main" id="{F10EB81D-A986-42AD-847E-FF3A1F656CEB}"/>
              </a:ext>
            </a:extLst>
          </p:cNvPr>
          <p:cNvSpPr txBox="1">
            <a:spLocks/>
          </p:cNvSpPr>
          <p:nvPr/>
        </p:nvSpPr>
        <p:spPr>
          <a:xfrm>
            <a:off x="6415548" y="3686687"/>
            <a:ext cx="4753897" cy="2441984"/>
          </a:xfrm>
          <a:prstGeom prst="rect">
            <a:avLst/>
          </a:prstGeom>
          <a:solidFill>
            <a:srgbClr val="FFCC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NZ" dirty="0"/>
              <a:t>Component Test Log:</a:t>
            </a:r>
          </a:p>
          <a:p>
            <a:pPr marL="0" indent="0">
              <a:buNone/>
            </a:pPr>
            <a:br>
              <a:rPr lang="en-NZ" dirty="0"/>
            </a:br>
            <a:endParaRPr lang="en-NZ" noProof="0" dirty="0"/>
          </a:p>
        </p:txBody>
      </p:sp>
      <p:pic>
        <p:nvPicPr>
          <p:cNvPr id="7" name="Picture 6" descr="1.3&quot; IIC I2C Serial 128x64 SSH1106 OLED Display Module | SunFounder">
            <a:extLst>
              <a:ext uri="{FF2B5EF4-FFF2-40B4-BE49-F238E27FC236}">
                <a16:creationId xmlns:a16="http://schemas.microsoft.com/office/drawing/2014/main" id="{54271B21-FAE3-3C41-E0F8-769AF4668304}"/>
              </a:ext>
            </a:extLst>
          </p:cNvPr>
          <p:cNvPicPr>
            <a:picLocks noChangeAspect="1"/>
          </p:cNvPicPr>
          <p:nvPr/>
        </p:nvPicPr>
        <p:blipFill>
          <a:blip r:embed="rId2"/>
          <a:stretch>
            <a:fillRect/>
          </a:stretch>
        </p:blipFill>
        <p:spPr>
          <a:xfrm>
            <a:off x="1022555" y="4189702"/>
            <a:ext cx="1566862" cy="1566862"/>
          </a:xfrm>
          <a:prstGeom prst="rect">
            <a:avLst/>
          </a:prstGeom>
        </p:spPr>
      </p:pic>
    </p:spTree>
    <p:extLst>
      <p:ext uri="{BB962C8B-B14F-4D97-AF65-F5344CB8AC3E}">
        <p14:creationId xmlns:p14="http://schemas.microsoft.com/office/powerpoint/2010/main" val="3091740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9C1A2-86E3-8152-7C99-0C92420636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3F34E6-3337-F604-5FD4-D99ADEC9EAB0}"/>
              </a:ext>
            </a:extLst>
          </p:cNvPr>
          <p:cNvSpPr>
            <a:spLocks noGrp="1"/>
          </p:cNvSpPr>
          <p:nvPr>
            <p:ph type="title"/>
          </p:nvPr>
        </p:nvSpPr>
        <p:spPr>
          <a:solidFill>
            <a:srgbClr val="FFFFCC"/>
          </a:solidFill>
        </p:spPr>
        <p:txBody>
          <a:bodyPr/>
          <a:lstStyle/>
          <a:p>
            <a:r>
              <a:rPr lang="en-NZ" noProof="0" dirty="0"/>
              <a:t>Reliability Testing</a:t>
            </a:r>
          </a:p>
        </p:txBody>
      </p:sp>
      <p:sp>
        <p:nvSpPr>
          <p:cNvPr id="5" name="Content Placeholder 2">
            <a:extLst>
              <a:ext uri="{FF2B5EF4-FFF2-40B4-BE49-F238E27FC236}">
                <a16:creationId xmlns:a16="http://schemas.microsoft.com/office/drawing/2014/main" id="{9A2E10AF-E8DC-77CD-AEF5-92874F19D3A0}"/>
              </a:ext>
            </a:extLst>
          </p:cNvPr>
          <p:cNvSpPr txBox="1">
            <a:spLocks/>
          </p:cNvSpPr>
          <p:nvPr/>
        </p:nvSpPr>
        <p:spPr>
          <a:xfrm>
            <a:off x="983226" y="4869118"/>
            <a:ext cx="10225548" cy="1623757"/>
          </a:xfrm>
          <a:prstGeom prst="rect">
            <a:avLst/>
          </a:prstGeom>
          <a:solidFill>
            <a:srgbClr val="FFFFCC"/>
          </a:solidFill>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Analyse notes from testing and note changes to be made:</a:t>
            </a:r>
          </a:p>
          <a:p>
            <a:pPr marL="0" indent="0">
              <a:buNone/>
            </a:pPr>
            <a:r>
              <a:rPr lang="en-NZ"/>
              <a:t>to </a:t>
            </a:r>
            <a:r>
              <a:rPr lang="en-NZ" dirty="0"/>
              <a:t>prevent environmental short circuits, I designed a sealed handlebar mounting dashboard cluster using 3D-printed PETG. I integrated a transparent acrylic faceplate and cut a custom, shock-absorbing TPU gasket to seal the electronics safely away from weather exposure.</a:t>
            </a:r>
            <a:endParaRPr lang="en-NZ" noProof="0" dirty="0"/>
          </a:p>
        </p:txBody>
      </p:sp>
      <p:sp>
        <p:nvSpPr>
          <p:cNvPr id="6" name="Content Placeholder 2">
            <a:extLst>
              <a:ext uri="{FF2B5EF4-FFF2-40B4-BE49-F238E27FC236}">
                <a16:creationId xmlns:a16="http://schemas.microsoft.com/office/drawing/2014/main" id="{C56FAEE3-7BDA-65B3-E035-11A81E925FF4}"/>
              </a:ext>
            </a:extLst>
          </p:cNvPr>
          <p:cNvSpPr txBox="1">
            <a:spLocks/>
          </p:cNvSpPr>
          <p:nvPr/>
        </p:nvSpPr>
        <p:spPr>
          <a:xfrm>
            <a:off x="943898" y="1986117"/>
            <a:ext cx="10225548" cy="530941"/>
          </a:xfrm>
          <a:prstGeom prst="rect">
            <a:avLst/>
          </a:prstGeom>
          <a:solidFill>
            <a:srgbClr val="FFFF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dirty="0"/>
              <a:t>Multiple test</a:t>
            </a:r>
            <a:endParaRPr lang="en-NZ" noProof="0" dirty="0"/>
          </a:p>
        </p:txBody>
      </p:sp>
      <p:sp>
        <p:nvSpPr>
          <p:cNvPr id="11" name="Content Placeholder 2">
            <a:extLst>
              <a:ext uri="{FF2B5EF4-FFF2-40B4-BE49-F238E27FC236}">
                <a16:creationId xmlns:a16="http://schemas.microsoft.com/office/drawing/2014/main" id="{B6A71E36-4483-2584-CCFF-D3DA0E228EAB}"/>
              </a:ext>
            </a:extLst>
          </p:cNvPr>
          <p:cNvSpPr txBox="1">
            <a:spLocks/>
          </p:cNvSpPr>
          <p:nvPr/>
        </p:nvSpPr>
        <p:spPr>
          <a:xfrm>
            <a:off x="983226" y="2812487"/>
            <a:ext cx="10225548" cy="1824114"/>
          </a:xfrm>
          <a:prstGeom prst="rect">
            <a:avLst/>
          </a:prstGeom>
          <a:solidFill>
            <a:srgbClr val="FFFF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dirty="0"/>
              <a:t>Reliability notes from testing: </a:t>
            </a:r>
            <a:endParaRPr lang="en-NZ" noProof="0" dirty="0"/>
          </a:p>
        </p:txBody>
      </p:sp>
    </p:spTree>
    <p:extLst>
      <p:ext uri="{BB962C8B-B14F-4D97-AF65-F5344CB8AC3E}">
        <p14:creationId xmlns:p14="http://schemas.microsoft.com/office/powerpoint/2010/main" val="38656932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4EB2B-85A8-4549-4E6D-72F4823A20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3A040-4DF6-3A52-2828-494419344D41}"/>
              </a:ext>
            </a:extLst>
          </p:cNvPr>
          <p:cNvSpPr>
            <a:spLocks noGrp="1"/>
          </p:cNvSpPr>
          <p:nvPr>
            <p:ph type="title"/>
          </p:nvPr>
        </p:nvSpPr>
        <p:spPr>
          <a:xfrm>
            <a:off x="838200" y="110657"/>
            <a:ext cx="10515600" cy="750443"/>
          </a:xfrm>
          <a:solidFill>
            <a:schemeClr val="accent3">
              <a:lumMod val="20000"/>
              <a:lumOff val="80000"/>
            </a:schemeClr>
          </a:solidFill>
        </p:spPr>
        <p:txBody>
          <a:bodyPr/>
          <a:lstStyle/>
          <a:p>
            <a:r>
              <a:rPr lang="en-NZ" noProof="0" dirty="0"/>
              <a:t>Choice of Component/System </a:t>
            </a:r>
            <a:r>
              <a:rPr lang="en-NZ" dirty="0"/>
              <a:t>4</a:t>
            </a:r>
            <a:endParaRPr lang="en-NZ" noProof="0" dirty="0"/>
          </a:p>
        </p:txBody>
      </p:sp>
      <p:sp>
        <p:nvSpPr>
          <p:cNvPr id="5" name="Content Placeholder 2">
            <a:extLst>
              <a:ext uri="{FF2B5EF4-FFF2-40B4-BE49-F238E27FC236}">
                <a16:creationId xmlns:a16="http://schemas.microsoft.com/office/drawing/2014/main" id="{208AF426-607B-1936-143C-7541AD8896ED}"/>
              </a:ext>
            </a:extLst>
          </p:cNvPr>
          <p:cNvSpPr txBox="1">
            <a:spLocks/>
          </p:cNvSpPr>
          <p:nvPr/>
        </p:nvSpPr>
        <p:spPr>
          <a:xfrm>
            <a:off x="838200" y="3646026"/>
            <a:ext cx="10225548" cy="2726095"/>
          </a:xfrm>
          <a:prstGeom prst="rect">
            <a:avLst/>
          </a:prstGeom>
          <a:solidFill>
            <a:schemeClr val="accent6">
              <a:lumMod val="20000"/>
              <a:lumOff val="80000"/>
            </a:schemeClr>
          </a:solidFill>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Justification of choice made</a:t>
            </a:r>
            <a:endParaRPr lang="en-NZ" dirty="0"/>
          </a:p>
          <a:p>
            <a:pPr marL="0" indent="0">
              <a:buFont typeface="Arial" panose="020B0604020202020204" pitchFamily="34" charset="0"/>
              <a:buNone/>
            </a:pPr>
            <a:r>
              <a:rPr lang="en-NZ" noProof="0" dirty="0"/>
              <a:t>I chose </a:t>
            </a:r>
            <a:r>
              <a:rPr lang="en-NZ" dirty="0"/>
              <a:t>the electromagnetic clutch because, when a electric motor gets back driven it can cause something called back emf which is basically electric breaking but with a electromagnetic clutch yon can physically disconnect the 2 power units from each other specifically the electric motor which mean no back emf.</a:t>
            </a:r>
            <a:endParaRPr lang="en-NZ" noProof="0" dirty="0"/>
          </a:p>
          <a:p>
            <a:pPr marL="0" indent="0">
              <a:buNone/>
            </a:pPr>
            <a:br>
              <a:rPr lang="en-US" dirty="0"/>
            </a:br>
            <a:endParaRPr lang="en-US" dirty="0"/>
          </a:p>
          <a:p>
            <a:pPr marL="0" indent="0">
              <a:buFont typeface="Arial" panose="020B0604020202020204" pitchFamily="34" charset="0"/>
              <a:buNone/>
            </a:pPr>
            <a:endParaRPr lang="en-NZ" noProof="0" dirty="0"/>
          </a:p>
        </p:txBody>
      </p:sp>
      <p:sp>
        <p:nvSpPr>
          <p:cNvPr id="8" name="Content Placeholder 7">
            <a:extLst>
              <a:ext uri="{FF2B5EF4-FFF2-40B4-BE49-F238E27FC236}">
                <a16:creationId xmlns:a16="http://schemas.microsoft.com/office/drawing/2014/main" id="{DFB8CE4C-97AF-7F3E-9CAC-E06101B7E86D}"/>
              </a:ext>
            </a:extLst>
          </p:cNvPr>
          <p:cNvSpPr>
            <a:spLocks noGrp="1"/>
          </p:cNvSpPr>
          <p:nvPr>
            <p:ph idx="1"/>
          </p:nvPr>
        </p:nvSpPr>
        <p:spPr>
          <a:xfrm>
            <a:off x="838200" y="897055"/>
            <a:ext cx="3723968" cy="1325563"/>
          </a:xfrm>
        </p:spPr>
        <p:txBody>
          <a:bodyPr>
            <a:normAutofit lnSpcReduction="10000"/>
          </a:bodyPr>
          <a:lstStyle/>
          <a:p>
            <a:pPr marL="0" indent="0">
              <a:buNone/>
            </a:pPr>
            <a:r>
              <a:rPr lang="en-NZ" noProof="0" dirty="0"/>
              <a:t>Chosen</a:t>
            </a:r>
          </a:p>
          <a:p>
            <a:pPr marL="0" indent="0">
              <a:buNone/>
            </a:pPr>
            <a:r>
              <a:rPr lang="en-NZ" dirty="0" err="1"/>
              <a:t>Electromangetic</a:t>
            </a:r>
            <a:r>
              <a:rPr lang="en-NZ" dirty="0"/>
              <a:t> clutch</a:t>
            </a:r>
          </a:p>
          <a:p>
            <a:pPr marL="0" indent="0">
              <a:buNone/>
            </a:pPr>
            <a:endParaRPr lang="en-NZ" dirty="0"/>
          </a:p>
          <a:p>
            <a:pPr marL="0" indent="0">
              <a:buNone/>
            </a:pPr>
            <a:endParaRPr lang="en-NZ" noProof="0" dirty="0"/>
          </a:p>
        </p:txBody>
      </p:sp>
      <p:sp>
        <p:nvSpPr>
          <p:cNvPr id="9" name="Content Placeholder 7">
            <a:extLst>
              <a:ext uri="{FF2B5EF4-FFF2-40B4-BE49-F238E27FC236}">
                <a16:creationId xmlns:a16="http://schemas.microsoft.com/office/drawing/2014/main" id="{0A4F4AF7-5E5A-2D76-3F73-6A09F3F31537}"/>
              </a:ext>
            </a:extLst>
          </p:cNvPr>
          <p:cNvSpPr txBox="1">
            <a:spLocks/>
          </p:cNvSpPr>
          <p:nvPr/>
        </p:nvSpPr>
        <p:spPr>
          <a:xfrm>
            <a:off x="4234015" y="897054"/>
            <a:ext cx="3723968" cy="132556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Alternative 1</a:t>
            </a:r>
          </a:p>
          <a:p>
            <a:pPr marL="0" indent="0">
              <a:buNone/>
            </a:pPr>
            <a:r>
              <a:rPr lang="en-NZ" dirty="0"/>
              <a:t>Automatic Centrifugal Clutch Mechanism.</a:t>
            </a:r>
          </a:p>
          <a:p>
            <a:pPr marL="0" indent="0">
              <a:buNone/>
            </a:pPr>
            <a:endParaRPr lang="en-NZ" noProof="0" dirty="0"/>
          </a:p>
        </p:txBody>
      </p:sp>
      <p:sp>
        <p:nvSpPr>
          <p:cNvPr id="10" name="Content Placeholder 7">
            <a:extLst>
              <a:ext uri="{FF2B5EF4-FFF2-40B4-BE49-F238E27FC236}">
                <a16:creationId xmlns:a16="http://schemas.microsoft.com/office/drawing/2014/main" id="{841EBE6D-B5D0-4C30-C32E-F3AA1F02B8FD}"/>
              </a:ext>
            </a:extLst>
          </p:cNvPr>
          <p:cNvSpPr txBox="1">
            <a:spLocks/>
          </p:cNvSpPr>
          <p:nvPr/>
        </p:nvSpPr>
        <p:spPr>
          <a:xfrm>
            <a:off x="7957983" y="861100"/>
            <a:ext cx="3723968"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Alternative 2</a:t>
            </a:r>
            <a:endParaRPr lang="en-NZ" dirty="0"/>
          </a:p>
          <a:p>
            <a:pPr marL="0" indent="0">
              <a:buFont typeface="Arial" panose="020B0604020202020204" pitchFamily="34" charset="0"/>
              <a:buNone/>
            </a:pPr>
            <a:r>
              <a:rPr lang="en-NZ" noProof="0" dirty="0"/>
              <a:t>One way </a:t>
            </a:r>
            <a:r>
              <a:rPr lang="en-NZ" noProof="0" dirty="0" err="1"/>
              <a:t>bearin</a:t>
            </a:r>
            <a:r>
              <a:rPr lang="en-NZ" dirty="0"/>
              <a:t>g</a:t>
            </a:r>
            <a:endParaRPr lang="en-NZ" noProof="0" dirty="0"/>
          </a:p>
        </p:txBody>
      </p:sp>
      <p:pic>
        <p:nvPicPr>
          <p:cNvPr id="3" name="Picture 2" descr="Three-shoe Centrifugal Clutch | Download Scientific Diagram">
            <a:extLst>
              <a:ext uri="{FF2B5EF4-FFF2-40B4-BE49-F238E27FC236}">
                <a16:creationId xmlns:a16="http://schemas.microsoft.com/office/drawing/2014/main" id="{5B75F591-E097-34BE-A9DF-06ABD01594D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34015" y="2222617"/>
            <a:ext cx="1821815" cy="1290320"/>
          </a:xfrm>
          <a:prstGeom prst="rect">
            <a:avLst/>
          </a:prstGeom>
          <a:noFill/>
          <a:ln>
            <a:noFill/>
          </a:ln>
        </p:spPr>
      </p:pic>
      <p:pic>
        <p:nvPicPr>
          <p:cNvPr id="4" name="Picture 3" descr="Chain Tail-ME1 Miniature Electromagnetic Bearing Mounted Clutch With Hub">
            <a:extLst>
              <a:ext uri="{FF2B5EF4-FFF2-40B4-BE49-F238E27FC236}">
                <a16:creationId xmlns:a16="http://schemas.microsoft.com/office/drawing/2014/main" id="{885EA768-A1E5-06E4-17BA-A6EBFF50C25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2153285"/>
            <a:ext cx="1275715" cy="1275715"/>
          </a:xfrm>
          <a:prstGeom prst="rect">
            <a:avLst/>
          </a:prstGeom>
          <a:noFill/>
          <a:ln>
            <a:noFill/>
          </a:ln>
        </p:spPr>
      </p:pic>
      <p:pic>
        <p:nvPicPr>
          <p:cNvPr id="6" name="Picture 5" descr="All about one way clutch bearing">
            <a:extLst>
              <a:ext uri="{FF2B5EF4-FFF2-40B4-BE49-F238E27FC236}">
                <a16:creationId xmlns:a16="http://schemas.microsoft.com/office/drawing/2014/main" id="{CC844138-7A79-5941-F455-95476870EB4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45522" y="2139315"/>
            <a:ext cx="1610360" cy="1289685"/>
          </a:xfrm>
          <a:prstGeom prst="rect">
            <a:avLst/>
          </a:prstGeom>
          <a:noFill/>
          <a:ln>
            <a:noFill/>
          </a:ln>
        </p:spPr>
      </p:pic>
    </p:spTree>
    <p:extLst>
      <p:ext uri="{BB962C8B-B14F-4D97-AF65-F5344CB8AC3E}">
        <p14:creationId xmlns:p14="http://schemas.microsoft.com/office/powerpoint/2010/main" val="34636448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7FDEA-E680-2E00-410E-88328EBB1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EA619-26CF-A135-A2F3-C9429F3013EA}"/>
              </a:ext>
            </a:extLst>
          </p:cNvPr>
          <p:cNvSpPr>
            <a:spLocks noGrp="1"/>
          </p:cNvSpPr>
          <p:nvPr>
            <p:ph type="title"/>
          </p:nvPr>
        </p:nvSpPr>
        <p:spPr>
          <a:solidFill>
            <a:srgbClr val="FF5050"/>
          </a:solidFill>
        </p:spPr>
        <p:txBody>
          <a:bodyPr/>
          <a:lstStyle/>
          <a:p>
            <a:r>
              <a:rPr lang="en-NZ" noProof="0" dirty="0"/>
              <a:t>Component/System 4</a:t>
            </a:r>
          </a:p>
        </p:txBody>
      </p:sp>
      <p:sp>
        <p:nvSpPr>
          <p:cNvPr id="3" name="Content Placeholder 2">
            <a:extLst>
              <a:ext uri="{FF2B5EF4-FFF2-40B4-BE49-F238E27FC236}">
                <a16:creationId xmlns:a16="http://schemas.microsoft.com/office/drawing/2014/main" id="{109C2FE0-6991-DDAF-C4F7-B3415EC34474}"/>
              </a:ext>
            </a:extLst>
          </p:cNvPr>
          <p:cNvSpPr>
            <a:spLocks noGrp="1"/>
          </p:cNvSpPr>
          <p:nvPr>
            <p:ph idx="1"/>
          </p:nvPr>
        </p:nvSpPr>
        <p:spPr>
          <a:xfrm>
            <a:off x="943897" y="1877091"/>
            <a:ext cx="10225548" cy="1623193"/>
          </a:xfrm>
          <a:solidFill>
            <a:srgbClr val="FFCCCC"/>
          </a:solidFill>
        </p:spPr>
        <p:txBody>
          <a:bodyPr>
            <a:normAutofit fontScale="62500" lnSpcReduction="20000"/>
          </a:bodyPr>
          <a:lstStyle/>
          <a:p>
            <a:pPr marL="0" indent="0">
              <a:buNone/>
            </a:pPr>
            <a:r>
              <a:rPr lang="en-NZ" noProof="0" dirty="0"/>
              <a:t>Explanation of component-electromagnetic clutch</a:t>
            </a:r>
          </a:p>
          <a:p>
            <a:pPr marL="0" indent="0">
              <a:buNone/>
            </a:pPr>
            <a:r>
              <a:rPr lang="en-NZ" dirty="0"/>
              <a:t>The clutch system is used to connect and disconnect the 800W electric motor from the drivetrain. It uses a mechanical clutch mechanism controlled by a lever, with a sensor attached to detect when the clutch is being used. When the rider pulls the lever, the clutch disengages the motor from the drivetrain, allowing the motor to be safely disconnected. The sensor sends this information to the Arduino, allowing it to stop motor assistance and adjust the system accordingly.</a:t>
            </a:r>
            <a:endParaRPr lang="en-NZ" noProof="0" dirty="0"/>
          </a:p>
        </p:txBody>
      </p:sp>
      <p:sp>
        <p:nvSpPr>
          <p:cNvPr id="4" name="Content Placeholder 2">
            <a:extLst>
              <a:ext uri="{FF2B5EF4-FFF2-40B4-BE49-F238E27FC236}">
                <a16:creationId xmlns:a16="http://schemas.microsoft.com/office/drawing/2014/main" id="{48BF1EF6-F8B8-8CF4-9169-05F15F67B902}"/>
              </a:ext>
            </a:extLst>
          </p:cNvPr>
          <p:cNvSpPr txBox="1">
            <a:spLocks/>
          </p:cNvSpPr>
          <p:nvPr/>
        </p:nvSpPr>
        <p:spPr>
          <a:xfrm>
            <a:off x="943897" y="3686687"/>
            <a:ext cx="5385620" cy="2441984"/>
          </a:xfrm>
          <a:prstGeom prst="rect">
            <a:avLst/>
          </a:prstGeom>
          <a:solidFill>
            <a:srgbClr val="FFCC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Component Picture</a:t>
            </a:r>
          </a:p>
          <a:p>
            <a:pPr marL="0" indent="0">
              <a:buFont typeface="Arial" panose="020B0604020202020204" pitchFamily="34" charset="0"/>
              <a:buNone/>
            </a:pPr>
            <a:endParaRPr lang="en-NZ" noProof="0" dirty="0"/>
          </a:p>
          <a:p>
            <a:pPr marL="0" indent="0">
              <a:buFont typeface="Arial" panose="020B0604020202020204" pitchFamily="34" charset="0"/>
              <a:buNone/>
            </a:pPr>
            <a:endParaRPr lang="en-NZ" noProof="0" dirty="0"/>
          </a:p>
        </p:txBody>
      </p:sp>
      <p:sp>
        <p:nvSpPr>
          <p:cNvPr id="5" name="Content Placeholder 2">
            <a:extLst>
              <a:ext uri="{FF2B5EF4-FFF2-40B4-BE49-F238E27FC236}">
                <a16:creationId xmlns:a16="http://schemas.microsoft.com/office/drawing/2014/main" id="{F10EB81D-A986-42AD-847E-FF3A1F656CEB}"/>
              </a:ext>
            </a:extLst>
          </p:cNvPr>
          <p:cNvSpPr txBox="1">
            <a:spLocks/>
          </p:cNvSpPr>
          <p:nvPr/>
        </p:nvSpPr>
        <p:spPr>
          <a:xfrm>
            <a:off x="6415548" y="3686687"/>
            <a:ext cx="4753897" cy="2441984"/>
          </a:xfrm>
          <a:prstGeom prst="rect">
            <a:avLst/>
          </a:prstGeom>
          <a:solidFill>
            <a:srgbClr val="FFCCCC"/>
          </a:solidFill>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NZ" dirty="0"/>
              <a:t>Component Test Log:</a:t>
            </a:r>
            <a:br>
              <a:rPr lang="en-NZ" dirty="0"/>
            </a:br>
            <a:r>
              <a:rPr lang="en-NZ" dirty="0"/>
              <a:t>The purpose of this test was to check that the manual clutch could reliably engage and disengage the 800W motor from the drivetrain. The clutch was connected to the motor system and tested under load to ensure it could separate the drive components correctly. Initial testing showed some resistance in the lever mechanism, causing the clutch plates to separate slowly. The linkage was cleaned, adjusted, and lubricated to fix this issue. After these changes, the clutch successfully completed ten engagement and disengagement tests without slipping, confirming that it worked correctly.</a:t>
            </a:r>
            <a:br>
              <a:rPr lang="en-US" dirty="0"/>
            </a:br>
            <a:endParaRPr lang="en-US" dirty="0"/>
          </a:p>
          <a:p>
            <a:pPr marL="0" indent="0">
              <a:buFont typeface="Arial" panose="020B0604020202020204" pitchFamily="34" charset="0"/>
              <a:buNone/>
            </a:pPr>
            <a:endParaRPr lang="en-NZ" noProof="0" dirty="0"/>
          </a:p>
          <a:p>
            <a:pPr marL="0" indent="0">
              <a:buFont typeface="Arial" panose="020B0604020202020204" pitchFamily="34" charset="0"/>
              <a:buNone/>
            </a:pPr>
            <a:endParaRPr lang="en-NZ" noProof="0" dirty="0"/>
          </a:p>
        </p:txBody>
      </p:sp>
      <p:pic>
        <p:nvPicPr>
          <p:cNvPr id="7" name="Picture 6" descr="Chain Tail-ME1 Miniature Electromagnetic Bearing Mounted Clutch With Hub">
            <a:extLst>
              <a:ext uri="{FF2B5EF4-FFF2-40B4-BE49-F238E27FC236}">
                <a16:creationId xmlns:a16="http://schemas.microsoft.com/office/drawing/2014/main" id="{1F3EFE40-4052-6299-7AB2-078AF453B97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2555" y="4269821"/>
            <a:ext cx="1275715" cy="1275715"/>
          </a:xfrm>
          <a:prstGeom prst="rect">
            <a:avLst/>
          </a:prstGeom>
          <a:noFill/>
          <a:ln>
            <a:noFill/>
          </a:ln>
        </p:spPr>
      </p:pic>
    </p:spTree>
    <p:extLst>
      <p:ext uri="{BB962C8B-B14F-4D97-AF65-F5344CB8AC3E}">
        <p14:creationId xmlns:p14="http://schemas.microsoft.com/office/powerpoint/2010/main" val="23806975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AB4D7-9EFD-2EDD-86C5-7124EF8D89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145C90-B6D3-BDE8-E1D1-5BE0CEFD46B4}"/>
              </a:ext>
            </a:extLst>
          </p:cNvPr>
          <p:cNvSpPr>
            <a:spLocks noGrp="1"/>
          </p:cNvSpPr>
          <p:nvPr>
            <p:ph type="title"/>
          </p:nvPr>
        </p:nvSpPr>
        <p:spPr>
          <a:solidFill>
            <a:srgbClr val="FFFFCC"/>
          </a:solidFill>
        </p:spPr>
        <p:txBody>
          <a:bodyPr/>
          <a:lstStyle/>
          <a:p>
            <a:r>
              <a:rPr lang="en-NZ" noProof="0" dirty="0"/>
              <a:t>Reliability Testing</a:t>
            </a:r>
          </a:p>
        </p:txBody>
      </p:sp>
      <p:sp>
        <p:nvSpPr>
          <p:cNvPr id="5" name="Content Placeholder 2">
            <a:extLst>
              <a:ext uri="{FF2B5EF4-FFF2-40B4-BE49-F238E27FC236}">
                <a16:creationId xmlns:a16="http://schemas.microsoft.com/office/drawing/2014/main" id="{50C57F65-7853-E45D-CA58-31BCC9DE7B02}"/>
              </a:ext>
            </a:extLst>
          </p:cNvPr>
          <p:cNvSpPr txBox="1">
            <a:spLocks/>
          </p:cNvSpPr>
          <p:nvPr/>
        </p:nvSpPr>
        <p:spPr>
          <a:xfrm>
            <a:off x="983226" y="4869118"/>
            <a:ext cx="10225548" cy="1623757"/>
          </a:xfrm>
          <a:prstGeom prst="rect">
            <a:avLst/>
          </a:prstGeom>
          <a:solidFill>
            <a:srgbClr val="FFFFCC"/>
          </a:solidFill>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NZ" dirty="0"/>
              <a:t>Analysis Notes from Testing and Changes to be Made:</a:t>
            </a:r>
            <a:br>
              <a:rPr lang="en-NZ" dirty="0"/>
            </a:br>
            <a:r>
              <a:rPr lang="en-NZ" dirty="0"/>
              <a:t>Testing showed that the high torque produced by the 800W motor puts significant load on the clutch assembly, making correct alignment important for reliable operation. Small amounts of misalignment can cause extra stress and increased wear on the drivetrain components. To improve the strength and reliability of the system, a custom sleeve will be manufactured to act as a central alignment piece. This will help keep the clutch and drivetrain components correctly positioned, reducing movement and improving long-term durability.</a:t>
            </a:r>
            <a:endParaRPr lang="en-NZ" noProof="0" dirty="0"/>
          </a:p>
          <a:p>
            <a:pPr marL="0" indent="0">
              <a:buNone/>
            </a:pPr>
            <a:br>
              <a:rPr lang="en-US" dirty="0"/>
            </a:br>
            <a:endParaRPr lang="en-US" dirty="0"/>
          </a:p>
          <a:p>
            <a:pPr marL="0" indent="0">
              <a:buFont typeface="Arial" panose="020B0604020202020204" pitchFamily="34" charset="0"/>
              <a:buNone/>
            </a:pPr>
            <a:endParaRPr lang="en-NZ" noProof="0" dirty="0"/>
          </a:p>
        </p:txBody>
      </p:sp>
      <p:sp>
        <p:nvSpPr>
          <p:cNvPr id="6" name="Content Placeholder 2">
            <a:extLst>
              <a:ext uri="{FF2B5EF4-FFF2-40B4-BE49-F238E27FC236}">
                <a16:creationId xmlns:a16="http://schemas.microsoft.com/office/drawing/2014/main" id="{4FBA3B69-CE34-9320-97C4-16C15C4852CE}"/>
              </a:ext>
            </a:extLst>
          </p:cNvPr>
          <p:cNvSpPr txBox="1">
            <a:spLocks/>
          </p:cNvSpPr>
          <p:nvPr/>
        </p:nvSpPr>
        <p:spPr>
          <a:xfrm>
            <a:off x="943898" y="1986117"/>
            <a:ext cx="10225548" cy="530941"/>
          </a:xfrm>
          <a:prstGeom prst="rect">
            <a:avLst/>
          </a:prstGeom>
          <a:solidFill>
            <a:srgbClr val="FFFF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dirty="0"/>
              <a:t>Test your circuits at least 10 times</a:t>
            </a:r>
            <a:endParaRPr lang="en-NZ" noProof="0" dirty="0"/>
          </a:p>
        </p:txBody>
      </p:sp>
      <p:sp>
        <p:nvSpPr>
          <p:cNvPr id="11" name="Content Placeholder 2">
            <a:extLst>
              <a:ext uri="{FF2B5EF4-FFF2-40B4-BE49-F238E27FC236}">
                <a16:creationId xmlns:a16="http://schemas.microsoft.com/office/drawing/2014/main" id="{E3D936A8-CA08-48BB-AA98-F3A8B43B31CF}"/>
              </a:ext>
            </a:extLst>
          </p:cNvPr>
          <p:cNvSpPr txBox="1">
            <a:spLocks/>
          </p:cNvSpPr>
          <p:nvPr/>
        </p:nvSpPr>
        <p:spPr>
          <a:xfrm>
            <a:off x="983226" y="2812487"/>
            <a:ext cx="10225548" cy="1824114"/>
          </a:xfrm>
          <a:prstGeom prst="rect">
            <a:avLst/>
          </a:prstGeom>
          <a:solidFill>
            <a:srgbClr val="FFFFCC"/>
          </a:solidFill>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dirty="0"/>
              <a:t>Reliability notes from testing:</a:t>
            </a:r>
          </a:p>
          <a:p>
            <a:pPr marL="0" indent="0">
              <a:buNone/>
            </a:pPr>
            <a:r>
              <a:rPr lang="en-US" dirty="0"/>
              <a:t>Manual clutch assembly stress trials revealed initial instability and wobble, which were corrected by manually aligning the central hub to ensure proper clearance. Following this adjustment, the system demonstrated consistent, reliable performance throughout the remaining tests without mechanical failure.</a:t>
            </a:r>
            <a:endParaRPr lang="en-NZ" dirty="0"/>
          </a:p>
          <a:p>
            <a:pPr marL="0" indent="0">
              <a:buFont typeface="Arial" panose="020B0604020202020204" pitchFamily="34" charset="0"/>
              <a:buNone/>
            </a:pPr>
            <a:endParaRPr lang="en-NZ" noProof="0" dirty="0"/>
          </a:p>
        </p:txBody>
      </p:sp>
    </p:spTree>
    <p:extLst>
      <p:ext uri="{BB962C8B-B14F-4D97-AF65-F5344CB8AC3E}">
        <p14:creationId xmlns:p14="http://schemas.microsoft.com/office/powerpoint/2010/main" val="13249611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83A67-2E00-1EA8-457D-F513DE0B6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89A035-68F8-AD5E-1E89-4A865D324C5D}"/>
              </a:ext>
            </a:extLst>
          </p:cNvPr>
          <p:cNvSpPr>
            <a:spLocks noGrp="1"/>
          </p:cNvSpPr>
          <p:nvPr>
            <p:ph type="title"/>
          </p:nvPr>
        </p:nvSpPr>
        <p:spPr>
          <a:xfrm>
            <a:off x="838200" y="110657"/>
            <a:ext cx="10515600" cy="750443"/>
          </a:xfrm>
          <a:solidFill>
            <a:schemeClr val="accent3">
              <a:lumMod val="20000"/>
              <a:lumOff val="80000"/>
            </a:schemeClr>
          </a:solidFill>
        </p:spPr>
        <p:txBody>
          <a:bodyPr/>
          <a:lstStyle/>
          <a:p>
            <a:r>
              <a:rPr lang="en-NZ" noProof="0" dirty="0"/>
              <a:t>Choice of Component/System 5</a:t>
            </a:r>
          </a:p>
        </p:txBody>
      </p:sp>
      <p:sp>
        <p:nvSpPr>
          <p:cNvPr id="5" name="Content Placeholder 2">
            <a:extLst>
              <a:ext uri="{FF2B5EF4-FFF2-40B4-BE49-F238E27FC236}">
                <a16:creationId xmlns:a16="http://schemas.microsoft.com/office/drawing/2014/main" id="{B523978A-B7BC-935E-9BE6-E62B2EDB8966}"/>
              </a:ext>
            </a:extLst>
          </p:cNvPr>
          <p:cNvSpPr txBox="1">
            <a:spLocks/>
          </p:cNvSpPr>
          <p:nvPr/>
        </p:nvSpPr>
        <p:spPr>
          <a:xfrm>
            <a:off x="838200" y="3646026"/>
            <a:ext cx="10225548" cy="2726095"/>
          </a:xfrm>
          <a:prstGeom prst="rect">
            <a:avLst/>
          </a:prstGeom>
          <a:solidFill>
            <a:schemeClr val="accent6">
              <a:lumMod val="20000"/>
              <a:lumOff val="80000"/>
            </a:schemeClr>
          </a:solidFill>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Justification of choice made</a:t>
            </a:r>
          </a:p>
          <a:p>
            <a:pPr marL="0" indent="0">
              <a:buNone/>
            </a:pPr>
            <a:r>
              <a:rPr lang="en-NZ" dirty="0"/>
              <a:t>I chose a custom PCB because it gave me a cleaner and more reliable way of connecting all the electronics together. The PCB allowed me to place the Arduino, sensors, protection components and other circuits in one organised layout instead of having lots of separate wires. This was especially important because testing showed that electrical noise from the motor could affect the sensors. A PCB also made the final system more compact and reduced the chance of loose or incorrect connections.</a:t>
            </a:r>
          </a:p>
          <a:p>
            <a:pPr marL="0" indent="0">
              <a:buNone/>
            </a:pPr>
            <a:r>
              <a:rPr lang="en-NZ" dirty="0"/>
              <a:t>I considered </a:t>
            </a:r>
            <a:r>
              <a:rPr lang="en-NZ" dirty="0" err="1"/>
              <a:t>perfboard</a:t>
            </a:r>
            <a:r>
              <a:rPr lang="en-NZ" dirty="0"/>
              <a:t> and stripboard, but both would have required more manual wiring and would have been harder to keep organised. The PCB was also easier to reproduce once the design was finished, making it the better choice for the final outcome.</a:t>
            </a:r>
          </a:p>
          <a:p>
            <a:pPr marL="0" indent="0">
              <a:buFont typeface="Arial" panose="020B0604020202020204" pitchFamily="34" charset="0"/>
              <a:buNone/>
            </a:pPr>
            <a:endParaRPr lang="en-NZ" dirty="0"/>
          </a:p>
          <a:p>
            <a:pPr marL="0" indent="0">
              <a:buFont typeface="Arial" panose="020B0604020202020204" pitchFamily="34" charset="0"/>
              <a:buNone/>
            </a:pPr>
            <a:br>
              <a:rPr lang="en-US" dirty="0"/>
            </a:br>
            <a:endParaRPr lang="en-US" dirty="0"/>
          </a:p>
          <a:p>
            <a:pPr marL="0" indent="0">
              <a:buFont typeface="Arial" panose="020B0604020202020204" pitchFamily="34" charset="0"/>
              <a:buNone/>
            </a:pPr>
            <a:endParaRPr lang="en-NZ" noProof="0" dirty="0"/>
          </a:p>
        </p:txBody>
      </p:sp>
      <p:sp>
        <p:nvSpPr>
          <p:cNvPr id="8" name="Content Placeholder 7">
            <a:extLst>
              <a:ext uri="{FF2B5EF4-FFF2-40B4-BE49-F238E27FC236}">
                <a16:creationId xmlns:a16="http://schemas.microsoft.com/office/drawing/2014/main" id="{DB3DE4D9-5530-E1FF-5B6A-22A904C20B66}"/>
              </a:ext>
            </a:extLst>
          </p:cNvPr>
          <p:cNvSpPr>
            <a:spLocks noGrp="1"/>
          </p:cNvSpPr>
          <p:nvPr>
            <p:ph idx="1"/>
          </p:nvPr>
        </p:nvSpPr>
        <p:spPr>
          <a:xfrm>
            <a:off x="838200" y="897055"/>
            <a:ext cx="3723968" cy="1325563"/>
          </a:xfrm>
        </p:spPr>
        <p:txBody>
          <a:bodyPr>
            <a:normAutofit/>
          </a:bodyPr>
          <a:lstStyle/>
          <a:p>
            <a:pPr marL="0" indent="0">
              <a:buNone/>
            </a:pPr>
            <a:r>
              <a:rPr lang="en-NZ" noProof="0" dirty="0"/>
              <a:t>Chosen</a:t>
            </a:r>
          </a:p>
          <a:p>
            <a:pPr marL="0" indent="0">
              <a:buNone/>
            </a:pPr>
            <a:r>
              <a:rPr lang="en-NZ" dirty="0"/>
              <a:t>PCB</a:t>
            </a:r>
          </a:p>
          <a:p>
            <a:pPr marL="0" indent="0">
              <a:buNone/>
            </a:pPr>
            <a:endParaRPr lang="en-NZ" noProof="0" dirty="0"/>
          </a:p>
        </p:txBody>
      </p:sp>
      <p:sp>
        <p:nvSpPr>
          <p:cNvPr id="9" name="Content Placeholder 7">
            <a:extLst>
              <a:ext uri="{FF2B5EF4-FFF2-40B4-BE49-F238E27FC236}">
                <a16:creationId xmlns:a16="http://schemas.microsoft.com/office/drawing/2014/main" id="{E51F2086-2235-B6D5-51C8-25534EEBC9AF}"/>
              </a:ext>
            </a:extLst>
          </p:cNvPr>
          <p:cNvSpPr txBox="1">
            <a:spLocks/>
          </p:cNvSpPr>
          <p:nvPr/>
        </p:nvSpPr>
        <p:spPr>
          <a:xfrm>
            <a:off x="4234015" y="897054"/>
            <a:ext cx="3723968"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Alternative 1</a:t>
            </a:r>
          </a:p>
          <a:p>
            <a:pPr marL="0" indent="0">
              <a:buFont typeface="Arial" panose="020B0604020202020204" pitchFamily="34" charset="0"/>
              <a:buNone/>
            </a:pPr>
            <a:r>
              <a:rPr lang="en-NZ" dirty="0" err="1"/>
              <a:t>Perfboard</a:t>
            </a:r>
            <a:endParaRPr lang="en-NZ" noProof="0" dirty="0"/>
          </a:p>
          <a:p>
            <a:pPr marL="0" indent="0">
              <a:buNone/>
            </a:pPr>
            <a:endParaRPr lang="en-NZ" noProof="0" dirty="0"/>
          </a:p>
        </p:txBody>
      </p:sp>
      <p:sp>
        <p:nvSpPr>
          <p:cNvPr id="10" name="Content Placeholder 7">
            <a:extLst>
              <a:ext uri="{FF2B5EF4-FFF2-40B4-BE49-F238E27FC236}">
                <a16:creationId xmlns:a16="http://schemas.microsoft.com/office/drawing/2014/main" id="{7C70C659-C51C-F5B1-D288-2BAD7C7909A7}"/>
              </a:ext>
            </a:extLst>
          </p:cNvPr>
          <p:cNvSpPr txBox="1">
            <a:spLocks/>
          </p:cNvSpPr>
          <p:nvPr/>
        </p:nvSpPr>
        <p:spPr>
          <a:xfrm>
            <a:off x="7957983" y="861100"/>
            <a:ext cx="3723968"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Alternative 2</a:t>
            </a:r>
          </a:p>
          <a:p>
            <a:pPr marL="0" indent="0">
              <a:buFont typeface="Arial" panose="020B0604020202020204" pitchFamily="34" charset="0"/>
              <a:buNone/>
            </a:pPr>
            <a:r>
              <a:rPr lang="en-NZ" dirty="0"/>
              <a:t> Strip boards</a:t>
            </a:r>
          </a:p>
          <a:p>
            <a:pPr marL="0" indent="0">
              <a:buFont typeface="Arial" panose="020B0604020202020204" pitchFamily="34" charset="0"/>
              <a:buNone/>
            </a:pPr>
            <a:endParaRPr lang="en-NZ" dirty="0"/>
          </a:p>
        </p:txBody>
      </p:sp>
      <p:pic>
        <p:nvPicPr>
          <p:cNvPr id="3" name="Picture 2" descr="Printed Circuit Board Guide: PCB Design and Assembly">
            <a:extLst>
              <a:ext uri="{FF2B5EF4-FFF2-40B4-BE49-F238E27FC236}">
                <a16:creationId xmlns:a16="http://schemas.microsoft.com/office/drawing/2014/main" id="{09C788C8-08CE-7E8C-249A-1FB162E82599}"/>
              </a:ext>
            </a:extLst>
          </p:cNvPr>
          <p:cNvPicPr>
            <a:picLocks noChangeAspect="1"/>
          </p:cNvPicPr>
          <p:nvPr/>
        </p:nvPicPr>
        <p:blipFill>
          <a:blip r:embed="rId2"/>
          <a:stretch>
            <a:fillRect/>
          </a:stretch>
        </p:blipFill>
        <p:spPr>
          <a:xfrm flipH="1">
            <a:off x="826872" y="1767251"/>
            <a:ext cx="2953770" cy="1744570"/>
          </a:xfrm>
          <a:prstGeom prst="rect">
            <a:avLst/>
          </a:prstGeom>
        </p:spPr>
      </p:pic>
      <p:pic>
        <p:nvPicPr>
          <p:cNvPr id="4" name="Picture 3" descr="What to use to connect points on perf board - General Electronics - Arduino Forum">
            <a:extLst>
              <a:ext uri="{FF2B5EF4-FFF2-40B4-BE49-F238E27FC236}">
                <a16:creationId xmlns:a16="http://schemas.microsoft.com/office/drawing/2014/main" id="{99893500-DD20-39B2-536D-2FD7410BE449}"/>
              </a:ext>
            </a:extLst>
          </p:cNvPr>
          <p:cNvPicPr>
            <a:picLocks noChangeAspect="1"/>
          </p:cNvPicPr>
          <p:nvPr/>
        </p:nvPicPr>
        <p:blipFill>
          <a:blip r:embed="rId3"/>
          <a:stretch>
            <a:fillRect/>
          </a:stretch>
        </p:blipFill>
        <p:spPr>
          <a:xfrm>
            <a:off x="4234015" y="1881319"/>
            <a:ext cx="1538343" cy="1630502"/>
          </a:xfrm>
          <a:prstGeom prst="rect">
            <a:avLst/>
          </a:prstGeom>
        </p:spPr>
      </p:pic>
      <p:pic>
        <p:nvPicPr>
          <p:cNvPr id="6" name="Picture 5" descr="ST1 | StripBoard-Size 1 | BusBoard Prototype Systems">
            <a:extLst>
              <a:ext uri="{FF2B5EF4-FFF2-40B4-BE49-F238E27FC236}">
                <a16:creationId xmlns:a16="http://schemas.microsoft.com/office/drawing/2014/main" id="{EB8C6687-7BBF-50E5-3FA9-14C5318BA7AD}"/>
              </a:ext>
            </a:extLst>
          </p:cNvPr>
          <p:cNvPicPr>
            <a:picLocks noChangeAspect="1"/>
          </p:cNvPicPr>
          <p:nvPr/>
        </p:nvPicPr>
        <p:blipFill>
          <a:blip r:embed="rId4"/>
          <a:stretch>
            <a:fillRect/>
          </a:stretch>
        </p:blipFill>
        <p:spPr>
          <a:xfrm>
            <a:off x="7629834" y="1738457"/>
            <a:ext cx="2776780" cy="1773364"/>
          </a:xfrm>
          <a:prstGeom prst="rect">
            <a:avLst/>
          </a:prstGeom>
        </p:spPr>
      </p:pic>
    </p:spTree>
    <p:extLst>
      <p:ext uri="{BB962C8B-B14F-4D97-AF65-F5344CB8AC3E}">
        <p14:creationId xmlns:p14="http://schemas.microsoft.com/office/powerpoint/2010/main" val="20795660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597B5-145C-2697-3D8A-D74B56660D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45853-5C56-B87F-D4FA-9C999414C570}"/>
              </a:ext>
            </a:extLst>
          </p:cNvPr>
          <p:cNvSpPr>
            <a:spLocks noGrp="1"/>
          </p:cNvSpPr>
          <p:nvPr>
            <p:ph type="title"/>
          </p:nvPr>
        </p:nvSpPr>
        <p:spPr>
          <a:solidFill>
            <a:srgbClr val="FF5050"/>
          </a:solidFill>
        </p:spPr>
        <p:txBody>
          <a:bodyPr/>
          <a:lstStyle/>
          <a:p>
            <a:r>
              <a:rPr lang="en-NZ" noProof="0" dirty="0"/>
              <a:t>Component/System 5</a:t>
            </a:r>
          </a:p>
        </p:txBody>
      </p:sp>
      <p:sp>
        <p:nvSpPr>
          <p:cNvPr id="3" name="Content Placeholder 2">
            <a:extLst>
              <a:ext uri="{FF2B5EF4-FFF2-40B4-BE49-F238E27FC236}">
                <a16:creationId xmlns:a16="http://schemas.microsoft.com/office/drawing/2014/main" id="{197AE07E-065C-3CFB-293E-C32D2EB437C2}"/>
              </a:ext>
            </a:extLst>
          </p:cNvPr>
          <p:cNvSpPr>
            <a:spLocks noGrp="1"/>
          </p:cNvSpPr>
          <p:nvPr>
            <p:ph idx="1"/>
          </p:nvPr>
        </p:nvSpPr>
        <p:spPr>
          <a:xfrm>
            <a:off x="943897" y="1877091"/>
            <a:ext cx="10225548" cy="1623193"/>
          </a:xfrm>
          <a:solidFill>
            <a:srgbClr val="FFCCCC"/>
          </a:solidFill>
        </p:spPr>
        <p:txBody>
          <a:bodyPr>
            <a:normAutofit fontScale="62500" lnSpcReduction="20000"/>
          </a:bodyPr>
          <a:lstStyle/>
          <a:p>
            <a:pPr marL="0" indent="0">
              <a:buNone/>
            </a:pPr>
            <a:r>
              <a:rPr lang="en-NZ" noProof="0" dirty="0"/>
              <a:t>Explanation of component-PCB</a:t>
            </a:r>
            <a:br>
              <a:rPr lang="en-NZ" noProof="0" dirty="0"/>
            </a:br>
            <a:r>
              <a:rPr lang="en-NZ" dirty="0"/>
              <a:t>I designed a custom PCB to connect the Arduino UNO R4 to the different sensors and circuits used on the bike. It includes connections for the throttle and clutch Hall sensors, RPM sensors, battery voltage sensing, LEDs and the protection circuits. Having these connections on one board made the wiring cleaner and reduced the number of separate wires and connections. I also included filtering capacitors and protection components on the PCB based on problems found during testing. This made the final electronics more compact, organised and reliable.</a:t>
            </a:r>
            <a:endParaRPr lang="en-NZ" noProof="0" dirty="0"/>
          </a:p>
        </p:txBody>
      </p:sp>
      <p:sp>
        <p:nvSpPr>
          <p:cNvPr id="4" name="Content Placeholder 2">
            <a:extLst>
              <a:ext uri="{FF2B5EF4-FFF2-40B4-BE49-F238E27FC236}">
                <a16:creationId xmlns:a16="http://schemas.microsoft.com/office/drawing/2014/main" id="{378C335B-A3FD-5F3F-8341-1DDA22CF4DD2}"/>
              </a:ext>
            </a:extLst>
          </p:cNvPr>
          <p:cNvSpPr txBox="1">
            <a:spLocks/>
          </p:cNvSpPr>
          <p:nvPr/>
        </p:nvSpPr>
        <p:spPr>
          <a:xfrm>
            <a:off x="943897" y="3686687"/>
            <a:ext cx="5385620" cy="2441984"/>
          </a:xfrm>
          <a:prstGeom prst="rect">
            <a:avLst/>
          </a:prstGeom>
          <a:solidFill>
            <a:srgbClr val="FFCC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Component Picture</a:t>
            </a:r>
          </a:p>
          <a:p>
            <a:pPr marL="0" indent="0">
              <a:buFont typeface="Arial" panose="020B0604020202020204" pitchFamily="34" charset="0"/>
              <a:buNone/>
            </a:pPr>
            <a:endParaRPr lang="en-NZ" noProof="0" dirty="0"/>
          </a:p>
          <a:p>
            <a:pPr marL="0" indent="0">
              <a:buFont typeface="Arial" panose="020B0604020202020204" pitchFamily="34" charset="0"/>
              <a:buNone/>
            </a:pPr>
            <a:endParaRPr lang="en-NZ" noProof="0" dirty="0"/>
          </a:p>
        </p:txBody>
      </p:sp>
      <p:sp>
        <p:nvSpPr>
          <p:cNvPr id="5" name="Content Placeholder 2">
            <a:extLst>
              <a:ext uri="{FF2B5EF4-FFF2-40B4-BE49-F238E27FC236}">
                <a16:creationId xmlns:a16="http://schemas.microsoft.com/office/drawing/2014/main" id="{084080B5-A1C8-EBE8-4314-1751BA191CE3}"/>
              </a:ext>
            </a:extLst>
          </p:cNvPr>
          <p:cNvSpPr txBox="1">
            <a:spLocks/>
          </p:cNvSpPr>
          <p:nvPr/>
        </p:nvSpPr>
        <p:spPr>
          <a:xfrm>
            <a:off x="6415548" y="3686687"/>
            <a:ext cx="4753897" cy="2441984"/>
          </a:xfrm>
          <a:prstGeom prst="rect">
            <a:avLst/>
          </a:prstGeom>
          <a:solidFill>
            <a:srgbClr val="FFCCCC"/>
          </a:solidFill>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NZ" dirty="0"/>
              <a:t>Component Test Log: make sure to include protection to the circuit due to some components accidently being set to the wrong voltage can damage the delicate electronics in the system that when it gets damaged can cost a pretty penny to replace</a:t>
            </a:r>
            <a:endParaRPr lang="en-NZ" noProof="0" dirty="0"/>
          </a:p>
        </p:txBody>
      </p:sp>
      <p:pic>
        <p:nvPicPr>
          <p:cNvPr id="7" name="Picture 6" descr="Printed Circuit Board Guide: PCB Design and Assembly">
            <a:extLst>
              <a:ext uri="{FF2B5EF4-FFF2-40B4-BE49-F238E27FC236}">
                <a16:creationId xmlns:a16="http://schemas.microsoft.com/office/drawing/2014/main" id="{99F72A96-FD0E-7E52-9C54-481EE12D626D}"/>
              </a:ext>
            </a:extLst>
          </p:cNvPr>
          <p:cNvPicPr>
            <a:picLocks noChangeAspect="1"/>
          </p:cNvPicPr>
          <p:nvPr/>
        </p:nvPicPr>
        <p:blipFill>
          <a:blip r:embed="rId2"/>
          <a:stretch>
            <a:fillRect/>
          </a:stretch>
        </p:blipFill>
        <p:spPr>
          <a:xfrm flipH="1">
            <a:off x="1022555" y="4108115"/>
            <a:ext cx="2953770" cy="1744570"/>
          </a:xfrm>
          <a:prstGeom prst="rect">
            <a:avLst/>
          </a:prstGeom>
        </p:spPr>
      </p:pic>
    </p:spTree>
    <p:extLst>
      <p:ext uri="{BB962C8B-B14F-4D97-AF65-F5344CB8AC3E}">
        <p14:creationId xmlns:p14="http://schemas.microsoft.com/office/powerpoint/2010/main" val="4374152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F7C43-BEB1-DE09-75AB-8491CCE1F0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F5FCB6-3AF3-A524-1C92-AA376CC4B53E}"/>
              </a:ext>
            </a:extLst>
          </p:cNvPr>
          <p:cNvSpPr>
            <a:spLocks noGrp="1"/>
          </p:cNvSpPr>
          <p:nvPr>
            <p:ph type="title"/>
          </p:nvPr>
        </p:nvSpPr>
        <p:spPr>
          <a:solidFill>
            <a:srgbClr val="FFFFCC"/>
          </a:solidFill>
        </p:spPr>
        <p:txBody>
          <a:bodyPr/>
          <a:lstStyle/>
          <a:p>
            <a:r>
              <a:rPr lang="en-NZ" noProof="0" dirty="0"/>
              <a:t>Reliability Testing</a:t>
            </a:r>
          </a:p>
        </p:txBody>
      </p:sp>
      <p:sp>
        <p:nvSpPr>
          <p:cNvPr id="5" name="Content Placeholder 2">
            <a:extLst>
              <a:ext uri="{FF2B5EF4-FFF2-40B4-BE49-F238E27FC236}">
                <a16:creationId xmlns:a16="http://schemas.microsoft.com/office/drawing/2014/main" id="{1C4A870D-2101-03C8-92BE-F567A431321E}"/>
              </a:ext>
            </a:extLst>
          </p:cNvPr>
          <p:cNvSpPr txBox="1">
            <a:spLocks/>
          </p:cNvSpPr>
          <p:nvPr/>
        </p:nvSpPr>
        <p:spPr>
          <a:xfrm>
            <a:off x="983226" y="4869118"/>
            <a:ext cx="10225548" cy="1623757"/>
          </a:xfrm>
          <a:prstGeom prst="rect">
            <a:avLst/>
          </a:prstGeom>
          <a:solidFill>
            <a:srgbClr val="FFFFCC"/>
          </a:solidFill>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NZ" dirty="0"/>
              <a:t>Analysis Notes from Testing and Changes to be made: The testing showed that the PCB needed both filtering and protection to be reliable when used with the rest of the bike. The 0.1 µF capacitors were added to reduce electrical noise, while the PPTC fuses gave the PCB protection from excessive current if a fault occurred. The Schottky diode was added to the clutch circuit to stop the voltage released by the electromagnet from travelling back through the PCB. These changes were made from the problems found during testing and improved the reliability of the final PCB by making the circuits more protected and less affected by the electrical noise from the motor.</a:t>
            </a:r>
            <a:br>
              <a:rPr lang="en-NZ" dirty="0"/>
            </a:br>
            <a:br>
              <a:rPr lang="en-US" dirty="0"/>
            </a:br>
            <a:endParaRPr lang="en-US" dirty="0"/>
          </a:p>
          <a:p>
            <a:pPr marL="0" indent="0">
              <a:buFont typeface="Arial" panose="020B0604020202020204" pitchFamily="34" charset="0"/>
              <a:buNone/>
            </a:pPr>
            <a:endParaRPr lang="en-NZ" noProof="0" dirty="0"/>
          </a:p>
        </p:txBody>
      </p:sp>
      <p:sp>
        <p:nvSpPr>
          <p:cNvPr id="6" name="Content Placeholder 2">
            <a:extLst>
              <a:ext uri="{FF2B5EF4-FFF2-40B4-BE49-F238E27FC236}">
                <a16:creationId xmlns:a16="http://schemas.microsoft.com/office/drawing/2014/main" id="{820EC9EB-78CE-FEBB-40CA-2509115645AA}"/>
              </a:ext>
            </a:extLst>
          </p:cNvPr>
          <p:cNvSpPr txBox="1">
            <a:spLocks/>
          </p:cNvSpPr>
          <p:nvPr/>
        </p:nvSpPr>
        <p:spPr>
          <a:xfrm>
            <a:off x="943898" y="1986117"/>
            <a:ext cx="10225548" cy="530941"/>
          </a:xfrm>
          <a:prstGeom prst="rect">
            <a:avLst/>
          </a:prstGeom>
          <a:solidFill>
            <a:srgbClr val="FFFF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dirty="0"/>
              <a:t>Test your circuits at least 10 times</a:t>
            </a:r>
            <a:endParaRPr lang="en-NZ" noProof="0" dirty="0"/>
          </a:p>
        </p:txBody>
      </p:sp>
      <p:sp>
        <p:nvSpPr>
          <p:cNvPr id="11" name="Content Placeholder 2">
            <a:extLst>
              <a:ext uri="{FF2B5EF4-FFF2-40B4-BE49-F238E27FC236}">
                <a16:creationId xmlns:a16="http://schemas.microsoft.com/office/drawing/2014/main" id="{CE739EF5-A763-8085-C4C6-D410E1DD4423}"/>
              </a:ext>
            </a:extLst>
          </p:cNvPr>
          <p:cNvSpPr txBox="1">
            <a:spLocks/>
          </p:cNvSpPr>
          <p:nvPr/>
        </p:nvSpPr>
        <p:spPr>
          <a:xfrm>
            <a:off x="983226" y="2812487"/>
            <a:ext cx="10225548" cy="1824114"/>
          </a:xfrm>
          <a:prstGeom prst="rect">
            <a:avLst/>
          </a:prstGeom>
          <a:solidFill>
            <a:srgbClr val="FFFFCC"/>
          </a:solidFill>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NZ" dirty="0"/>
              <a:t>Reliability notes from testing: I tested the PCB multiple times with the different circuits connected to make sure the board was reliable. I checked the sensor connections, battery voltage sensing, Arduino power connections and the protection circuits. During testing, I found that the high current from the motor could cause electrical noise and interference with the sensor signals, so 0.1 µF capacitors were added to the PCB to help filter the signals. I also included PPTC fuses on the PCB to protect the lower-current circuits if a fault or short circuit occurred. The electromagnetic clutch circuit was also protected with a Schottky diode and PPTC because testing showed that the electromagnet could release a high voltage back into the circuit when switched off. The PCB was then tested again with these changes to check that the sensors and protection circuits were working correctly and that the board could operate without damaging the Arduino or other components.</a:t>
            </a:r>
          </a:p>
          <a:p>
            <a:pPr marL="0" indent="0">
              <a:buFont typeface="Arial" panose="020B0604020202020204" pitchFamily="34" charset="0"/>
              <a:buNone/>
            </a:pPr>
            <a:endParaRPr lang="en-NZ" noProof="0" dirty="0"/>
          </a:p>
        </p:txBody>
      </p:sp>
    </p:spTree>
    <p:extLst>
      <p:ext uri="{BB962C8B-B14F-4D97-AF65-F5344CB8AC3E}">
        <p14:creationId xmlns:p14="http://schemas.microsoft.com/office/powerpoint/2010/main" val="42206537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31A39-8EBC-4C64-E2A9-B136F0E6ACF8}"/>
              </a:ext>
            </a:extLst>
          </p:cNvPr>
          <p:cNvSpPr>
            <a:spLocks noGrp="1"/>
          </p:cNvSpPr>
          <p:nvPr>
            <p:ph type="title"/>
          </p:nvPr>
        </p:nvSpPr>
        <p:spPr>
          <a:solidFill>
            <a:srgbClr val="FF5050"/>
          </a:solidFill>
        </p:spPr>
        <p:txBody>
          <a:bodyPr/>
          <a:lstStyle/>
          <a:p>
            <a:r>
              <a:rPr lang="en-NZ" dirty="0"/>
              <a:t>Final Outcome, Before Testing</a:t>
            </a:r>
          </a:p>
        </p:txBody>
      </p:sp>
      <p:sp>
        <p:nvSpPr>
          <p:cNvPr id="3" name="Content Placeholder 2">
            <a:extLst>
              <a:ext uri="{FF2B5EF4-FFF2-40B4-BE49-F238E27FC236}">
                <a16:creationId xmlns:a16="http://schemas.microsoft.com/office/drawing/2014/main" id="{C72A0CE0-5AE0-CAD3-C4C6-81694DF4EFBC}"/>
              </a:ext>
            </a:extLst>
          </p:cNvPr>
          <p:cNvSpPr>
            <a:spLocks noGrp="1"/>
          </p:cNvSpPr>
          <p:nvPr>
            <p:ph idx="1"/>
          </p:nvPr>
        </p:nvSpPr>
        <p:spPr>
          <a:solidFill>
            <a:srgbClr val="FFCCCC"/>
          </a:solidFill>
        </p:spPr>
        <p:txBody>
          <a:bodyPr/>
          <a:lstStyle/>
          <a:p>
            <a:pPr marL="0" indent="0">
              <a:buNone/>
            </a:pPr>
            <a:r>
              <a:rPr lang="en-NZ" dirty="0"/>
              <a:t>Include a screenshot/video of the final outcome working before testing here</a:t>
            </a:r>
          </a:p>
          <a:p>
            <a:pPr marL="0" indent="0">
              <a:buNone/>
            </a:pPr>
            <a:endParaRPr lang="en-NZ" dirty="0"/>
          </a:p>
          <a:p>
            <a:pPr marL="0" indent="0">
              <a:buNone/>
            </a:pPr>
            <a:endParaRPr lang="en-NZ" dirty="0"/>
          </a:p>
        </p:txBody>
      </p:sp>
      <p:pic>
        <p:nvPicPr>
          <p:cNvPr id="4" name="d758f0eb08ad4a95884cff34f5b6a0c5">
            <a:hlinkClick r:id="" action="ppaction://media"/>
            <a:extLst>
              <a:ext uri="{FF2B5EF4-FFF2-40B4-BE49-F238E27FC236}">
                <a16:creationId xmlns:a16="http://schemas.microsoft.com/office/drawing/2014/main" id="{7AA7CD7D-B0A5-A648-B1B1-1F9D4A0E490D}"/>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413083" y="2626606"/>
            <a:ext cx="1997075" cy="3550356"/>
          </a:xfrm>
          <a:prstGeom prst="rect">
            <a:avLst/>
          </a:prstGeom>
        </p:spPr>
      </p:pic>
      <p:pic>
        <p:nvPicPr>
          <p:cNvPr id="5" name="IMG_3155">
            <a:hlinkClick r:id="" action="ppaction://media"/>
            <a:extLst>
              <a:ext uri="{FF2B5EF4-FFF2-40B4-BE49-F238E27FC236}">
                <a16:creationId xmlns:a16="http://schemas.microsoft.com/office/drawing/2014/main" id="{8A0808FB-4F50-2BA4-EE4C-7E570D976E84}"/>
              </a:ext>
            </a:extLst>
          </p:cNvPr>
          <p:cNvPicPr>
            <a:picLocks noChangeAspect="1"/>
          </p:cNvPicPr>
          <p:nvPr>
            <a:videoFile r:link="rId4"/>
            <p:extLst>
              <p:ext uri="{DAA4B4D4-6D71-4841-9C94-3DE7FCFB9230}">
                <p14:media xmlns:p14="http://schemas.microsoft.com/office/powerpoint/2010/main" r:embed="rId3"/>
              </p:ext>
            </p:extLst>
          </p:nvPr>
        </p:nvPicPr>
        <p:blipFill>
          <a:blip r:embed="rId7"/>
          <a:stretch>
            <a:fillRect/>
          </a:stretch>
        </p:blipFill>
        <p:spPr>
          <a:xfrm>
            <a:off x="4513196" y="2626606"/>
            <a:ext cx="6265721" cy="3550356"/>
          </a:xfrm>
          <a:prstGeom prst="rect">
            <a:avLst/>
          </a:prstGeom>
        </p:spPr>
      </p:pic>
    </p:spTree>
    <p:extLst>
      <p:ext uri="{BB962C8B-B14F-4D97-AF65-F5344CB8AC3E}">
        <p14:creationId xmlns:p14="http://schemas.microsoft.com/office/powerpoint/2010/main" val="2958982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329"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967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4"/>
                </p:tgtEl>
              </p:cMediaNode>
            </p:video>
            <p:seq concurrent="1" nextAc="seek">
              <p:cTn id="12" restart="whenNotActive" fill="hold" evtFilter="cancelBubble" nodeType="interactiveSeq">
                <p:stCondLst>
                  <p:cond evt="onClick" delay="0">
                    <p:tgtEl>
                      <p:spTgt spid="4"/>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4"/>
                                        </p:tgtEl>
                                      </p:cBhvr>
                                    </p:cmd>
                                  </p:childTnLst>
                                </p:cTn>
                              </p:par>
                            </p:childTnLst>
                          </p:cTn>
                        </p:par>
                      </p:childTnLst>
                    </p:cTn>
                  </p:par>
                </p:childTnLst>
              </p:cTn>
              <p:nextCondLst>
                <p:cond evt="onClick" delay="0">
                  <p:tgtEl>
                    <p:spTgt spid="4"/>
                  </p:tgtEl>
                </p:cond>
              </p:nextCondLst>
            </p:seq>
            <p:video>
              <p:cMediaNode vol="80000">
                <p:cTn id="17" fill="hold" display="0">
                  <p:stCondLst>
                    <p:cond delay="indefinite"/>
                  </p:stCondLst>
                </p:cTn>
                <p:tgtEl>
                  <p:spTgt spid="5"/>
                </p:tgtEl>
              </p:cMediaNode>
            </p:video>
            <p:seq concurrent="1" nextAc="seek">
              <p:cTn id="18" restart="whenNotActive" fill="hold" evtFilter="cancelBubble" nodeType="interactiveSeq">
                <p:stCondLst>
                  <p:cond evt="onClick" delay="0">
                    <p:tgtEl>
                      <p:spTgt spid="5"/>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122C3-DA0F-3AD2-E281-79AA20F8162C}"/>
              </a:ext>
            </a:extLst>
          </p:cNvPr>
          <p:cNvSpPr>
            <a:spLocks noGrp="1"/>
          </p:cNvSpPr>
          <p:nvPr>
            <p:ph type="title"/>
          </p:nvPr>
        </p:nvSpPr>
        <p:spPr>
          <a:solidFill>
            <a:schemeClr val="accent6">
              <a:lumMod val="40000"/>
              <a:lumOff val="60000"/>
            </a:schemeClr>
          </a:solidFill>
        </p:spPr>
        <p:txBody>
          <a:bodyPr/>
          <a:lstStyle/>
          <a:p>
            <a:r>
              <a:rPr lang="en-NZ" noProof="0" dirty="0"/>
              <a:t>Iteration of Development</a:t>
            </a:r>
          </a:p>
        </p:txBody>
      </p:sp>
      <p:sp>
        <p:nvSpPr>
          <p:cNvPr id="3" name="Content Placeholder 2">
            <a:extLst>
              <a:ext uri="{FF2B5EF4-FFF2-40B4-BE49-F238E27FC236}">
                <a16:creationId xmlns:a16="http://schemas.microsoft.com/office/drawing/2014/main" id="{42CC82DB-ADCC-6B9B-6B86-C4BA2CC7A228}"/>
              </a:ext>
            </a:extLst>
          </p:cNvPr>
          <p:cNvSpPr>
            <a:spLocks noGrp="1"/>
          </p:cNvSpPr>
          <p:nvPr>
            <p:ph idx="1"/>
          </p:nvPr>
        </p:nvSpPr>
        <p:spPr>
          <a:xfrm>
            <a:off x="838200" y="1825625"/>
            <a:ext cx="10515600" cy="1325563"/>
          </a:xfrm>
          <a:solidFill>
            <a:schemeClr val="accent6">
              <a:lumMod val="20000"/>
              <a:lumOff val="80000"/>
            </a:schemeClr>
          </a:solidFill>
        </p:spPr>
        <p:txBody>
          <a:bodyPr>
            <a:normAutofit fontScale="70000" lnSpcReduction="20000"/>
          </a:bodyPr>
          <a:lstStyle/>
          <a:p>
            <a:pPr marL="0" indent="0">
              <a:buNone/>
            </a:pPr>
            <a:r>
              <a:rPr lang="en-NZ" noProof="0" dirty="0"/>
              <a:t>Feedback on reliability and functionality of the system:</a:t>
            </a:r>
          </a:p>
          <a:p>
            <a:pPr marL="0" indent="0">
              <a:buNone/>
            </a:pPr>
            <a:r>
              <a:rPr lang="en-NZ" dirty="0"/>
              <a:t>Some hybrid vehicles have a display that shows when the hybrid system is engaged. Adding a hybrid indicator light to the </a:t>
            </a:r>
            <a:r>
              <a:rPr lang="en-NZ" dirty="0" err="1"/>
              <a:t>pitbike</a:t>
            </a:r>
            <a:r>
              <a:rPr lang="en-NZ" dirty="0"/>
              <a:t> will let the rider know when the electric motor is assisting the petrol engine. This provides feedback that the hybrid system is working correctly and makes it easier to monitor the operation of the bike while riding.</a:t>
            </a:r>
            <a:endParaRPr lang="en-NZ" noProof="0" dirty="0"/>
          </a:p>
        </p:txBody>
      </p:sp>
      <p:sp>
        <p:nvSpPr>
          <p:cNvPr id="4" name="Content Placeholder 2">
            <a:extLst>
              <a:ext uri="{FF2B5EF4-FFF2-40B4-BE49-F238E27FC236}">
                <a16:creationId xmlns:a16="http://schemas.microsoft.com/office/drawing/2014/main" id="{5A500152-C527-1813-62FC-FA1AC31145DD}"/>
              </a:ext>
            </a:extLst>
          </p:cNvPr>
          <p:cNvSpPr txBox="1">
            <a:spLocks/>
          </p:cNvSpPr>
          <p:nvPr/>
        </p:nvSpPr>
        <p:spPr>
          <a:xfrm>
            <a:off x="838200" y="3286125"/>
            <a:ext cx="10515600" cy="2691888"/>
          </a:xfrm>
          <a:prstGeom prst="rect">
            <a:avLst/>
          </a:prstGeom>
          <a:solidFill>
            <a:schemeClr val="accent6">
              <a:lumMod val="20000"/>
              <a:lumOff val="8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Changes based off feedback (include picture or design):</a:t>
            </a:r>
          </a:p>
          <a:p>
            <a:pPr marL="0" indent="0">
              <a:buNone/>
            </a:pPr>
            <a:r>
              <a:rPr lang="en-NZ" dirty="0"/>
              <a:t>An LED indicator/symbol will be added to the OLED display to show when the hybrid system is engaged. This gives the rider clear visual feedback that the electric motor is assisting the petrol engine and makes it easier to monitor the operation of the hybrid system while riding.</a:t>
            </a:r>
            <a:endParaRPr lang="en-NZ" noProof="0" dirty="0"/>
          </a:p>
        </p:txBody>
      </p:sp>
    </p:spTree>
    <p:extLst>
      <p:ext uri="{BB962C8B-B14F-4D97-AF65-F5344CB8AC3E}">
        <p14:creationId xmlns:p14="http://schemas.microsoft.com/office/powerpoint/2010/main" val="35483784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17F74F-859F-B048-3AAF-AC6611F9A4FD}"/>
              </a:ext>
            </a:extLst>
          </p:cNvPr>
          <p:cNvSpPr>
            <a:spLocks noGrp="1"/>
          </p:cNvSpPr>
          <p:nvPr>
            <p:ph type="ctrTitle"/>
          </p:nvPr>
        </p:nvSpPr>
        <p:spPr/>
        <p:txBody>
          <a:bodyPr/>
          <a:lstStyle/>
          <a:p>
            <a:r>
              <a:rPr lang="en-NZ" noProof="0" dirty="0"/>
              <a:t>Testing and Debugging</a:t>
            </a:r>
          </a:p>
        </p:txBody>
      </p:sp>
      <p:sp>
        <p:nvSpPr>
          <p:cNvPr id="5" name="Subtitle 4">
            <a:extLst>
              <a:ext uri="{FF2B5EF4-FFF2-40B4-BE49-F238E27FC236}">
                <a16:creationId xmlns:a16="http://schemas.microsoft.com/office/drawing/2014/main" id="{F00B0B72-A873-F49A-39ED-F80EF8712470}"/>
              </a:ext>
            </a:extLst>
          </p:cNvPr>
          <p:cNvSpPr>
            <a:spLocks noGrp="1"/>
          </p:cNvSpPr>
          <p:nvPr>
            <p:ph type="subTitle" idx="1"/>
          </p:nvPr>
        </p:nvSpPr>
        <p:spPr/>
        <p:txBody>
          <a:bodyPr/>
          <a:lstStyle/>
          <a:p>
            <a:endParaRPr lang="en-NZ" noProof="0" dirty="0"/>
          </a:p>
        </p:txBody>
      </p:sp>
    </p:spTree>
    <p:extLst>
      <p:ext uri="{BB962C8B-B14F-4D97-AF65-F5344CB8AC3E}">
        <p14:creationId xmlns:p14="http://schemas.microsoft.com/office/powerpoint/2010/main" val="39011346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86A53-61F8-FFEC-036E-DC7EB8729098}"/>
              </a:ext>
            </a:extLst>
          </p:cNvPr>
          <p:cNvSpPr>
            <a:spLocks noGrp="1"/>
          </p:cNvSpPr>
          <p:nvPr>
            <p:ph type="title"/>
          </p:nvPr>
        </p:nvSpPr>
        <p:spPr>
          <a:solidFill>
            <a:srgbClr val="FF5050"/>
          </a:solidFill>
        </p:spPr>
        <p:txBody>
          <a:bodyPr/>
          <a:lstStyle/>
          <a:p>
            <a:r>
              <a:rPr lang="en-NZ" noProof="0" dirty="0"/>
              <a:t>Testing for functionality</a:t>
            </a:r>
          </a:p>
        </p:txBody>
      </p:sp>
      <p:graphicFrame>
        <p:nvGraphicFramePr>
          <p:cNvPr id="4" name="Table 3">
            <a:extLst>
              <a:ext uri="{FF2B5EF4-FFF2-40B4-BE49-F238E27FC236}">
                <a16:creationId xmlns:a16="http://schemas.microsoft.com/office/drawing/2014/main" id="{F61ED25F-F8C6-770A-0FAD-E0AAB8D900DA}"/>
              </a:ext>
            </a:extLst>
          </p:cNvPr>
          <p:cNvGraphicFramePr>
            <a:graphicFrameLocks noGrp="1"/>
          </p:cNvGraphicFramePr>
          <p:nvPr>
            <p:extLst>
              <p:ext uri="{D42A27DB-BD31-4B8C-83A1-F6EECF244321}">
                <p14:modId xmlns:p14="http://schemas.microsoft.com/office/powerpoint/2010/main" val="653134930"/>
              </p:ext>
            </p:extLst>
          </p:nvPr>
        </p:nvGraphicFramePr>
        <p:xfrm>
          <a:off x="392784" y="1951294"/>
          <a:ext cx="11406432" cy="4618924"/>
        </p:xfrm>
        <a:graphic>
          <a:graphicData uri="http://schemas.openxmlformats.org/drawingml/2006/table">
            <a:tbl>
              <a:tblPr firstRow="1" bandRow="1">
                <a:tableStyleId>{5C22544A-7EE6-4342-B048-85BDC9FD1C3A}</a:tableStyleId>
              </a:tblPr>
              <a:tblGrid>
                <a:gridCol w="3802144">
                  <a:extLst>
                    <a:ext uri="{9D8B030D-6E8A-4147-A177-3AD203B41FA5}">
                      <a16:colId xmlns:a16="http://schemas.microsoft.com/office/drawing/2014/main" val="432899679"/>
                    </a:ext>
                  </a:extLst>
                </a:gridCol>
                <a:gridCol w="3802144">
                  <a:extLst>
                    <a:ext uri="{9D8B030D-6E8A-4147-A177-3AD203B41FA5}">
                      <a16:colId xmlns:a16="http://schemas.microsoft.com/office/drawing/2014/main" val="1221611069"/>
                    </a:ext>
                  </a:extLst>
                </a:gridCol>
                <a:gridCol w="3802144">
                  <a:extLst>
                    <a:ext uri="{9D8B030D-6E8A-4147-A177-3AD203B41FA5}">
                      <a16:colId xmlns:a16="http://schemas.microsoft.com/office/drawing/2014/main" val="1564170305"/>
                    </a:ext>
                  </a:extLst>
                </a:gridCol>
              </a:tblGrid>
              <a:tr h="811831">
                <a:tc>
                  <a:txBody>
                    <a:bodyPr/>
                    <a:lstStyle/>
                    <a:p>
                      <a:r>
                        <a:rPr lang="en-NZ" noProof="0" dirty="0"/>
                        <a:t>Project Specification</a:t>
                      </a:r>
                    </a:p>
                  </a:txBody>
                  <a:tcPr>
                    <a:solidFill>
                      <a:srgbClr val="FF5050"/>
                    </a:solidFill>
                  </a:tcPr>
                </a:tc>
                <a:tc>
                  <a:txBody>
                    <a:bodyPr/>
                    <a:lstStyle/>
                    <a:p>
                      <a:r>
                        <a:rPr lang="en-NZ" noProof="0" dirty="0"/>
                        <a:t>Test</a:t>
                      </a:r>
                    </a:p>
                  </a:txBody>
                  <a:tcPr>
                    <a:solidFill>
                      <a:srgbClr val="FF5050"/>
                    </a:solidFill>
                  </a:tcPr>
                </a:tc>
                <a:tc>
                  <a:txBody>
                    <a:bodyPr/>
                    <a:lstStyle/>
                    <a:p>
                      <a:r>
                        <a:rPr lang="en-NZ" noProof="0" dirty="0"/>
                        <a:t>Issues to be fixed, debugging, Notes</a:t>
                      </a:r>
                    </a:p>
                  </a:txBody>
                  <a:tcPr>
                    <a:solidFill>
                      <a:srgbClr val="FF5050"/>
                    </a:solidFill>
                  </a:tcPr>
                </a:tc>
                <a:extLst>
                  <a:ext uri="{0D108BD9-81ED-4DB2-BD59-A6C34878D82A}">
                    <a16:rowId xmlns:a16="http://schemas.microsoft.com/office/drawing/2014/main" val="2823653061"/>
                  </a:ext>
                </a:extLst>
              </a:tr>
              <a:tr h="811831">
                <a:tc>
                  <a:txBody>
                    <a:bodyPr/>
                    <a:lstStyle/>
                    <a:p>
                      <a:r>
                        <a:rPr lang="en-NZ" sz="1200" dirty="0"/>
                        <a:t>Electromagnetic clutch</a:t>
                      </a:r>
                      <a:endParaRPr lang="en-NZ" sz="1200" noProof="0" dirty="0"/>
                    </a:p>
                  </a:txBody>
                  <a:tcPr>
                    <a:solidFill>
                      <a:srgbClr val="FFCCCC"/>
                    </a:solidFill>
                  </a:tcPr>
                </a:tc>
                <a:tc>
                  <a:txBody>
                    <a:bodyPr/>
                    <a:lstStyle/>
                    <a:p>
                      <a:r>
                        <a:rPr lang="en-NZ" sz="1200" dirty="0"/>
                        <a:t>Repeatedly engaged and disengaged the clutch using the Arduino and MOSFET.</a:t>
                      </a:r>
                      <a:endParaRPr lang="en-NZ" sz="1200" noProof="0" dirty="0"/>
                    </a:p>
                  </a:txBody>
                  <a:tcPr>
                    <a:solidFill>
                      <a:srgbClr val="FFCCCC"/>
                    </a:solidFill>
                  </a:tcPr>
                </a:tc>
                <a:tc>
                  <a:txBody>
                    <a:bodyPr/>
                    <a:lstStyle/>
                    <a:p>
                      <a:r>
                        <a:rPr lang="en-NZ" sz="1200" dirty="0"/>
                        <a:t>Clutch engaged reliably but mechanical alignment needed improvement. Designed a custom sleeve to keep the clutch centred.</a:t>
                      </a:r>
                      <a:endParaRPr lang="en-NZ" sz="1200" noProof="0" dirty="0"/>
                    </a:p>
                  </a:txBody>
                  <a:tcPr>
                    <a:solidFill>
                      <a:srgbClr val="FFCCCC"/>
                    </a:solidFill>
                  </a:tcPr>
                </a:tc>
                <a:extLst>
                  <a:ext uri="{0D108BD9-81ED-4DB2-BD59-A6C34878D82A}">
                    <a16:rowId xmlns:a16="http://schemas.microsoft.com/office/drawing/2014/main" val="2120864744"/>
                  </a:ext>
                </a:extLst>
              </a:tr>
              <a:tr h="811831">
                <a:tc>
                  <a:txBody>
                    <a:bodyPr/>
                    <a:lstStyle/>
                    <a:p>
                      <a:r>
                        <a:rPr lang="en-GB" sz="1200" noProof="0" dirty="0"/>
                        <a:t>  main PCB inside the dashboard</a:t>
                      </a:r>
                      <a:endParaRPr lang="en-NZ" sz="1200" noProof="0" dirty="0"/>
                    </a:p>
                  </a:txBody>
                  <a:tcPr>
                    <a:solidFill>
                      <a:srgbClr val="FFCCCC"/>
                    </a:solidFill>
                  </a:tcPr>
                </a:tc>
                <a:tc>
                  <a:txBody>
                    <a:bodyPr/>
                    <a:lstStyle/>
                    <a:p>
                      <a:r>
                        <a:rPr lang="en-GB" sz="1200" noProof="0" dirty="0"/>
                        <a:t>Plugged the PCB wit the Arduino inserted to the header pins. The Arduino fried due to unknown causes for the vin wasn’t plugged in and neither the voltage sensing, believed being the sensor wire for the throttle but in any case, it still broke.</a:t>
                      </a:r>
                      <a:endParaRPr lang="en-NZ" sz="1200" noProof="0" dirty="0"/>
                    </a:p>
                  </a:txBody>
                  <a:tcPr>
                    <a:solidFill>
                      <a:srgbClr val="FFCCCC"/>
                    </a:solidFill>
                  </a:tcPr>
                </a:tc>
                <a:tc>
                  <a:txBody>
                    <a:bodyPr/>
                    <a:lstStyle/>
                    <a:p>
                      <a:r>
                        <a:rPr lang="en-GB" sz="1200" noProof="0" dirty="0"/>
                        <a:t>Adding PPTC fuses to the vin, voltage sensing, buck converters, electromagnet. A automotive fuse to the motor and a main automotive fuse for all the </a:t>
                      </a:r>
                      <a:r>
                        <a:rPr lang="en-GB" sz="1200" noProof="0" dirty="0" err="1"/>
                        <a:t>pcb</a:t>
                      </a:r>
                      <a:r>
                        <a:rPr lang="en-GB" sz="1200" noProof="0" dirty="0"/>
                        <a:t> and buck converters (max 5Amps). Also adding diodes to the battery electromagnet vin, voltage sensing, and Mosfet to protect every component from back voltage and incorrect wiring</a:t>
                      </a:r>
                      <a:endParaRPr lang="en-NZ" sz="1200" noProof="0" dirty="0"/>
                    </a:p>
                  </a:txBody>
                  <a:tcPr>
                    <a:solidFill>
                      <a:srgbClr val="FFCCCC"/>
                    </a:solidFill>
                  </a:tcPr>
                </a:tc>
                <a:extLst>
                  <a:ext uri="{0D108BD9-81ED-4DB2-BD59-A6C34878D82A}">
                    <a16:rowId xmlns:a16="http://schemas.microsoft.com/office/drawing/2014/main" val="570688745"/>
                  </a:ext>
                </a:extLst>
              </a:tr>
              <a:tr h="811831">
                <a:tc>
                  <a:txBody>
                    <a:bodyPr/>
                    <a:lstStyle/>
                    <a:p>
                      <a:r>
                        <a:rPr lang="en-GB" sz="1200" noProof="0" dirty="0"/>
                        <a:t>Throttle input/output</a:t>
                      </a:r>
                      <a:endParaRPr lang="en-NZ" sz="1200" noProof="0" dirty="0"/>
                    </a:p>
                  </a:txBody>
                  <a:tcPr>
                    <a:solidFill>
                      <a:srgbClr val="FFCCCC"/>
                    </a:solidFill>
                  </a:tcPr>
                </a:tc>
                <a:tc>
                  <a:txBody>
                    <a:bodyPr/>
                    <a:lstStyle/>
                    <a:p>
                      <a:endParaRPr lang="en-NZ" sz="1200" noProof="0" dirty="0"/>
                    </a:p>
                  </a:txBody>
                  <a:tcPr>
                    <a:solidFill>
                      <a:srgbClr val="FFCCCC"/>
                    </a:solidFill>
                  </a:tcPr>
                </a:tc>
                <a:tc>
                  <a:txBody>
                    <a:bodyPr/>
                    <a:lstStyle/>
                    <a:p>
                      <a:endParaRPr lang="en-NZ" sz="1200" noProof="0" dirty="0"/>
                    </a:p>
                  </a:txBody>
                  <a:tcPr>
                    <a:solidFill>
                      <a:srgbClr val="FFCCCC"/>
                    </a:solidFill>
                  </a:tcPr>
                </a:tc>
                <a:extLst>
                  <a:ext uri="{0D108BD9-81ED-4DB2-BD59-A6C34878D82A}">
                    <a16:rowId xmlns:a16="http://schemas.microsoft.com/office/drawing/2014/main" val="2686728311"/>
                  </a:ext>
                </a:extLst>
              </a:tr>
              <a:tr h="811831">
                <a:tc>
                  <a:txBody>
                    <a:bodyPr/>
                    <a:lstStyle/>
                    <a:p>
                      <a:endParaRPr lang="en-NZ" sz="1200" noProof="0" dirty="0"/>
                    </a:p>
                  </a:txBody>
                  <a:tcPr>
                    <a:solidFill>
                      <a:srgbClr val="FFCCCC"/>
                    </a:solidFill>
                  </a:tcPr>
                </a:tc>
                <a:tc>
                  <a:txBody>
                    <a:bodyPr/>
                    <a:lstStyle/>
                    <a:p>
                      <a:endParaRPr lang="en-NZ" sz="1200" noProof="0" dirty="0"/>
                    </a:p>
                  </a:txBody>
                  <a:tcPr>
                    <a:solidFill>
                      <a:srgbClr val="FFCCCC"/>
                    </a:solidFill>
                  </a:tcPr>
                </a:tc>
                <a:tc>
                  <a:txBody>
                    <a:bodyPr/>
                    <a:lstStyle/>
                    <a:p>
                      <a:endParaRPr lang="en-NZ" sz="1200" noProof="0" dirty="0"/>
                    </a:p>
                  </a:txBody>
                  <a:tcPr>
                    <a:solidFill>
                      <a:srgbClr val="FFCCCC"/>
                    </a:solidFill>
                  </a:tcPr>
                </a:tc>
                <a:extLst>
                  <a:ext uri="{0D108BD9-81ED-4DB2-BD59-A6C34878D82A}">
                    <a16:rowId xmlns:a16="http://schemas.microsoft.com/office/drawing/2014/main" val="730498769"/>
                  </a:ext>
                </a:extLst>
              </a:tr>
            </a:tbl>
          </a:graphicData>
        </a:graphic>
      </p:graphicFrame>
      <p:sp>
        <p:nvSpPr>
          <p:cNvPr id="6" name="TextBox 5">
            <a:extLst>
              <a:ext uri="{FF2B5EF4-FFF2-40B4-BE49-F238E27FC236}">
                <a16:creationId xmlns:a16="http://schemas.microsoft.com/office/drawing/2014/main" id="{5BAC52E2-2C3C-BC90-EF54-64DBDDEEF08B}"/>
              </a:ext>
            </a:extLst>
          </p:cNvPr>
          <p:cNvSpPr txBox="1"/>
          <p:nvPr/>
        </p:nvSpPr>
        <p:spPr>
          <a:xfrm>
            <a:off x="274290" y="6080458"/>
            <a:ext cx="11406432" cy="584775"/>
          </a:xfrm>
          <a:prstGeom prst="rect">
            <a:avLst/>
          </a:prstGeom>
          <a:noFill/>
        </p:spPr>
        <p:txBody>
          <a:bodyPr wrap="square">
            <a:spAutoFit/>
          </a:bodyPr>
          <a:lstStyle/>
          <a:p>
            <a:r>
              <a:rPr lang="en-NZ" sz="1600" noProof="0" dirty="0"/>
              <a:t>Examples of testing, modifying and debugging include: using testing devices and testing strategies, testing expected, boundary and invalid inputs, changing board layout, improving component selection. </a:t>
            </a:r>
            <a:r>
              <a:rPr lang="en-NZ" sz="1600" b="1" noProof="0" dirty="0"/>
              <a:t>You may test as you go</a:t>
            </a:r>
          </a:p>
        </p:txBody>
      </p:sp>
    </p:spTree>
    <p:extLst>
      <p:ext uri="{BB962C8B-B14F-4D97-AF65-F5344CB8AC3E}">
        <p14:creationId xmlns:p14="http://schemas.microsoft.com/office/powerpoint/2010/main" val="11829003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C6662-2585-4ECB-7C1E-AAA5D4E70521}"/>
              </a:ext>
            </a:extLst>
          </p:cNvPr>
          <p:cNvSpPr>
            <a:spLocks noGrp="1"/>
          </p:cNvSpPr>
          <p:nvPr>
            <p:ph type="title"/>
          </p:nvPr>
        </p:nvSpPr>
        <p:spPr/>
        <p:txBody>
          <a:bodyPr/>
          <a:lstStyle/>
          <a:p>
            <a:r>
              <a:rPr lang="en-NZ" noProof="0" dirty="0"/>
              <a:t>Testing for reliability</a:t>
            </a:r>
          </a:p>
        </p:txBody>
      </p:sp>
      <p:graphicFrame>
        <p:nvGraphicFramePr>
          <p:cNvPr id="6" name="Table 5">
            <a:extLst>
              <a:ext uri="{FF2B5EF4-FFF2-40B4-BE49-F238E27FC236}">
                <a16:creationId xmlns:a16="http://schemas.microsoft.com/office/drawing/2014/main" id="{613A281D-E603-3C09-229D-4F4B7BF80DC1}"/>
              </a:ext>
            </a:extLst>
          </p:cNvPr>
          <p:cNvGraphicFramePr>
            <a:graphicFrameLocks noGrp="1"/>
          </p:cNvGraphicFramePr>
          <p:nvPr>
            <p:extLst>
              <p:ext uri="{D42A27DB-BD31-4B8C-83A1-F6EECF244321}">
                <p14:modId xmlns:p14="http://schemas.microsoft.com/office/powerpoint/2010/main" val="534428221"/>
              </p:ext>
            </p:extLst>
          </p:nvPr>
        </p:nvGraphicFramePr>
        <p:xfrm>
          <a:off x="392784" y="1475806"/>
          <a:ext cx="11406432" cy="5361573"/>
        </p:xfrm>
        <a:graphic>
          <a:graphicData uri="http://schemas.openxmlformats.org/drawingml/2006/table">
            <a:tbl>
              <a:tblPr firstRow="1" bandRow="1">
                <a:tableStyleId>{5C22544A-7EE6-4342-B048-85BDC9FD1C3A}</a:tableStyleId>
              </a:tblPr>
              <a:tblGrid>
                <a:gridCol w="3802144">
                  <a:extLst>
                    <a:ext uri="{9D8B030D-6E8A-4147-A177-3AD203B41FA5}">
                      <a16:colId xmlns:a16="http://schemas.microsoft.com/office/drawing/2014/main" val="432899679"/>
                    </a:ext>
                  </a:extLst>
                </a:gridCol>
                <a:gridCol w="3802144">
                  <a:extLst>
                    <a:ext uri="{9D8B030D-6E8A-4147-A177-3AD203B41FA5}">
                      <a16:colId xmlns:a16="http://schemas.microsoft.com/office/drawing/2014/main" val="1221611069"/>
                    </a:ext>
                  </a:extLst>
                </a:gridCol>
                <a:gridCol w="3802144">
                  <a:extLst>
                    <a:ext uri="{9D8B030D-6E8A-4147-A177-3AD203B41FA5}">
                      <a16:colId xmlns:a16="http://schemas.microsoft.com/office/drawing/2014/main" val="1564170305"/>
                    </a:ext>
                  </a:extLst>
                </a:gridCol>
              </a:tblGrid>
              <a:tr h="811831">
                <a:tc>
                  <a:txBody>
                    <a:bodyPr/>
                    <a:lstStyle/>
                    <a:p>
                      <a:r>
                        <a:rPr lang="en-NZ" noProof="0" dirty="0">
                          <a:solidFill>
                            <a:schemeClr val="tx1"/>
                          </a:solidFill>
                        </a:rPr>
                        <a:t>Potential problem, original reliability</a:t>
                      </a:r>
                    </a:p>
                  </a:txBody>
                  <a:tcPr>
                    <a:lnB w="12700" cap="flat" cmpd="sng" algn="ctr">
                      <a:solidFill>
                        <a:schemeClr val="tx1"/>
                      </a:solidFill>
                      <a:prstDash val="solid"/>
                      <a:round/>
                      <a:headEnd type="none" w="med" len="med"/>
                      <a:tailEnd type="none" w="med" len="med"/>
                    </a:lnB>
                    <a:solidFill>
                      <a:srgbClr val="FFFF99"/>
                    </a:solidFill>
                  </a:tcPr>
                </a:tc>
                <a:tc>
                  <a:txBody>
                    <a:bodyPr/>
                    <a:lstStyle/>
                    <a:p>
                      <a:r>
                        <a:rPr lang="en-NZ" noProof="0" dirty="0">
                          <a:solidFill>
                            <a:schemeClr val="tx1"/>
                          </a:solidFill>
                        </a:rPr>
                        <a:t>Test and change for reliability</a:t>
                      </a:r>
                    </a:p>
                  </a:txBody>
                  <a:tcPr>
                    <a:lnB w="12700" cap="flat" cmpd="sng" algn="ctr">
                      <a:solidFill>
                        <a:schemeClr val="tx1"/>
                      </a:solidFill>
                      <a:prstDash val="solid"/>
                      <a:round/>
                      <a:headEnd type="none" w="med" len="med"/>
                      <a:tailEnd type="none" w="med" len="med"/>
                    </a:lnB>
                    <a:solidFill>
                      <a:srgbClr val="FFFF99"/>
                    </a:solidFill>
                  </a:tcPr>
                </a:tc>
                <a:tc>
                  <a:txBody>
                    <a:bodyPr/>
                    <a:lstStyle/>
                    <a:p>
                      <a:r>
                        <a:rPr lang="en-NZ" noProof="0" dirty="0">
                          <a:solidFill>
                            <a:schemeClr val="tx1"/>
                          </a:solidFill>
                        </a:rPr>
                        <a:t>Issues to be fixed, debugging, Notes</a:t>
                      </a:r>
                    </a:p>
                  </a:txBody>
                  <a:tcPr>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2823653061"/>
                  </a:ext>
                </a:extLst>
              </a:tr>
              <a:tr h="811831">
                <a:tc>
                  <a:txBody>
                    <a:bodyPr/>
                    <a:lstStyle/>
                    <a:p>
                      <a:r>
                        <a:rPr lang="en-NZ" sz="1200" dirty="0"/>
                        <a:t>Electrical interference from the 800 W motor could cause false Hall sensor readings.</a:t>
                      </a:r>
                      <a:endParaRPr lang="en-NZ"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r>
                        <a:rPr lang="en-NZ" sz="1200" dirty="0"/>
                        <a:t>The Hall effect sensors were tested while the motor was running under load. A 0.1 </a:t>
                      </a:r>
                      <a:r>
                        <a:rPr lang="en-NZ" sz="1200" dirty="0" err="1"/>
                        <a:t>uF</a:t>
                      </a:r>
                      <a:r>
                        <a:rPr lang="en-NZ" sz="1200" dirty="0"/>
                        <a:t> ceramic capacitor was added across the signal and ground lines to reduce electrical noise before repeating the test.</a:t>
                      </a:r>
                      <a:endParaRPr lang="en-NZ"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r>
                        <a:rPr lang="en-NZ" sz="1200" dirty="0"/>
                        <a:t>Before the capacitor was fitted, false RPM readings occasionally occurred. After retesting, the sensor produced stable and reliable readings with no false triggers.</a:t>
                      </a:r>
                      <a:endParaRPr lang="en-NZ"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120864744"/>
                  </a:ext>
                </a:extLst>
              </a:tr>
              <a:tr h="8118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The electromagnet releases a huge amount of voltage back into the system when it get turn off </a:t>
                      </a:r>
                      <a:endParaRPr lang="en-NZ" sz="1200" noProof="0" dirty="0">
                        <a:solidFill>
                          <a:schemeClr val="tx1"/>
                        </a:solidFill>
                      </a:endParaRPr>
                    </a:p>
                    <a:p>
                      <a:endParaRPr lang="en-NZ"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3 diodes and a fuse were added to the system , a Schottky, Zener and TVS diode and a PPTC fuse(</a:t>
                      </a:r>
                      <a:r>
                        <a:rPr lang="en-NZ" sz="1200" b="0" u="none" strike="noStrike" kern="1200" dirty="0">
                          <a:solidFill>
                            <a:schemeClr val="dk1"/>
                          </a:solidFill>
                          <a:effectLst/>
                          <a:latin typeface="+mn-lt"/>
                          <a:ea typeface="+mn-ea"/>
                          <a:cs typeface="+mn-cs"/>
                        </a:rPr>
                        <a:t>Polymeric Positive Temperature Coefficient fuse) these are to protect the circuits from over voltage and back </a:t>
                      </a:r>
                      <a:r>
                        <a:rPr lang="en-NZ" sz="1200" b="0" u="none" strike="noStrike" kern="1200" dirty="0" err="1">
                          <a:solidFill>
                            <a:schemeClr val="dk1"/>
                          </a:solidFill>
                          <a:effectLst/>
                          <a:latin typeface="+mn-lt"/>
                          <a:ea typeface="+mn-ea"/>
                          <a:cs typeface="+mn-cs"/>
                        </a:rPr>
                        <a:t>Volting</a:t>
                      </a:r>
                      <a:r>
                        <a:rPr lang="en-NZ" sz="1200" b="0" u="none" strike="noStrike" kern="1200" dirty="0">
                          <a:solidFill>
                            <a:schemeClr val="dk1"/>
                          </a:solidFill>
                          <a:effectLst/>
                          <a:latin typeface="+mn-lt"/>
                          <a:ea typeface="+mn-ea"/>
                          <a:cs typeface="+mn-cs"/>
                        </a:rPr>
                        <a:t> the system preventing the system from going up in smoke, they were tested by turning the magnet on and off and applying  a </a:t>
                      </a:r>
                      <a:r>
                        <a:rPr lang="en-NZ" sz="1200" b="0" u="none" strike="noStrike" kern="1200" dirty="0" err="1">
                          <a:solidFill>
                            <a:schemeClr val="dk1"/>
                          </a:solidFill>
                          <a:effectLst/>
                          <a:latin typeface="+mn-lt"/>
                          <a:ea typeface="+mn-ea"/>
                          <a:cs typeface="+mn-cs"/>
                        </a:rPr>
                        <a:t>multimeter</a:t>
                      </a:r>
                      <a:r>
                        <a:rPr lang="en-NZ" sz="1200" b="0" u="none" strike="noStrike" kern="1200" dirty="0">
                          <a:solidFill>
                            <a:schemeClr val="dk1"/>
                          </a:solidFill>
                          <a:effectLst/>
                          <a:latin typeface="+mn-lt"/>
                          <a:ea typeface="+mn-ea"/>
                          <a:cs typeface="+mn-cs"/>
                        </a:rPr>
                        <a:t> to the circuits end points and seeing if there is a over voltage that that part gets shut down (the part that is being measured)</a:t>
                      </a:r>
                      <a:endParaRPr lang="en-NZ" sz="1200" b="0" noProof="0" dirty="0">
                        <a:solidFill>
                          <a:schemeClr val="tx1"/>
                        </a:solidFill>
                      </a:endParaRPr>
                    </a:p>
                    <a:p>
                      <a:endParaRPr lang="en-NZ"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r>
                        <a:rPr lang="en-GB" sz="1200" noProof="0" dirty="0">
                          <a:solidFill>
                            <a:schemeClr val="tx1"/>
                          </a:solidFill>
                        </a:rPr>
                        <a:t>Make sure the right rated diodes and PPTC fuses are used for the right circuits </a:t>
                      </a:r>
                    </a:p>
                    <a:p>
                      <a:r>
                        <a:rPr lang="en-GB" sz="1200" noProof="0" dirty="0">
                          <a:solidFill>
                            <a:schemeClr val="tx1"/>
                          </a:solidFill>
                        </a:rPr>
                        <a:t>Don’t use a PPTC fuse on the motor use a automotive fuse so that it will completely shut the motor off if it pulling to many amps </a:t>
                      </a:r>
                    </a:p>
                    <a:p>
                      <a:r>
                        <a:rPr lang="en-GB" sz="1200" noProof="0" dirty="0">
                          <a:solidFill>
                            <a:schemeClr val="tx1"/>
                          </a:solidFill>
                        </a:rPr>
                        <a:t>Test all the endpoints before attaching delicate and expensive components</a:t>
                      </a:r>
                      <a:endParaRPr lang="en-NZ" sz="1200" noProof="0" dirty="0">
                        <a:solidFill>
                          <a:schemeClr val="tx1"/>
                        </a:solidFill>
                      </a:endParaRPr>
                    </a:p>
                    <a:p>
                      <a:endParaRPr lang="en-NZ"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570688745"/>
                  </a:ext>
                </a:extLst>
              </a:tr>
              <a:tr h="811831">
                <a:tc>
                  <a:txBody>
                    <a:bodyPr/>
                    <a:lstStyle/>
                    <a:p>
                      <a:endParaRPr lang="en-NZ"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endParaRPr lang="en-NZ"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endParaRPr lang="en-NZ"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686728311"/>
                  </a:ext>
                </a:extLst>
              </a:tr>
              <a:tr h="811831">
                <a:tc>
                  <a:txBody>
                    <a:bodyPr/>
                    <a:lstStyle/>
                    <a:p>
                      <a:endParaRPr lang="en-NZ"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endParaRPr lang="en-NZ"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endParaRPr lang="en-NZ"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730498769"/>
                  </a:ext>
                </a:extLst>
              </a:tr>
            </a:tbl>
          </a:graphicData>
        </a:graphic>
      </p:graphicFrame>
    </p:spTree>
    <p:extLst>
      <p:ext uri="{BB962C8B-B14F-4D97-AF65-F5344CB8AC3E}">
        <p14:creationId xmlns:p14="http://schemas.microsoft.com/office/powerpoint/2010/main" val="37138593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6D362-3543-DD4C-FC34-7275B256AC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95E1F7-B585-9982-CC75-E7379A9C4248}"/>
              </a:ext>
            </a:extLst>
          </p:cNvPr>
          <p:cNvSpPr>
            <a:spLocks noGrp="1"/>
          </p:cNvSpPr>
          <p:nvPr>
            <p:ph type="title"/>
          </p:nvPr>
        </p:nvSpPr>
        <p:spPr>
          <a:solidFill>
            <a:schemeClr val="accent6">
              <a:lumMod val="40000"/>
              <a:lumOff val="60000"/>
            </a:schemeClr>
          </a:solidFill>
        </p:spPr>
        <p:txBody>
          <a:bodyPr/>
          <a:lstStyle/>
          <a:p>
            <a:r>
              <a:rPr lang="en-NZ" noProof="0" dirty="0"/>
              <a:t>Iteration after testing</a:t>
            </a:r>
          </a:p>
        </p:txBody>
      </p:sp>
      <p:sp>
        <p:nvSpPr>
          <p:cNvPr id="3" name="Content Placeholder 2">
            <a:extLst>
              <a:ext uri="{FF2B5EF4-FFF2-40B4-BE49-F238E27FC236}">
                <a16:creationId xmlns:a16="http://schemas.microsoft.com/office/drawing/2014/main" id="{5A1D233B-220B-493E-C461-4F4088BAB28F}"/>
              </a:ext>
            </a:extLst>
          </p:cNvPr>
          <p:cNvSpPr>
            <a:spLocks noGrp="1"/>
          </p:cNvSpPr>
          <p:nvPr>
            <p:ph idx="1"/>
          </p:nvPr>
        </p:nvSpPr>
        <p:spPr>
          <a:xfrm>
            <a:off x="838200" y="1825625"/>
            <a:ext cx="10515600" cy="1325563"/>
          </a:xfrm>
          <a:solidFill>
            <a:schemeClr val="accent6">
              <a:lumMod val="20000"/>
              <a:lumOff val="80000"/>
            </a:schemeClr>
          </a:solidFill>
        </p:spPr>
        <p:txBody>
          <a:bodyPr/>
          <a:lstStyle/>
          <a:p>
            <a:pPr marL="0" indent="0">
              <a:buNone/>
            </a:pPr>
            <a:r>
              <a:rPr lang="en-NZ" noProof="0" dirty="0"/>
              <a:t>Feedback </a:t>
            </a:r>
            <a:r>
              <a:rPr lang="en-NZ" noProof="0"/>
              <a:t>after testing:</a:t>
            </a:r>
            <a:endParaRPr lang="en-NZ" noProof="0" dirty="0"/>
          </a:p>
        </p:txBody>
      </p:sp>
      <p:sp>
        <p:nvSpPr>
          <p:cNvPr id="4" name="Content Placeholder 2">
            <a:extLst>
              <a:ext uri="{FF2B5EF4-FFF2-40B4-BE49-F238E27FC236}">
                <a16:creationId xmlns:a16="http://schemas.microsoft.com/office/drawing/2014/main" id="{699A2878-C266-8972-451C-90B30E57A1FB}"/>
              </a:ext>
            </a:extLst>
          </p:cNvPr>
          <p:cNvSpPr txBox="1">
            <a:spLocks/>
          </p:cNvSpPr>
          <p:nvPr/>
        </p:nvSpPr>
        <p:spPr>
          <a:xfrm>
            <a:off x="838200" y="3286125"/>
            <a:ext cx="10515600" cy="2691888"/>
          </a:xfrm>
          <a:prstGeom prst="rect">
            <a:avLst/>
          </a:prstGeom>
          <a:solidFill>
            <a:schemeClr val="accent6">
              <a:lumMod val="20000"/>
              <a:lumOff val="8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Changes based off feedback (include picture or design):</a:t>
            </a:r>
          </a:p>
        </p:txBody>
      </p:sp>
    </p:spTree>
    <p:extLst>
      <p:ext uri="{BB962C8B-B14F-4D97-AF65-F5344CB8AC3E}">
        <p14:creationId xmlns:p14="http://schemas.microsoft.com/office/powerpoint/2010/main" val="38304955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348783e-0638-4a30-9f7a-26b4cfbb0058}" enabled="0" method="" siteId="{3348783e-0638-4a30-9f7a-26b4cfbb0058}" removed="1"/>
</clbl:labelList>
</file>

<file path=docProps/app.xml><?xml version="1.0" encoding="utf-8"?>
<Properties xmlns="http://schemas.openxmlformats.org/officeDocument/2006/extended-properties" xmlns:vt="http://schemas.openxmlformats.org/officeDocument/2006/docPropsVTypes">
  <TotalTime>1904</TotalTime>
  <Words>3538</Words>
  <Application>Microsoft Office PowerPoint</Application>
  <PresentationFormat>Widescreen</PresentationFormat>
  <Paragraphs>205</Paragraphs>
  <Slides>31</Slides>
  <Notes>0</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Aptos</vt:lpstr>
      <vt:lpstr>Aptos Display</vt:lpstr>
      <vt:lpstr>Arial</vt:lpstr>
      <vt:lpstr>Office Theme</vt:lpstr>
      <vt:lpstr>AS91904 Electronics Outcome</vt:lpstr>
      <vt:lpstr>Project Details</vt:lpstr>
      <vt:lpstr>Techniques used</vt:lpstr>
      <vt:lpstr>Relevant Implications</vt:lpstr>
      <vt:lpstr>Original Design</vt:lpstr>
      <vt:lpstr>Behaviour and function</vt:lpstr>
      <vt:lpstr>PowerPoint Presentation</vt:lpstr>
      <vt:lpstr>Explaining relevant communication protocols</vt:lpstr>
      <vt:lpstr>Iterated Design</vt:lpstr>
      <vt:lpstr>Components and Systems</vt:lpstr>
      <vt:lpstr>Choice of Component/System 1: controller</vt:lpstr>
      <vt:lpstr>Component/System 1</vt:lpstr>
      <vt:lpstr>Reliability Testing</vt:lpstr>
      <vt:lpstr>Choice of Component/System 2:physical controls </vt:lpstr>
      <vt:lpstr>Component/System 2</vt:lpstr>
      <vt:lpstr>Reliability Testing</vt:lpstr>
      <vt:lpstr>Choice of Component/System 3</vt:lpstr>
      <vt:lpstr>Component/System 3</vt:lpstr>
      <vt:lpstr>Reliability Testing</vt:lpstr>
      <vt:lpstr>Choice of Component/System 4</vt:lpstr>
      <vt:lpstr>Component/System 4</vt:lpstr>
      <vt:lpstr>Reliability Testing</vt:lpstr>
      <vt:lpstr>Choice of Component/System 5</vt:lpstr>
      <vt:lpstr>Component/System 5</vt:lpstr>
      <vt:lpstr>Reliability Testing</vt:lpstr>
      <vt:lpstr>Final Outcome, Before Testing</vt:lpstr>
      <vt:lpstr>Iteration of Development</vt:lpstr>
      <vt:lpstr>Testing and Debugging</vt:lpstr>
      <vt:lpstr>Testing for functionality</vt:lpstr>
      <vt:lpstr>Testing for reliability</vt:lpstr>
      <vt:lpstr>Iteration after testing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AS91904 Electronics Outcome</dc:title>
  <dc:creator>Mark Sutherland</dc:creator>
  <cp:lastModifiedBy>Heinrich Venter</cp:lastModifiedBy>
  <cp:revision>3</cp:revision>
  <dcterms:created xsi:type="dcterms:W3CDTF">2025-11-11T22:30:20Z</dcterms:created>
  <dcterms:modified xsi:type="dcterms:W3CDTF">2026-10-21T11:43:56Z</dcterms:modified>
</cp:coreProperties>
</file>