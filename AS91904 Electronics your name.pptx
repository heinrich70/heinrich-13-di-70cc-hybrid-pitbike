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7" r:id="rId6"/>
    <p:sldId id="269" r:id="rId7"/>
    <p:sldId id="285" r:id="rId8"/>
    <p:sldId id="268" r:id="rId9"/>
    <p:sldId id="261" r:id="rId10"/>
    <p:sldId id="287" r:id="rId11"/>
    <p:sldId id="279" r:id="rId12"/>
    <p:sldId id="280" r:id="rId13"/>
    <p:sldId id="288" r:id="rId14"/>
    <p:sldId id="289" r:id="rId15"/>
    <p:sldId id="290" r:id="rId16"/>
    <p:sldId id="291" r:id="rId17"/>
    <p:sldId id="292" r:id="rId18"/>
    <p:sldId id="293" r:id="rId19"/>
    <p:sldId id="294" r:id="rId20"/>
    <p:sldId id="295" r:id="rId21"/>
    <p:sldId id="296" r:id="rId22"/>
    <p:sldId id="282" r:id="rId23"/>
    <p:sldId id="277" r:id="rId24"/>
    <p:sldId id="265" r:id="rId25"/>
    <p:sldId id="266" r:id="rId26"/>
    <p:sldId id="278" r:id="rId27"/>
    <p:sldId id="28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FFCCCC"/>
    <a:srgbClr val="FF5050"/>
    <a:srgbClr val="FFFF99"/>
    <a:srgbClr val="CBC3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13A9E9-B3C1-424C-8E5B-7A1F059B459A}" v="41" dt="2026-05-24T11:45:34.4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64" autoAdjust="0"/>
    <p:restoredTop sz="94660"/>
  </p:normalViewPr>
  <p:slideViewPr>
    <p:cSldViewPr snapToGrid="0">
      <p:cViewPr>
        <p:scale>
          <a:sx n="137" d="100"/>
          <a:sy n="137" d="100"/>
        </p:scale>
        <p:origin x="-7052" y="-29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inrich Venter" userId="694de3c83518532c" providerId="LiveId" clId="{10CD68D7-CBE1-4750-A2D1-7DEE064E9363}"/>
    <pc:docChg chg="undo custSel addSld delSld modSld">
      <pc:chgData name="Heinrich Venter" userId="694de3c83518532c" providerId="LiveId" clId="{10CD68D7-CBE1-4750-A2D1-7DEE064E9363}" dt="2026-05-24T11:45:55.046" v="4580" actId="20577"/>
      <pc:docMkLst>
        <pc:docMk/>
      </pc:docMkLst>
      <pc:sldChg chg="modSp mod">
        <pc:chgData name="Heinrich Venter" userId="694de3c83518532c" providerId="LiveId" clId="{10CD68D7-CBE1-4750-A2D1-7DEE064E9363}" dt="2026-05-24T09:10:16.286" v="43" actId="20577"/>
        <pc:sldMkLst>
          <pc:docMk/>
          <pc:sldMk cId="730004332" sldId="256"/>
        </pc:sldMkLst>
        <pc:spChg chg="mod">
          <ac:chgData name="Heinrich Venter" userId="694de3c83518532c" providerId="LiveId" clId="{10CD68D7-CBE1-4750-A2D1-7DEE064E9363}" dt="2026-05-24T09:10:16.286" v="43" actId="20577"/>
          <ac:spMkLst>
            <pc:docMk/>
            <pc:sldMk cId="730004332" sldId="256"/>
            <ac:spMk id="3" creationId="{F66D802B-CDB6-E9D2-44F0-86BC0E80FB38}"/>
          </ac:spMkLst>
        </pc:spChg>
      </pc:sldChg>
      <pc:sldChg chg="modSp mod">
        <pc:chgData name="Heinrich Venter" userId="694de3c83518532c" providerId="LiveId" clId="{10CD68D7-CBE1-4750-A2D1-7DEE064E9363}" dt="2026-05-24T09:14:35.187" v="95"/>
        <pc:sldMkLst>
          <pc:docMk/>
          <pc:sldMk cId="4279029636" sldId="259"/>
        </pc:sldMkLst>
        <pc:graphicFrameChg chg="mod modGraphic">
          <ac:chgData name="Heinrich Venter" userId="694de3c83518532c" providerId="LiveId" clId="{10CD68D7-CBE1-4750-A2D1-7DEE064E9363}" dt="2026-05-24T09:14:35.187" v="95"/>
          <ac:graphicFrameMkLst>
            <pc:docMk/>
            <pc:sldMk cId="4279029636" sldId="259"/>
            <ac:graphicFrameMk id="5" creationId="{F519459D-F748-3377-4E55-D51E89AF6AC2}"/>
          </ac:graphicFrameMkLst>
        </pc:graphicFrameChg>
      </pc:sldChg>
      <pc:sldChg chg="modSp mod">
        <pc:chgData name="Heinrich Venter" userId="694de3c83518532c" providerId="LiveId" clId="{10CD68D7-CBE1-4750-A2D1-7DEE064E9363}" dt="2026-05-24T09:44:50.269" v="2751" actId="20577"/>
        <pc:sldMkLst>
          <pc:docMk/>
          <pc:sldMk cId="2961901457" sldId="269"/>
        </pc:sldMkLst>
        <pc:spChg chg="mod">
          <ac:chgData name="Heinrich Venter" userId="694de3c83518532c" providerId="LiveId" clId="{10CD68D7-CBE1-4750-A2D1-7DEE064E9363}" dt="2026-05-24T09:44:50.269" v="2751" actId="20577"/>
          <ac:spMkLst>
            <pc:docMk/>
            <pc:sldMk cId="2961901457" sldId="269"/>
            <ac:spMk id="3" creationId="{A52EF0A1-3D21-8BB7-02F3-33253F2DFB43}"/>
          </ac:spMkLst>
        </pc:spChg>
      </pc:sldChg>
      <pc:sldChg chg="addSp modSp mod">
        <pc:chgData name="Heinrich Venter" userId="694de3c83518532c" providerId="LiveId" clId="{10CD68D7-CBE1-4750-A2D1-7DEE064E9363}" dt="2026-05-24T11:06:41.718" v="4227" actId="20577"/>
        <pc:sldMkLst>
          <pc:docMk/>
          <pc:sldMk cId="3917241819" sldId="279"/>
        </pc:sldMkLst>
        <pc:spChg chg="mod">
          <ac:chgData name="Heinrich Venter" userId="694de3c83518532c" providerId="LiveId" clId="{10CD68D7-CBE1-4750-A2D1-7DEE064E9363}" dt="2026-05-24T10:00:05.034" v="3393" actId="27636"/>
          <ac:spMkLst>
            <pc:docMk/>
            <pc:sldMk cId="3917241819" sldId="279"/>
            <ac:spMk id="3" creationId="{109C2FE0-6991-DDAF-C4F7-B3415EC34474}"/>
          </ac:spMkLst>
        </pc:spChg>
        <pc:spChg chg="mod">
          <ac:chgData name="Heinrich Venter" userId="694de3c83518532c" providerId="LiveId" clId="{10CD68D7-CBE1-4750-A2D1-7DEE064E9363}" dt="2026-05-24T10:01:04.280" v="3403" actId="1076"/>
          <ac:spMkLst>
            <pc:docMk/>
            <pc:sldMk cId="3917241819" sldId="279"/>
            <ac:spMk id="4" creationId="{48BF1EF6-F8B8-8CF4-9169-05F15F67B902}"/>
          </ac:spMkLst>
        </pc:spChg>
        <pc:spChg chg="mod">
          <ac:chgData name="Heinrich Venter" userId="694de3c83518532c" providerId="LiveId" clId="{10CD68D7-CBE1-4750-A2D1-7DEE064E9363}" dt="2026-05-24T11:06:41.718" v="4227" actId="20577"/>
          <ac:spMkLst>
            <pc:docMk/>
            <pc:sldMk cId="3917241819" sldId="279"/>
            <ac:spMk id="5" creationId="{F10EB81D-A986-42AD-847E-FF3A1F656CEB}"/>
          </ac:spMkLst>
        </pc:spChg>
        <pc:picChg chg="add mod">
          <ac:chgData name="Heinrich Venter" userId="694de3c83518532c" providerId="LiveId" clId="{10CD68D7-CBE1-4750-A2D1-7DEE064E9363}" dt="2026-05-24T10:01:10.857" v="3404" actId="1076"/>
          <ac:picMkLst>
            <pc:docMk/>
            <pc:sldMk cId="3917241819" sldId="279"/>
            <ac:picMk id="1026" creationId="{F6F76BE5-4844-9D9B-EDC2-816CC06C42C3}"/>
          </ac:picMkLst>
        </pc:picChg>
      </pc:sldChg>
      <pc:sldChg chg="modSp mod">
        <pc:chgData name="Heinrich Venter" userId="694de3c83518532c" providerId="LiveId" clId="{10CD68D7-CBE1-4750-A2D1-7DEE064E9363}" dt="2026-05-24T11:05:44.022" v="4106" actId="20577"/>
        <pc:sldMkLst>
          <pc:docMk/>
          <pc:sldMk cId="3469156485" sldId="280"/>
        </pc:sldMkLst>
        <pc:spChg chg="mod">
          <ac:chgData name="Heinrich Venter" userId="694de3c83518532c" providerId="LiveId" clId="{10CD68D7-CBE1-4750-A2D1-7DEE064E9363}" dt="2026-05-24T11:05:44.022" v="4106" actId="20577"/>
          <ac:spMkLst>
            <pc:docMk/>
            <pc:sldMk cId="3469156485" sldId="280"/>
            <ac:spMk id="5" creationId="{50C57F65-7853-E45D-CA58-31BCC9DE7B02}"/>
          </ac:spMkLst>
        </pc:spChg>
        <pc:spChg chg="mod">
          <ac:chgData name="Heinrich Venter" userId="694de3c83518532c" providerId="LiveId" clId="{10CD68D7-CBE1-4750-A2D1-7DEE064E9363}" dt="2026-05-24T11:01:47.702" v="3490" actId="20577"/>
          <ac:spMkLst>
            <pc:docMk/>
            <pc:sldMk cId="3469156485" sldId="280"/>
            <ac:spMk id="11" creationId="{E3D936A8-CA08-48BB-AA98-F3A8B43B31CF}"/>
          </ac:spMkLst>
        </pc:spChg>
      </pc:sldChg>
      <pc:sldChg chg="modSp mod">
        <pc:chgData name="Heinrich Venter" userId="694de3c83518532c" providerId="LiveId" clId="{10CD68D7-CBE1-4750-A2D1-7DEE064E9363}" dt="2026-05-24T09:51:15.846" v="2759" actId="27636"/>
        <pc:sldMkLst>
          <pc:docMk/>
          <pc:sldMk cId="4103162250" sldId="285"/>
        </pc:sldMkLst>
        <pc:spChg chg="mod">
          <ac:chgData name="Heinrich Venter" userId="694de3c83518532c" providerId="LiveId" clId="{10CD68D7-CBE1-4750-A2D1-7DEE064E9363}" dt="2026-05-24T09:50:47.060" v="2753"/>
          <ac:spMkLst>
            <pc:docMk/>
            <pc:sldMk cId="4103162250" sldId="285"/>
            <ac:spMk id="3" creationId="{A52EF0A1-3D21-8BB7-02F3-33253F2DFB43}"/>
          </ac:spMkLst>
        </pc:spChg>
        <pc:spChg chg="mod">
          <ac:chgData name="Heinrich Venter" userId="694de3c83518532c" providerId="LiveId" clId="{10CD68D7-CBE1-4750-A2D1-7DEE064E9363}" dt="2026-05-24T09:51:15.846" v="2759" actId="27636"/>
          <ac:spMkLst>
            <pc:docMk/>
            <pc:sldMk cId="4103162250" sldId="285"/>
            <ac:spMk id="4" creationId="{733B3A00-9BAD-4EED-A5B0-1F15087135FA}"/>
          </ac:spMkLst>
        </pc:spChg>
      </pc:sldChg>
      <pc:sldChg chg="modSp mod">
        <pc:chgData name="Heinrich Venter" userId="694de3c83518532c" providerId="LiveId" clId="{10CD68D7-CBE1-4750-A2D1-7DEE064E9363}" dt="2026-05-24T09:58:31.385" v="3309" actId="20577"/>
        <pc:sldMkLst>
          <pc:docMk/>
          <pc:sldMk cId="4188302786" sldId="287"/>
        </pc:sldMkLst>
        <pc:spChg chg="mod">
          <ac:chgData name="Heinrich Venter" userId="694de3c83518532c" providerId="LiveId" clId="{10CD68D7-CBE1-4750-A2D1-7DEE064E9363}" dt="2026-05-24T09:54:33.723" v="2789" actId="20577"/>
          <ac:spMkLst>
            <pc:docMk/>
            <pc:sldMk cId="4188302786" sldId="287"/>
            <ac:spMk id="2" creationId="{5AD3A040-4DF6-3A52-2828-494419344D41}"/>
          </ac:spMkLst>
        </pc:spChg>
        <pc:spChg chg="mod">
          <ac:chgData name="Heinrich Venter" userId="694de3c83518532c" providerId="LiveId" clId="{10CD68D7-CBE1-4750-A2D1-7DEE064E9363}" dt="2026-05-24T09:58:31.385" v="3309" actId="20577"/>
          <ac:spMkLst>
            <pc:docMk/>
            <pc:sldMk cId="4188302786" sldId="287"/>
            <ac:spMk id="5" creationId="{208AF426-607B-1936-143C-7541AD8896ED}"/>
          </ac:spMkLst>
        </pc:spChg>
        <pc:spChg chg="mod">
          <ac:chgData name="Heinrich Venter" userId="694de3c83518532c" providerId="LiveId" clId="{10CD68D7-CBE1-4750-A2D1-7DEE064E9363}" dt="2026-05-24T09:54:40.185" v="2798" actId="20577"/>
          <ac:spMkLst>
            <pc:docMk/>
            <pc:sldMk cId="4188302786" sldId="287"/>
            <ac:spMk id="8" creationId="{DFB8CE4C-97AF-7F3E-9CAC-E06101B7E86D}"/>
          </ac:spMkLst>
        </pc:spChg>
        <pc:spChg chg="mod">
          <ac:chgData name="Heinrich Venter" userId="694de3c83518532c" providerId="LiveId" clId="{10CD68D7-CBE1-4750-A2D1-7DEE064E9363}" dt="2026-05-24T09:54:55.923" v="2805" actId="20577"/>
          <ac:spMkLst>
            <pc:docMk/>
            <pc:sldMk cId="4188302786" sldId="287"/>
            <ac:spMk id="9" creationId="{0A4F4AF7-5E5A-2D76-3F73-6A09F3F31537}"/>
          </ac:spMkLst>
        </pc:spChg>
        <pc:spChg chg="mod">
          <ac:chgData name="Heinrich Venter" userId="694de3c83518532c" providerId="LiveId" clId="{10CD68D7-CBE1-4750-A2D1-7DEE064E9363}" dt="2026-05-24T09:55:04.956" v="2818" actId="20577"/>
          <ac:spMkLst>
            <pc:docMk/>
            <pc:sldMk cId="4188302786" sldId="287"/>
            <ac:spMk id="10" creationId="{841EBE6D-B5D0-4C30-C32E-F3AA1F02B8FD}"/>
          </ac:spMkLst>
        </pc:spChg>
      </pc:sldChg>
      <pc:sldChg chg="modSp mod">
        <pc:chgData name="Heinrich Venter" userId="694de3c83518532c" providerId="LiveId" clId="{10CD68D7-CBE1-4750-A2D1-7DEE064E9363}" dt="2026-05-24T11:13:59.165" v="4299" actId="113"/>
        <pc:sldMkLst>
          <pc:docMk/>
          <pc:sldMk cId="2953175661" sldId="288"/>
        </pc:sldMkLst>
        <pc:spChg chg="mod">
          <ac:chgData name="Heinrich Venter" userId="694de3c83518532c" providerId="LiveId" clId="{10CD68D7-CBE1-4750-A2D1-7DEE064E9363}" dt="2026-05-24T11:13:59.165" v="4299" actId="113"/>
          <ac:spMkLst>
            <pc:docMk/>
            <pc:sldMk cId="2953175661" sldId="288"/>
            <ac:spMk id="5" creationId="{208AF426-607B-1936-143C-7541AD8896ED}"/>
          </ac:spMkLst>
        </pc:spChg>
        <pc:spChg chg="mod">
          <ac:chgData name="Heinrich Venter" userId="694de3c83518532c" providerId="LiveId" clId="{10CD68D7-CBE1-4750-A2D1-7DEE064E9363}" dt="2026-05-24T11:08:21.423" v="4249" actId="20577"/>
          <ac:spMkLst>
            <pc:docMk/>
            <pc:sldMk cId="2953175661" sldId="288"/>
            <ac:spMk id="8" creationId="{DFB8CE4C-97AF-7F3E-9CAC-E06101B7E86D}"/>
          </ac:spMkLst>
        </pc:spChg>
        <pc:spChg chg="mod">
          <ac:chgData name="Heinrich Venter" userId="694de3c83518532c" providerId="LiveId" clId="{10CD68D7-CBE1-4750-A2D1-7DEE064E9363}" dt="2026-05-24T11:09:06.463" v="4260" actId="20577"/>
          <ac:spMkLst>
            <pc:docMk/>
            <pc:sldMk cId="2953175661" sldId="288"/>
            <ac:spMk id="9" creationId="{0A4F4AF7-5E5A-2D76-3F73-6A09F3F31537}"/>
          </ac:spMkLst>
        </pc:spChg>
        <pc:spChg chg="mod">
          <ac:chgData name="Heinrich Venter" userId="694de3c83518532c" providerId="LiveId" clId="{10CD68D7-CBE1-4750-A2D1-7DEE064E9363}" dt="2026-05-24T11:11:58.707" v="4292" actId="20577"/>
          <ac:spMkLst>
            <pc:docMk/>
            <pc:sldMk cId="2953175661" sldId="288"/>
            <ac:spMk id="10" creationId="{841EBE6D-B5D0-4C30-C32E-F3AA1F02B8FD}"/>
          </ac:spMkLst>
        </pc:spChg>
      </pc:sldChg>
      <pc:sldChg chg="modSp mod">
        <pc:chgData name="Heinrich Venter" userId="694de3c83518532c" providerId="LiveId" clId="{10CD68D7-CBE1-4750-A2D1-7DEE064E9363}" dt="2026-05-24T11:20:05.377" v="4323" actId="27636"/>
        <pc:sldMkLst>
          <pc:docMk/>
          <pc:sldMk cId="708745857" sldId="289"/>
        </pc:sldMkLst>
        <pc:spChg chg="mod">
          <ac:chgData name="Heinrich Venter" userId="694de3c83518532c" providerId="LiveId" clId="{10CD68D7-CBE1-4750-A2D1-7DEE064E9363}" dt="2026-05-24T11:17:34.751" v="4304" actId="5793"/>
          <ac:spMkLst>
            <pc:docMk/>
            <pc:sldMk cId="708745857" sldId="289"/>
            <ac:spMk id="3" creationId="{109C2FE0-6991-DDAF-C4F7-B3415EC34474}"/>
          </ac:spMkLst>
        </pc:spChg>
        <pc:spChg chg="mod">
          <ac:chgData name="Heinrich Venter" userId="694de3c83518532c" providerId="LiveId" clId="{10CD68D7-CBE1-4750-A2D1-7DEE064E9363}" dt="2026-05-24T11:20:05.377" v="4323" actId="27636"/>
          <ac:spMkLst>
            <pc:docMk/>
            <pc:sldMk cId="708745857" sldId="289"/>
            <ac:spMk id="5" creationId="{F10EB81D-A986-42AD-847E-FF3A1F656CEB}"/>
          </ac:spMkLst>
        </pc:spChg>
      </pc:sldChg>
      <pc:sldChg chg="modSp mod">
        <pc:chgData name="Heinrich Venter" userId="694de3c83518532c" providerId="LiveId" clId="{10CD68D7-CBE1-4750-A2D1-7DEE064E9363}" dt="2026-05-24T11:21:57.711" v="4339" actId="20577"/>
        <pc:sldMkLst>
          <pc:docMk/>
          <pc:sldMk cId="1027777261" sldId="290"/>
        </pc:sldMkLst>
        <pc:spChg chg="mod">
          <ac:chgData name="Heinrich Venter" userId="694de3c83518532c" providerId="LiveId" clId="{10CD68D7-CBE1-4750-A2D1-7DEE064E9363}" dt="2026-05-24T11:21:57.711" v="4339" actId="20577"/>
          <ac:spMkLst>
            <pc:docMk/>
            <pc:sldMk cId="1027777261" sldId="290"/>
            <ac:spMk id="5" creationId="{50C57F65-7853-E45D-CA58-31BCC9DE7B02}"/>
          </ac:spMkLst>
        </pc:spChg>
        <pc:spChg chg="mod">
          <ac:chgData name="Heinrich Venter" userId="694de3c83518532c" providerId="LiveId" clId="{10CD68D7-CBE1-4750-A2D1-7DEE064E9363}" dt="2026-05-24T11:21:28.680" v="4331" actId="27636"/>
          <ac:spMkLst>
            <pc:docMk/>
            <pc:sldMk cId="1027777261" sldId="290"/>
            <ac:spMk id="11" creationId="{E3D936A8-CA08-48BB-AA98-F3A8B43B31CF}"/>
          </ac:spMkLst>
        </pc:spChg>
      </pc:sldChg>
      <pc:sldChg chg="modSp mod">
        <pc:chgData name="Heinrich Venter" userId="694de3c83518532c" providerId="LiveId" clId="{10CD68D7-CBE1-4750-A2D1-7DEE064E9363}" dt="2026-05-24T11:25:45.751" v="4438" actId="5793"/>
        <pc:sldMkLst>
          <pc:docMk/>
          <pc:sldMk cId="733961800" sldId="291"/>
        </pc:sldMkLst>
        <pc:spChg chg="mod">
          <ac:chgData name="Heinrich Venter" userId="694de3c83518532c" providerId="LiveId" clId="{10CD68D7-CBE1-4750-A2D1-7DEE064E9363}" dt="2026-05-24T11:25:45.751" v="4438" actId="5793"/>
          <ac:spMkLst>
            <pc:docMk/>
            <pc:sldMk cId="733961800" sldId="291"/>
            <ac:spMk id="5" creationId="{208AF426-607B-1936-143C-7541AD8896ED}"/>
          </ac:spMkLst>
        </pc:spChg>
        <pc:spChg chg="mod">
          <ac:chgData name="Heinrich Venter" userId="694de3c83518532c" providerId="LiveId" clId="{10CD68D7-CBE1-4750-A2D1-7DEE064E9363}" dt="2026-05-24T11:24:16" v="4376" actId="20577"/>
          <ac:spMkLst>
            <pc:docMk/>
            <pc:sldMk cId="733961800" sldId="291"/>
            <ac:spMk id="8" creationId="{DFB8CE4C-97AF-7F3E-9CAC-E06101B7E86D}"/>
          </ac:spMkLst>
        </pc:spChg>
        <pc:spChg chg="mod">
          <ac:chgData name="Heinrich Venter" userId="694de3c83518532c" providerId="LiveId" clId="{10CD68D7-CBE1-4750-A2D1-7DEE064E9363}" dt="2026-05-24T11:24:25.653" v="4379" actId="27636"/>
          <ac:spMkLst>
            <pc:docMk/>
            <pc:sldMk cId="733961800" sldId="291"/>
            <ac:spMk id="9" creationId="{0A4F4AF7-5E5A-2D76-3F73-6A09F3F31537}"/>
          </ac:spMkLst>
        </pc:spChg>
        <pc:spChg chg="mod">
          <ac:chgData name="Heinrich Venter" userId="694de3c83518532c" providerId="LiveId" clId="{10CD68D7-CBE1-4750-A2D1-7DEE064E9363}" dt="2026-05-24T11:24:40.292" v="4382" actId="27636"/>
          <ac:spMkLst>
            <pc:docMk/>
            <pc:sldMk cId="733961800" sldId="291"/>
            <ac:spMk id="10" creationId="{841EBE6D-B5D0-4C30-C32E-F3AA1F02B8FD}"/>
          </ac:spMkLst>
        </pc:spChg>
      </pc:sldChg>
      <pc:sldChg chg="modSp mod">
        <pc:chgData name="Heinrich Venter" userId="694de3c83518532c" providerId="LiveId" clId="{10CD68D7-CBE1-4750-A2D1-7DEE064E9363}" dt="2026-05-24T11:30:09.083" v="4477" actId="113"/>
        <pc:sldMkLst>
          <pc:docMk/>
          <pc:sldMk cId="3091740916" sldId="292"/>
        </pc:sldMkLst>
        <pc:spChg chg="mod">
          <ac:chgData name="Heinrich Venter" userId="694de3c83518532c" providerId="LiveId" clId="{10CD68D7-CBE1-4750-A2D1-7DEE064E9363}" dt="2026-05-24T11:26:56.629" v="4441" actId="27636"/>
          <ac:spMkLst>
            <pc:docMk/>
            <pc:sldMk cId="3091740916" sldId="292"/>
            <ac:spMk id="3" creationId="{109C2FE0-6991-DDAF-C4F7-B3415EC34474}"/>
          </ac:spMkLst>
        </pc:spChg>
        <pc:spChg chg="mod">
          <ac:chgData name="Heinrich Venter" userId="694de3c83518532c" providerId="LiveId" clId="{10CD68D7-CBE1-4750-A2D1-7DEE064E9363}" dt="2026-05-24T11:30:09.083" v="4477" actId="113"/>
          <ac:spMkLst>
            <pc:docMk/>
            <pc:sldMk cId="3091740916" sldId="292"/>
            <ac:spMk id="5" creationId="{F10EB81D-A986-42AD-847E-FF3A1F656CEB}"/>
          </ac:spMkLst>
        </pc:spChg>
      </pc:sldChg>
      <pc:sldChg chg="modSp mod">
        <pc:chgData name="Heinrich Venter" userId="694de3c83518532c" providerId="LiveId" clId="{10CD68D7-CBE1-4750-A2D1-7DEE064E9363}" dt="2026-05-24T11:33:13.923" v="4504" actId="20577"/>
        <pc:sldMkLst>
          <pc:docMk/>
          <pc:sldMk cId="3290795109" sldId="293"/>
        </pc:sldMkLst>
        <pc:spChg chg="mod">
          <ac:chgData name="Heinrich Venter" userId="694de3c83518532c" providerId="LiveId" clId="{10CD68D7-CBE1-4750-A2D1-7DEE064E9363}" dt="2026-05-24T11:33:13.923" v="4504" actId="20577"/>
          <ac:spMkLst>
            <pc:docMk/>
            <pc:sldMk cId="3290795109" sldId="293"/>
            <ac:spMk id="5" creationId="{50C57F65-7853-E45D-CA58-31BCC9DE7B02}"/>
          </ac:spMkLst>
        </pc:spChg>
        <pc:spChg chg="mod">
          <ac:chgData name="Heinrich Venter" userId="694de3c83518532c" providerId="LiveId" clId="{10CD68D7-CBE1-4750-A2D1-7DEE064E9363}" dt="2026-05-24T11:33:09.585" v="4503" actId="20577"/>
          <ac:spMkLst>
            <pc:docMk/>
            <pc:sldMk cId="3290795109" sldId="293"/>
            <ac:spMk id="11" creationId="{E3D936A8-CA08-48BB-AA98-F3A8B43B31CF}"/>
          </ac:spMkLst>
        </pc:spChg>
      </pc:sldChg>
      <pc:sldChg chg="modSp mod">
        <pc:chgData name="Heinrich Venter" userId="694de3c83518532c" providerId="LiveId" clId="{10CD68D7-CBE1-4750-A2D1-7DEE064E9363}" dt="2026-05-24T11:41:05.867" v="4536" actId="20577"/>
        <pc:sldMkLst>
          <pc:docMk/>
          <pc:sldMk cId="3463644882" sldId="294"/>
        </pc:sldMkLst>
        <pc:spChg chg="mod">
          <ac:chgData name="Heinrich Venter" userId="694de3c83518532c" providerId="LiveId" clId="{10CD68D7-CBE1-4750-A2D1-7DEE064E9363}" dt="2026-05-24T11:41:05.867" v="4536" actId="20577"/>
          <ac:spMkLst>
            <pc:docMk/>
            <pc:sldMk cId="3463644882" sldId="294"/>
            <ac:spMk id="5" creationId="{208AF426-607B-1936-143C-7541AD8896ED}"/>
          </ac:spMkLst>
        </pc:spChg>
        <pc:spChg chg="mod">
          <ac:chgData name="Heinrich Venter" userId="694de3c83518532c" providerId="LiveId" clId="{10CD68D7-CBE1-4750-A2D1-7DEE064E9363}" dt="2026-05-24T11:40:04.573" v="4518" actId="20577"/>
          <ac:spMkLst>
            <pc:docMk/>
            <pc:sldMk cId="3463644882" sldId="294"/>
            <ac:spMk id="8" creationId="{DFB8CE4C-97AF-7F3E-9CAC-E06101B7E86D}"/>
          </ac:spMkLst>
        </pc:spChg>
        <pc:spChg chg="mod">
          <ac:chgData name="Heinrich Venter" userId="694de3c83518532c" providerId="LiveId" clId="{10CD68D7-CBE1-4750-A2D1-7DEE064E9363}" dt="2026-05-24T11:39:59.611" v="4510" actId="27636"/>
          <ac:spMkLst>
            <pc:docMk/>
            <pc:sldMk cId="3463644882" sldId="294"/>
            <ac:spMk id="9" creationId="{0A4F4AF7-5E5A-2D76-3F73-6A09F3F31537}"/>
          </ac:spMkLst>
        </pc:spChg>
        <pc:spChg chg="mod">
          <ac:chgData name="Heinrich Venter" userId="694de3c83518532c" providerId="LiveId" clId="{10CD68D7-CBE1-4750-A2D1-7DEE064E9363}" dt="2026-05-24T11:40:18.533" v="4521" actId="27636"/>
          <ac:spMkLst>
            <pc:docMk/>
            <pc:sldMk cId="3463644882" sldId="294"/>
            <ac:spMk id="10" creationId="{841EBE6D-B5D0-4C30-C32E-F3AA1F02B8FD}"/>
          </ac:spMkLst>
        </pc:spChg>
      </pc:sldChg>
      <pc:sldChg chg="modSp mod">
        <pc:chgData name="Heinrich Venter" userId="694de3c83518532c" providerId="LiveId" clId="{10CD68D7-CBE1-4750-A2D1-7DEE064E9363}" dt="2026-05-24T11:43:41.902" v="4556" actId="113"/>
        <pc:sldMkLst>
          <pc:docMk/>
          <pc:sldMk cId="2380697536" sldId="295"/>
        </pc:sldMkLst>
        <pc:spChg chg="mod">
          <ac:chgData name="Heinrich Venter" userId="694de3c83518532c" providerId="LiveId" clId="{10CD68D7-CBE1-4750-A2D1-7DEE064E9363}" dt="2026-05-24T11:42:45.341" v="4539" actId="27636"/>
          <ac:spMkLst>
            <pc:docMk/>
            <pc:sldMk cId="2380697536" sldId="295"/>
            <ac:spMk id="3" creationId="{109C2FE0-6991-DDAF-C4F7-B3415EC34474}"/>
          </ac:spMkLst>
        </pc:spChg>
        <pc:spChg chg="mod">
          <ac:chgData name="Heinrich Venter" userId="694de3c83518532c" providerId="LiveId" clId="{10CD68D7-CBE1-4750-A2D1-7DEE064E9363}" dt="2026-05-24T11:43:41.902" v="4556" actId="113"/>
          <ac:spMkLst>
            <pc:docMk/>
            <pc:sldMk cId="2380697536" sldId="295"/>
            <ac:spMk id="5" creationId="{F10EB81D-A986-42AD-847E-FF3A1F656CEB}"/>
          </ac:spMkLst>
        </pc:spChg>
      </pc:sldChg>
      <pc:sldChg chg="modSp mod">
        <pc:chgData name="Heinrich Venter" userId="694de3c83518532c" providerId="LiveId" clId="{10CD68D7-CBE1-4750-A2D1-7DEE064E9363}" dt="2026-05-24T11:45:55.046" v="4580" actId="20577"/>
        <pc:sldMkLst>
          <pc:docMk/>
          <pc:sldMk cId="1324961155" sldId="296"/>
        </pc:sldMkLst>
        <pc:spChg chg="mod">
          <ac:chgData name="Heinrich Venter" userId="694de3c83518532c" providerId="LiveId" clId="{10CD68D7-CBE1-4750-A2D1-7DEE064E9363}" dt="2026-05-24T11:45:55.046" v="4580" actId="20577"/>
          <ac:spMkLst>
            <pc:docMk/>
            <pc:sldMk cId="1324961155" sldId="296"/>
            <ac:spMk id="5" creationId="{50C57F65-7853-E45D-CA58-31BCC9DE7B02}"/>
          </ac:spMkLst>
        </pc:spChg>
        <pc:spChg chg="mod">
          <ac:chgData name="Heinrich Venter" userId="694de3c83518532c" providerId="LiveId" clId="{10CD68D7-CBE1-4750-A2D1-7DEE064E9363}" dt="2026-05-24T11:44:51.270" v="4567" actId="20577"/>
          <ac:spMkLst>
            <pc:docMk/>
            <pc:sldMk cId="1324961155" sldId="296"/>
            <ac:spMk id="11" creationId="{E3D936A8-CA08-48BB-AA98-F3A8B43B31CF}"/>
          </ac:spMkLst>
        </pc:spChg>
      </pc:sldChg>
      <pc:sldChg chg="new del">
        <pc:chgData name="Heinrich Venter" userId="694de3c83518532c" providerId="LiveId" clId="{10CD68D7-CBE1-4750-A2D1-7DEE064E9363}" dt="2026-05-24T09:59:59.159" v="3390" actId="47"/>
        <pc:sldMkLst>
          <pc:docMk/>
          <pc:sldMk cId="1930837264" sldId="29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98D9B-145B-9A82-3C38-BCF48D31EC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D910AC99-C740-9F4C-428D-D41BD763F9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23176CC6-7CE4-1664-EB37-BB0D71D727FC}"/>
              </a:ext>
            </a:extLst>
          </p:cNvPr>
          <p:cNvSpPr>
            <a:spLocks noGrp="1"/>
          </p:cNvSpPr>
          <p:nvPr>
            <p:ph type="dt" sz="half" idx="10"/>
          </p:nvPr>
        </p:nvSpPr>
        <p:spPr/>
        <p:txBody>
          <a:bodyPr/>
          <a:lstStyle/>
          <a:p>
            <a:fld id="{A609F6A2-FEED-40EB-83D5-ADDC04076AF0}" type="datetimeFigureOut">
              <a:rPr lang="en-NZ" smtClean="0"/>
              <a:t>24/05/2026</a:t>
            </a:fld>
            <a:endParaRPr lang="en-NZ"/>
          </a:p>
        </p:txBody>
      </p:sp>
      <p:sp>
        <p:nvSpPr>
          <p:cNvPr id="5" name="Footer Placeholder 4">
            <a:extLst>
              <a:ext uri="{FF2B5EF4-FFF2-40B4-BE49-F238E27FC236}">
                <a16:creationId xmlns:a16="http://schemas.microsoft.com/office/drawing/2014/main" id="{B43E30A3-92C6-7271-0C2C-AB9E109D3C70}"/>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EFD50F3C-19C2-B4E3-B4EA-637F2C2E4B2C}"/>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3743889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9629F-D34A-E636-2CA2-AE6B6F56B57A}"/>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002ABDA8-63AE-671D-2E21-D0FB694913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DE5F8534-6E58-6E88-9523-8A8949DC31B9}"/>
              </a:ext>
            </a:extLst>
          </p:cNvPr>
          <p:cNvSpPr>
            <a:spLocks noGrp="1"/>
          </p:cNvSpPr>
          <p:nvPr>
            <p:ph type="dt" sz="half" idx="10"/>
          </p:nvPr>
        </p:nvSpPr>
        <p:spPr/>
        <p:txBody>
          <a:bodyPr/>
          <a:lstStyle/>
          <a:p>
            <a:fld id="{A609F6A2-FEED-40EB-83D5-ADDC04076AF0}" type="datetimeFigureOut">
              <a:rPr lang="en-NZ" smtClean="0"/>
              <a:t>24/05/2026</a:t>
            </a:fld>
            <a:endParaRPr lang="en-NZ"/>
          </a:p>
        </p:txBody>
      </p:sp>
      <p:sp>
        <p:nvSpPr>
          <p:cNvPr id="5" name="Footer Placeholder 4">
            <a:extLst>
              <a:ext uri="{FF2B5EF4-FFF2-40B4-BE49-F238E27FC236}">
                <a16:creationId xmlns:a16="http://schemas.microsoft.com/office/drawing/2014/main" id="{A86B0705-725B-15CC-440D-F9EEA72763DC}"/>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02E39DF6-4133-D5EE-3739-6782A856E400}"/>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2984747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0A79A-EC40-F1E2-4DB6-8E6EEC7276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1EB7B16D-87B6-817E-24DE-DFDCEE57F00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DBC8AE-A43E-F7C5-2810-A28B0248A132}"/>
              </a:ext>
            </a:extLst>
          </p:cNvPr>
          <p:cNvSpPr>
            <a:spLocks noGrp="1"/>
          </p:cNvSpPr>
          <p:nvPr>
            <p:ph type="dt" sz="half" idx="10"/>
          </p:nvPr>
        </p:nvSpPr>
        <p:spPr/>
        <p:txBody>
          <a:bodyPr/>
          <a:lstStyle/>
          <a:p>
            <a:fld id="{A609F6A2-FEED-40EB-83D5-ADDC04076AF0}" type="datetimeFigureOut">
              <a:rPr lang="en-NZ" smtClean="0"/>
              <a:t>24/05/2026</a:t>
            </a:fld>
            <a:endParaRPr lang="en-NZ"/>
          </a:p>
        </p:txBody>
      </p:sp>
      <p:sp>
        <p:nvSpPr>
          <p:cNvPr id="5" name="Footer Placeholder 4">
            <a:extLst>
              <a:ext uri="{FF2B5EF4-FFF2-40B4-BE49-F238E27FC236}">
                <a16:creationId xmlns:a16="http://schemas.microsoft.com/office/drawing/2014/main" id="{22B1CE41-420D-F947-C83A-891FECF3F76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E073B702-0953-8462-419A-57BAA3CEDCE4}"/>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91937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37A3C-1B8D-954F-2FDA-2882C7DF2BAA}"/>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47269A1E-630D-115D-AA60-9319B17A6F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2FC8FE08-3D2D-72A8-DFB0-1C6CFFEBAB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96241EFA-9139-CE4A-77BE-D32E836710E9}"/>
              </a:ext>
            </a:extLst>
          </p:cNvPr>
          <p:cNvSpPr>
            <a:spLocks noGrp="1"/>
          </p:cNvSpPr>
          <p:nvPr>
            <p:ph type="dt" sz="half" idx="10"/>
          </p:nvPr>
        </p:nvSpPr>
        <p:spPr/>
        <p:txBody>
          <a:bodyPr/>
          <a:lstStyle/>
          <a:p>
            <a:fld id="{A609F6A2-FEED-40EB-83D5-ADDC04076AF0}" type="datetimeFigureOut">
              <a:rPr lang="en-NZ" smtClean="0"/>
              <a:t>24/05/2026</a:t>
            </a:fld>
            <a:endParaRPr lang="en-NZ"/>
          </a:p>
        </p:txBody>
      </p:sp>
      <p:sp>
        <p:nvSpPr>
          <p:cNvPr id="6" name="Footer Placeholder 5">
            <a:extLst>
              <a:ext uri="{FF2B5EF4-FFF2-40B4-BE49-F238E27FC236}">
                <a16:creationId xmlns:a16="http://schemas.microsoft.com/office/drawing/2014/main" id="{85E62D1A-AABB-A589-9AED-358678D3CEA5}"/>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CB9A46D8-E579-390A-E3D5-01F15AF61D36}"/>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4274757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3BFC-2D18-C004-A241-FE4798E8CA24}"/>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A88DB30A-BC29-1BD7-BF26-EB3DB6EFE7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B44B81-C8FA-6360-8BCF-95CC6E0862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D2A9765F-1BA1-58FC-A1ED-234A797664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FF36E5-6546-4D0B-4617-68A9685259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6E7D6AA3-F308-55AE-34F3-4ACD72807321}"/>
              </a:ext>
            </a:extLst>
          </p:cNvPr>
          <p:cNvSpPr>
            <a:spLocks noGrp="1"/>
          </p:cNvSpPr>
          <p:nvPr>
            <p:ph type="dt" sz="half" idx="10"/>
          </p:nvPr>
        </p:nvSpPr>
        <p:spPr/>
        <p:txBody>
          <a:bodyPr/>
          <a:lstStyle/>
          <a:p>
            <a:fld id="{A609F6A2-FEED-40EB-83D5-ADDC04076AF0}" type="datetimeFigureOut">
              <a:rPr lang="en-NZ" smtClean="0"/>
              <a:t>24/05/2026</a:t>
            </a:fld>
            <a:endParaRPr lang="en-NZ"/>
          </a:p>
        </p:txBody>
      </p:sp>
      <p:sp>
        <p:nvSpPr>
          <p:cNvPr id="8" name="Footer Placeholder 7">
            <a:extLst>
              <a:ext uri="{FF2B5EF4-FFF2-40B4-BE49-F238E27FC236}">
                <a16:creationId xmlns:a16="http://schemas.microsoft.com/office/drawing/2014/main" id="{98EF0DB1-9252-E187-E7A4-8396F47AFA86}"/>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EDCB405F-8CEC-2FBA-2092-12BBD10BA22B}"/>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2342246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670DA-0052-E1B9-859C-040BC64A52BC}"/>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DECE9831-6830-A6FB-EA6A-F6CCD39DF890}"/>
              </a:ext>
            </a:extLst>
          </p:cNvPr>
          <p:cNvSpPr>
            <a:spLocks noGrp="1"/>
          </p:cNvSpPr>
          <p:nvPr>
            <p:ph type="dt" sz="half" idx="10"/>
          </p:nvPr>
        </p:nvSpPr>
        <p:spPr/>
        <p:txBody>
          <a:bodyPr/>
          <a:lstStyle/>
          <a:p>
            <a:fld id="{A609F6A2-FEED-40EB-83D5-ADDC04076AF0}" type="datetimeFigureOut">
              <a:rPr lang="en-NZ" smtClean="0"/>
              <a:t>24/05/2026</a:t>
            </a:fld>
            <a:endParaRPr lang="en-NZ"/>
          </a:p>
        </p:txBody>
      </p:sp>
      <p:sp>
        <p:nvSpPr>
          <p:cNvPr id="4" name="Footer Placeholder 3">
            <a:extLst>
              <a:ext uri="{FF2B5EF4-FFF2-40B4-BE49-F238E27FC236}">
                <a16:creationId xmlns:a16="http://schemas.microsoft.com/office/drawing/2014/main" id="{DE93BEA7-507F-BDBD-D6F5-DA4CB7472FFA}"/>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0702DCD7-CB68-8F71-700F-DB432500B832}"/>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3012805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045C66-18CD-E8B1-074A-6E79530611A5}"/>
              </a:ext>
            </a:extLst>
          </p:cNvPr>
          <p:cNvSpPr>
            <a:spLocks noGrp="1"/>
          </p:cNvSpPr>
          <p:nvPr>
            <p:ph type="dt" sz="half" idx="10"/>
          </p:nvPr>
        </p:nvSpPr>
        <p:spPr/>
        <p:txBody>
          <a:bodyPr/>
          <a:lstStyle/>
          <a:p>
            <a:fld id="{A609F6A2-FEED-40EB-83D5-ADDC04076AF0}" type="datetimeFigureOut">
              <a:rPr lang="en-NZ" smtClean="0"/>
              <a:t>24/05/2026</a:t>
            </a:fld>
            <a:endParaRPr lang="en-NZ"/>
          </a:p>
        </p:txBody>
      </p:sp>
      <p:sp>
        <p:nvSpPr>
          <p:cNvPr id="3" name="Footer Placeholder 2">
            <a:extLst>
              <a:ext uri="{FF2B5EF4-FFF2-40B4-BE49-F238E27FC236}">
                <a16:creationId xmlns:a16="http://schemas.microsoft.com/office/drawing/2014/main" id="{6F9BA5B8-4E39-D65D-79D4-75F5ACCCCF81}"/>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C66761BF-00A0-A01E-FDAE-C61DEE4BF5D3}"/>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1386240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CEE19-727A-7893-45C2-FBD4D50BF3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A30F136F-FCAA-326A-E070-17553D4249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C73C8E90-582E-D30B-D58F-7263766E71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576D0E-8701-819C-ECB1-F93F0C679DCB}"/>
              </a:ext>
            </a:extLst>
          </p:cNvPr>
          <p:cNvSpPr>
            <a:spLocks noGrp="1"/>
          </p:cNvSpPr>
          <p:nvPr>
            <p:ph type="dt" sz="half" idx="10"/>
          </p:nvPr>
        </p:nvSpPr>
        <p:spPr/>
        <p:txBody>
          <a:bodyPr/>
          <a:lstStyle/>
          <a:p>
            <a:fld id="{A609F6A2-FEED-40EB-83D5-ADDC04076AF0}" type="datetimeFigureOut">
              <a:rPr lang="en-NZ" smtClean="0"/>
              <a:t>24/05/2026</a:t>
            </a:fld>
            <a:endParaRPr lang="en-NZ"/>
          </a:p>
        </p:txBody>
      </p:sp>
      <p:sp>
        <p:nvSpPr>
          <p:cNvPr id="6" name="Footer Placeholder 5">
            <a:extLst>
              <a:ext uri="{FF2B5EF4-FFF2-40B4-BE49-F238E27FC236}">
                <a16:creationId xmlns:a16="http://schemas.microsoft.com/office/drawing/2014/main" id="{4D0D1E14-7AA4-26B9-05B5-E19C9AD10B31}"/>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64128E01-59CA-40E7-CF16-56C2B576C9E4}"/>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5888167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F8DDC-10C7-4A38-8A08-3EC85B339D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9DBED555-6F02-7A8A-AACB-AFA7753CE2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606C2024-3B03-1031-BB5C-EA2C0B730F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ED1CAB-C95C-7578-D2F6-0FBA9CE8540C}"/>
              </a:ext>
            </a:extLst>
          </p:cNvPr>
          <p:cNvSpPr>
            <a:spLocks noGrp="1"/>
          </p:cNvSpPr>
          <p:nvPr>
            <p:ph type="dt" sz="half" idx="10"/>
          </p:nvPr>
        </p:nvSpPr>
        <p:spPr/>
        <p:txBody>
          <a:bodyPr/>
          <a:lstStyle/>
          <a:p>
            <a:fld id="{A609F6A2-FEED-40EB-83D5-ADDC04076AF0}" type="datetimeFigureOut">
              <a:rPr lang="en-NZ" smtClean="0"/>
              <a:t>24/05/2026</a:t>
            </a:fld>
            <a:endParaRPr lang="en-NZ"/>
          </a:p>
        </p:txBody>
      </p:sp>
      <p:sp>
        <p:nvSpPr>
          <p:cNvPr id="6" name="Footer Placeholder 5">
            <a:extLst>
              <a:ext uri="{FF2B5EF4-FFF2-40B4-BE49-F238E27FC236}">
                <a16:creationId xmlns:a16="http://schemas.microsoft.com/office/drawing/2014/main" id="{2E5C889D-687B-6D21-2521-2E48E280C49A}"/>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09E8B18A-05A0-8990-60C0-CC2D3A9669F4}"/>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2037258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B9DED-4CC8-0775-C305-0BA5958BDA9F}"/>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B25FBF30-BD57-5FFF-1311-A965D1656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3100D33A-2062-3D9A-100B-4538EA4E4FF4}"/>
              </a:ext>
            </a:extLst>
          </p:cNvPr>
          <p:cNvSpPr>
            <a:spLocks noGrp="1"/>
          </p:cNvSpPr>
          <p:nvPr>
            <p:ph type="dt" sz="half" idx="10"/>
          </p:nvPr>
        </p:nvSpPr>
        <p:spPr/>
        <p:txBody>
          <a:bodyPr/>
          <a:lstStyle/>
          <a:p>
            <a:fld id="{A609F6A2-FEED-40EB-83D5-ADDC04076AF0}" type="datetimeFigureOut">
              <a:rPr lang="en-NZ" smtClean="0"/>
              <a:t>24/05/2026</a:t>
            </a:fld>
            <a:endParaRPr lang="en-NZ"/>
          </a:p>
        </p:txBody>
      </p:sp>
      <p:sp>
        <p:nvSpPr>
          <p:cNvPr id="5" name="Footer Placeholder 4">
            <a:extLst>
              <a:ext uri="{FF2B5EF4-FFF2-40B4-BE49-F238E27FC236}">
                <a16:creationId xmlns:a16="http://schemas.microsoft.com/office/drawing/2014/main" id="{D7318DDD-AA4F-B349-18B4-CE00017832C5}"/>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44B8D42C-2299-4C74-7CF8-D91A9860D3DC}"/>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2022932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802E1B-FA30-ABB1-6122-EA0890A75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C9580E44-6A9B-9801-E465-227F3A4BAE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CDF0CBD0-0D25-EF9C-D675-97F90869275A}"/>
              </a:ext>
            </a:extLst>
          </p:cNvPr>
          <p:cNvSpPr>
            <a:spLocks noGrp="1"/>
          </p:cNvSpPr>
          <p:nvPr>
            <p:ph type="dt" sz="half" idx="10"/>
          </p:nvPr>
        </p:nvSpPr>
        <p:spPr/>
        <p:txBody>
          <a:bodyPr/>
          <a:lstStyle/>
          <a:p>
            <a:fld id="{A609F6A2-FEED-40EB-83D5-ADDC04076AF0}" type="datetimeFigureOut">
              <a:rPr lang="en-NZ" smtClean="0"/>
              <a:t>24/05/2026</a:t>
            </a:fld>
            <a:endParaRPr lang="en-NZ"/>
          </a:p>
        </p:txBody>
      </p:sp>
      <p:sp>
        <p:nvSpPr>
          <p:cNvPr id="5" name="Footer Placeholder 4">
            <a:extLst>
              <a:ext uri="{FF2B5EF4-FFF2-40B4-BE49-F238E27FC236}">
                <a16:creationId xmlns:a16="http://schemas.microsoft.com/office/drawing/2014/main" id="{FBC9C4DB-6786-6065-BA16-13827628BD4F}"/>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9D3857E3-142B-B0DB-38D2-900C69066EF2}"/>
              </a:ext>
            </a:extLst>
          </p:cNvPr>
          <p:cNvSpPr>
            <a:spLocks noGrp="1"/>
          </p:cNvSpPr>
          <p:nvPr>
            <p:ph type="sldNum" sz="quarter" idx="12"/>
          </p:nvPr>
        </p:nvSpPr>
        <p:spPr/>
        <p:txBody>
          <a:bodyPr/>
          <a:lstStyle/>
          <a:p>
            <a:fld id="{0187B0B8-57B5-4F3C-A1FC-0FF8A465CA3C}" type="slidenum">
              <a:rPr lang="en-NZ" smtClean="0"/>
              <a:t>‹#›</a:t>
            </a:fld>
            <a:endParaRPr lang="en-NZ"/>
          </a:p>
        </p:txBody>
      </p:sp>
    </p:spTree>
    <p:extLst>
      <p:ext uri="{BB962C8B-B14F-4D97-AF65-F5344CB8AC3E}">
        <p14:creationId xmlns:p14="http://schemas.microsoft.com/office/powerpoint/2010/main" val="487168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00159-0D37-0F36-A1AC-1D5DCF74E3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195CDB50-22F7-35EC-C321-276E58357B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E63B15E4-1BB2-7A3F-C1AA-B1EC6AAAD2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09F6A2-FEED-40EB-83D5-ADDC04076AF0}" type="datetimeFigureOut">
              <a:rPr lang="en-NZ" smtClean="0"/>
              <a:t>24/05/2026</a:t>
            </a:fld>
            <a:endParaRPr lang="en-NZ"/>
          </a:p>
        </p:txBody>
      </p:sp>
      <p:sp>
        <p:nvSpPr>
          <p:cNvPr id="5" name="Footer Placeholder 4">
            <a:extLst>
              <a:ext uri="{FF2B5EF4-FFF2-40B4-BE49-F238E27FC236}">
                <a16:creationId xmlns:a16="http://schemas.microsoft.com/office/drawing/2014/main" id="{177AD27E-E574-A4C5-E499-9591875791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Z"/>
          </a:p>
        </p:txBody>
      </p:sp>
      <p:sp>
        <p:nvSpPr>
          <p:cNvPr id="6" name="Slide Number Placeholder 5">
            <a:extLst>
              <a:ext uri="{FF2B5EF4-FFF2-40B4-BE49-F238E27FC236}">
                <a16:creationId xmlns:a16="http://schemas.microsoft.com/office/drawing/2014/main" id="{D36CEBF1-0956-617C-328F-E2C202403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87B0B8-57B5-4F3C-A1FC-0FF8A465CA3C}" type="slidenum">
              <a:rPr lang="en-NZ" smtClean="0"/>
              <a:t>‹#›</a:t>
            </a:fld>
            <a:endParaRPr lang="en-NZ"/>
          </a:p>
        </p:txBody>
      </p:sp>
    </p:spTree>
    <p:extLst>
      <p:ext uri="{BB962C8B-B14F-4D97-AF65-F5344CB8AC3E}">
        <p14:creationId xmlns:p14="http://schemas.microsoft.com/office/powerpoint/2010/main" val="21576142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rajguruelectronics.com/ProductView?tokDatRef=MzE4MDA=&amp;tokenId=NDQ=&amp;product=SEA%20OF07ZAT%20G1/4inch%20FLOW%20SENSOR"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12B8-20B0-6CD5-0B3A-49E60F0ED368}"/>
              </a:ext>
            </a:extLst>
          </p:cNvPr>
          <p:cNvSpPr>
            <a:spLocks noGrp="1"/>
          </p:cNvSpPr>
          <p:nvPr>
            <p:ph type="ctrTitle"/>
          </p:nvPr>
        </p:nvSpPr>
        <p:spPr/>
        <p:txBody>
          <a:bodyPr/>
          <a:lstStyle/>
          <a:p>
            <a:r>
              <a:rPr lang="en-NZ" noProof="0" dirty="0"/>
              <a:t>AS91904 Electronics Outcome</a:t>
            </a:r>
          </a:p>
        </p:txBody>
      </p:sp>
      <p:sp>
        <p:nvSpPr>
          <p:cNvPr id="3" name="Subtitle 2">
            <a:extLst>
              <a:ext uri="{FF2B5EF4-FFF2-40B4-BE49-F238E27FC236}">
                <a16:creationId xmlns:a16="http://schemas.microsoft.com/office/drawing/2014/main" id="{F66D802B-CDB6-E9D2-44F0-86BC0E80FB38}"/>
              </a:ext>
            </a:extLst>
          </p:cNvPr>
          <p:cNvSpPr>
            <a:spLocks noGrp="1"/>
          </p:cNvSpPr>
          <p:nvPr>
            <p:ph type="subTitle" idx="1"/>
          </p:nvPr>
        </p:nvSpPr>
        <p:spPr/>
        <p:txBody>
          <a:bodyPr>
            <a:normAutofit/>
          </a:bodyPr>
          <a:lstStyle/>
          <a:p>
            <a:r>
              <a:rPr lang="en-NZ" noProof="0" dirty="0"/>
              <a:t>Student Name: Heinrich venter</a:t>
            </a:r>
            <a:br>
              <a:rPr lang="en-NZ" noProof="0" dirty="0"/>
            </a:br>
            <a:r>
              <a:rPr lang="en-NZ" noProof="0" dirty="0"/>
              <a:t>Project Name: Mark Sutherland</a:t>
            </a:r>
          </a:p>
          <a:p>
            <a:endParaRPr lang="en-NZ" noProof="0" dirty="0"/>
          </a:p>
        </p:txBody>
      </p:sp>
    </p:spTree>
    <p:extLst>
      <p:ext uri="{BB962C8B-B14F-4D97-AF65-F5344CB8AC3E}">
        <p14:creationId xmlns:p14="http://schemas.microsoft.com/office/powerpoint/2010/main" val="730004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C11F-97EB-B839-6C45-028E3079F8C7}"/>
              </a:ext>
            </a:extLst>
          </p:cNvPr>
          <p:cNvSpPr>
            <a:spLocks noGrp="1"/>
          </p:cNvSpPr>
          <p:nvPr>
            <p:ph type="title"/>
          </p:nvPr>
        </p:nvSpPr>
        <p:spPr>
          <a:solidFill>
            <a:srgbClr val="FF5050"/>
          </a:solidFill>
        </p:spPr>
        <p:txBody>
          <a:bodyPr/>
          <a:lstStyle/>
          <a:p>
            <a:r>
              <a:rPr lang="en-NZ" noProof="0" dirty="0"/>
              <a:t>Project Details</a:t>
            </a:r>
          </a:p>
        </p:txBody>
      </p:sp>
      <p:sp>
        <p:nvSpPr>
          <p:cNvPr id="3" name="Content Placeholder 2">
            <a:extLst>
              <a:ext uri="{FF2B5EF4-FFF2-40B4-BE49-F238E27FC236}">
                <a16:creationId xmlns:a16="http://schemas.microsoft.com/office/drawing/2014/main" id="{EB73A0B0-8C2E-99B2-DFB1-974EF0CDEB52}"/>
              </a:ext>
            </a:extLst>
          </p:cNvPr>
          <p:cNvSpPr>
            <a:spLocks noGrp="1"/>
          </p:cNvSpPr>
          <p:nvPr>
            <p:ph idx="1"/>
          </p:nvPr>
        </p:nvSpPr>
        <p:spPr>
          <a:solidFill>
            <a:srgbClr val="FFCCCC"/>
          </a:solidFill>
        </p:spPr>
        <p:txBody>
          <a:bodyPr/>
          <a:lstStyle/>
          <a:p>
            <a:pPr marL="0" indent="0">
              <a:buNone/>
            </a:pPr>
            <a:r>
              <a:rPr lang="en-NZ" noProof="0" dirty="0"/>
              <a:t>Describe your project here:</a:t>
            </a:r>
            <a:br>
              <a:rPr lang="en-NZ" noProof="0" dirty="0"/>
            </a:br>
            <a:br>
              <a:rPr lang="en-NZ" noProof="0" dirty="0"/>
            </a:br>
            <a:br>
              <a:rPr lang="en-NZ" noProof="0" dirty="0"/>
            </a:br>
            <a:br>
              <a:rPr lang="en-NZ" noProof="0" dirty="0"/>
            </a:br>
            <a:endParaRPr lang="en-NZ" noProof="0" dirty="0"/>
          </a:p>
        </p:txBody>
      </p:sp>
    </p:spTree>
    <p:extLst>
      <p:ext uri="{BB962C8B-B14F-4D97-AF65-F5344CB8AC3E}">
        <p14:creationId xmlns:p14="http://schemas.microsoft.com/office/powerpoint/2010/main" val="4293113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28E67-C358-B25E-8DC5-C2B61C5D2D10}"/>
              </a:ext>
            </a:extLst>
          </p:cNvPr>
          <p:cNvSpPr>
            <a:spLocks noGrp="1"/>
          </p:cNvSpPr>
          <p:nvPr>
            <p:ph type="title"/>
          </p:nvPr>
        </p:nvSpPr>
        <p:spPr>
          <a:solidFill>
            <a:srgbClr val="FF5050"/>
          </a:solidFill>
        </p:spPr>
        <p:txBody>
          <a:bodyPr/>
          <a:lstStyle/>
          <a:p>
            <a:r>
              <a:rPr lang="en-NZ" noProof="0" dirty="0"/>
              <a:t>Techniques used</a:t>
            </a:r>
          </a:p>
        </p:txBody>
      </p:sp>
      <p:sp>
        <p:nvSpPr>
          <p:cNvPr id="3" name="Content Placeholder 2">
            <a:extLst>
              <a:ext uri="{FF2B5EF4-FFF2-40B4-BE49-F238E27FC236}">
                <a16:creationId xmlns:a16="http://schemas.microsoft.com/office/drawing/2014/main" id="{48517805-ABAD-9125-D5EB-9C37B582DC52}"/>
              </a:ext>
            </a:extLst>
          </p:cNvPr>
          <p:cNvSpPr>
            <a:spLocks noGrp="1"/>
          </p:cNvSpPr>
          <p:nvPr>
            <p:ph idx="1"/>
          </p:nvPr>
        </p:nvSpPr>
        <p:spPr>
          <a:xfrm>
            <a:off x="838201" y="1825625"/>
            <a:ext cx="3419167" cy="4351338"/>
          </a:xfrm>
          <a:solidFill>
            <a:srgbClr val="FFCCCC"/>
          </a:solidFill>
        </p:spPr>
        <p:txBody>
          <a:bodyPr/>
          <a:lstStyle/>
          <a:p>
            <a:pPr marL="0" indent="0">
              <a:buNone/>
            </a:pPr>
            <a:r>
              <a:rPr lang="en-NZ" noProof="0" dirty="0"/>
              <a:t>Technique 1: Implementing communication protocols</a:t>
            </a:r>
          </a:p>
          <a:p>
            <a:pPr marL="0" indent="0">
              <a:buNone/>
            </a:pPr>
            <a:endParaRPr lang="en-NZ" noProof="0" dirty="0"/>
          </a:p>
          <a:p>
            <a:pPr marL="0" indent="0">
              <a:buNone/>
            </a:pPr>
            <a:r>
              <a:rPr lang="en-NZ" noProof="0" dirty="0"/>
              <a:t>Evidence:</a:t>
            </a:r>
          </a:p>
          <a:p>
            <a:pPr marL="0" indent="0">
              <a:buNone/>
            </a:pPr>
            <a:endParaRPr lang="en-NZ" noProof="0" dirty="0"/>
          </a:p>
        </p:txBody>
      </p:sp>
      <p:sp>
        <p:nvSpPr>
          <p:cNvPr id="4" name="Content Placeholder 2">
            <a:extLst>
              <a:ext uri="{FF2B5EF4-FFF2-40B4-BE49-F238E27FC236}">
                <a16:creationId xmlns:a16="http://schemas.microsoft.com/office/drawing/2014/main" id="{6748CEDE-0DB3-164E-E438-A407CD2F953C}"/>
              </a:ext>
            </a:extLst>
          </p:cNvPr>
          <p:cNvSpPr txBox="1">
            <a:spLocks/>
          </p:cNvSpPr>
          <p:nvPr/>
        </p:nvSpPr>
        <p:spPr>
          <a:xfrm>
            <a:off x="7580671" y="1825625"/>
            <a:ext cx="3773129" cy="4351338"/>
          </a:xfrm>
          <a:prstGeom prst="rect">
            <a:avLst/>
          </a:prstGeom>
          <a:solidFill>
            <a:srgbClr val="FFCC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Technique 1:</a:t>
            </a:r>
          </a:p>
          <a:p>
            <a:pPr marL="0" indent="0">
              <a:buFont typeface="Arial" panose="020B0604020202020204" pitchFamily="34" charset="0"/>
              <a:buNone/>
            </a:pPr>
            <a:endParaRPr lang="en-NZ" noProof="0" dirty="0"/>
          </a:p>
          <a:p>
            <a:pPr marL="0" indent="0">
              <a:buFont typeface="Arial" panose="020B0604020202020204" pitchFamily="34" charset="0"/>
              <a:buNone/>
            </a:pPr>
            <a:endParaRPr lang="en-NZ" noProof="0" dirty="0"/>
          </a:p>
          <a:p>
            <a:pPr marL="0" indent="0">
              <a:buFont typeface="Arial" panose="020B0604020202020204" pitchFamily="34" charset="0"/>
              <a:buNone/>
            </a:pPr>
            <a:endParaRPr lang="en-NZ" noProof="0" dirty="0"/>
          </a:p>
          <a:p>
            <a:pPr marL="0" indent="0">
              <a:buFont typeface="Arial" panose="020B0604020202020204" pitchFamily="34" charset="0"/>
              <a:buNone/>
            </a:pPr>
            <a:r>
              <a:rPr lang="en-NZ" noProof="0" dirty="0"/>
              <a:t>Evidence:</a:t>
            </a:r>
          </a:p>
          <a:p>
            <a:pPr marL="0" indent="0">
              <a:buFont typeface="Arial" panose="020B0604020202020204" pitchFamily="34" charset="0"/>
              <a:buNone/>
            </a:pPr>
            <a:endParaRPr lang="en-NZ" noProof="0" dirty="0"/>
          </a:p>
        </p:txBody>
      </p:sp>
      <p:sp>
        <p:nvSpPr>
          <p:cNvPr id="6" name="Content Placeholder 2">
            <a:extLst>
              <a:ext uri="{FF2B5EF4-FFF2-40B4-BE49-F238E27FC236}">
                <a16:creationId xmlns:a16="http://schemas.microsoft.com/office/drawing/2014/main" id="{EED03FF5-47BD-3A7B-FF9B-170CD3F3BE90}"/>
              </a:ext>
            </a:extLst>
          </p:cNvPr>
          <p:cNvSpPr txBox="1">
            <a:spLocks/>
          </p:cNvSpPr>
          <p:nvPr/>
        </p:nvSpPr>
        <p:spPr>
          <a:xfrm>
            <a:off x="4161504" y="1825625"/>
            <a:ext cx="3419167" cy="4351338"/>
          </a:xfrm>
          <a:prstGeom prst="rect">
            <a:avLst/>
          </a:prstGeom>
          <a:solidFill>
            <a:schemeClr val="bg2">
              <a:lumMod val="7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NZ" sz="2000" noProof="0" dirty="0"/>
              <a:t>Techniques could be:</a:t>
            </a:r>
          </a:p>
          <a:p>
            <a:r>
              <a:rPr lang="en-NZ" sz="2000" b="1" dirty="0"/>
              <a:t>implementing communication protocols</a:t>
            </a:r>
          </a:p>
          <a:p>
            <a:r>
              <a:rPr lang="en-NZ" sz="2000" dirty="0"/>
              <a:t>Wireless transfer of information</a:t>
            </a:r>
          </a:p>
          <a:p>
            <a:r>
              <a:rPr lang="en-NZ" sz="2000" dirty="0"/>
              <a:t>Feedback control</a:t>
            </a:r>
          </a:p>
          <a:p>
            <a:r>
              <a:rPr lang="en-US" sz="2000" dirty="0"/>
              <a:t>Implementing software flags and interrupts </a:t>
            </a:r>
          </a:p>
          <a:p>
            <a:r>
              <a:rPr lang="en-US" sz="2000" dirty="0"/>
              <a:t>CAD design, 3D printing, CNC, PCB making </a:t>
            </a:r>
          </a:p>
          <a:p>
            <a:r>
              <a:rPr lang="en-US" sz="2000" dirty="0"/>
              <a:t>filtering, noise and EMI suppression.</a:t>
            </a:r>
            <a:endParaRPr lang="en-NZ" sz="2000" noProof="0" dirty="0"/>
          </a:p>
        </p:txBody>
      </p:sp>
    </p:spTree>
    <p:extLst>
      <p:ext uri="{BB962C8B-B14F-4D97-AF65-F5344CB8AC3E}">
        <p14:creationId xmlns:p14="http://schemas.microsoft.com/office/powerpoint/2010/main" val="2407707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B2FDF-320D-4BBD-D480-A4F954A02710}"/>
              </a:ext>
            </a:extLst>
          </p:cNvPr>
          <p:cNvSpPr>
            <a:spLocks noGrp="1"/>
          </p:cNvSpPr>
          <p:nvPr>
            <p:ph type="title"/>
          </p:nvPr>
        </p:nvSpPr>
        <p:spPr/>
        <p:txBody>
          <a:bodyPr/>
          <a:lstStyle/>
          <a:p>
            <a:r>
              <a:rPr lang="en-NZ" noProof="0" dirty="0"/>
              <a:t>Relevant Implications</a:t>
            </a:r>
          </a:p>
        </p:txBody>
      </p:sp>
      <p:graphicFrame>
        <p:nvGraphicFramePr>
          <p:cNvPr id="5" name="Table 4">
            <a:extLst>
              <a:ext uri="{FF2B5EF4-FFF2-40B4-BE49-F238E27FC236}">
                <a16:creationId xmlns:a16="http://schemas.microsoft.com/office/drawing/2014/main" id="{F519459D-F748-3377-4E55-D51E89AF6AC2}"/>
              </a:ext>
            </a:extLst>
          </p:cNvPr>
          <p:cNvGraphicFramePr>
            <a:graphicFrameLocks noGrp="1"/>
          </p:cNvGraphicFramePr>
          <p:nvPr>
            <p:extLst>
              <p:ext uri="{D42A27DB-BD31-4B8C-83A1-F6EECF244321}">
                <p14:modId xmlns:p14="http://schemas.microsoft.com/office/powerpoint/2010/main" val="108153996"/>
              </p:ext>
            </p:extLst>
          </p:nvPr>
        </p:nvGraphicFramePr>
        <p:xfrm>
          <a:off x="392784" y="1951294"/>
          <a:ext cx="11406432" cy="10778791"/>
        </p:xfrm>
        <a:graphic>
          <a:graphicData uri="http://schemas.openxmlformats.org/drawingml/2006/table">
            <a:tbl>
              <a:tblPr firstRow="1" bandRow="1">
                <a:tableStyleId>{5C22544A-7EE6-4342-B048-85BDC9FD1C3A}</a:tableStyleId>
              </a:tblPr>
              <a:tblGrid>
                <a:gridCol w="3802144">
                  <a:extLst>
                    <a:ext uri="{9D8B030D-6E8A-4147-A177-3AD203B41FA5}">
                      <a16:colId xmlns:a16="http://schemas.microsoft.com/office/drawing/2014/main" val="432899679"/>
                    </a:ext>
                  </a:extLst>
                </a:gridCol>
                <a:gridCol w="3802144">
                  <a:extLst>
                    <a:ext uri="{9D8B030D-6E8A-4147-A177-3AD203B41FA5}">
                      <a16:colId xmlns:a16="http://schemas.microsoft.com/office/drawing/2014/main" val="1221611069"/>
                    </a:ext>
                  </a:extLst>
                </a:gridCol>
                <a:gridCol w="3802144">
                  <a:extLst>
                    <a:ext uri="{9D8B030D-6E8A-4147-A177-3AD203B41FA5}">
                      <a16:colId xmlns:a16="http://schemas.microsoft.com/office/drawing/2014/main" val="1564170305"/>
                    </a:ext>
                  </a:extLst>
                </a:gridCol>
              </a:tblGrid>
              <a:tr h="811831">
                <a:tc>
                  <a:txBody>
                    <a:bodyPr/>
                    <a:lstStyle/>
                    <a:p>
                      <a:r>
                        <a:rPr lang="en-NZ" noProof="0" dirty="0"/>
                        <a:t>Description of Implication</a:t>
                      </a:r>
                      <a:br>
                        <a:rPr lang="en-NZ" noProof="0" dirty="0"/>
                      </a:br>
                      <a:r>
                        <a:rPr lang="en-NZ" noProof="0" dirty="0"/>
                        <a:t>(What Where Why)</a:t>
                      </a:r>
                    </a:p>
                  </a:txBody>
                  <a:tcPr>
                    <a:solidFill>
                      <a:srgbClr val="FF5050"/>
                    </a:solidFill>
                  </a:tcPr>
                </a:tc>
                <a:tc>
                  <a:txBody>
                    <a:bodyPr/>
                    <a:lstStyle/>
                    <a:p>
                      <a:r>
                        <a:rPr lang="en-NZ" noProof="0" dirty="0"/>
                        <a:t>Explanation of Implication</a:t>
                      </a:r>
                      <a:br>
                        <a:rPr lang="en-NZ" noProof="0" dirty="0"/>
                      </a:br>
                      <a:r>
                        <a:rPr lang="en-NZ" noProof="0" dirty="0"/>
                        <a:t>(How, Why)</a:t>
                      </a:r>
                    </a:p>
                  </a:txBody>
                  <a:tcPr>
                    <a:solidFill>
                      <a:srgbClr val="FF5050"/>
                    </a:solidFill>
                  </a:tcPr>
                </a:tc>
                <a:tc>
                  <a:txBody>
                    <a:bodyPr/>
                    <a:lstStyle/>
                    <a:p>
                      <a:r>
                        <a:rPr lang="en-NZ" noProof="0" dirty="0"/>
                        <a:t>Evidence of addressing.</a:t>
                      </a:r>
                    </a:p>
                  </a:txBody>
                  <a:tcPr>
                    <a:solidFill>
                      <a:srgbClr val="FF5050"/>
                    </a:solidFill>
                  </a:tcPr>
                </a:tc>
                <a:extLst>
                  <a:ext uri="{0D108BD9-81ED-4DB2-BD59-A6C34878D82A}">
                    <a16:rowId xmlns:a16="http://schemas.microsoft.com/office/drawing/2014/main" val="2823653061"/>
                  </a:ext>
                </a:extLst>
              </a:tr>
              <a:tr h="811831">
                <a:tc>
                  <a:txBody>
                    <a:bodyPr/>
                    <a:lstStyle/>
                    <a:p>
                      <a:r>
                        <a:rPr lang="en-US" sz="1800" kern="1200" dirty="0">
                          <a:solidFill>
                            <a:schemeClr val="dk1"/>
                          </a:solidFill>
                          <a:effectLst/>
                          <a:latin typeface="+mn-lt"/>
                          <a:ea typeface="+mn-ea"/>
                          <a:cs typeface="+mn-cs"/>
                        </a:rPr>
                        <a:t>Accessibility for the </a:t>
                      </a:r>
                      <a:r>
                        <a:rPr lang="en-US" sz="1800" kern="1200" dirty="0" err="1">
                          <a:solidFill>
                            <a:schemeClr val="dk1"/>
                          </a:solidFill>
                          <a:effectLst/>
                          <a:latin typeface="+mn-lt"/>
                          <a:ea typeface="+mn-ea"/>
                          <a:cs typeface="+mn-cs"/>
                        </a:rPr>
                        <a:t>pitbike</a:t>
                      </a:r>
                      <a:r>
                        <a:rPr lang="en-US" sz="1800" kern="1200" dirty="0">
                          <a:solidFill>
                            <a:schemeClr val="dk1"/>
                          </a:solidFill>
                          <a:effectLst/>
                          <a:latin typeface="+mn-lt"/>
                          <a:ea typeface="+mn-ea"/>
                          <a:cs typeface="+mn-cs"/>
                        </a:rPr>
                        <a:t> means the bike’s controls, indicators, and basic functions need to be understandable and manageable for a range of riders. This includes clear visual indicators, easy-to-reach switches, and controls that don’t require excessive strength.</a:t>
                      </a:r>
                      <a:endParaRPr lang="en-NZ" sz="1200" noProof="0" dirty="0"/>
                    </a:p>
                  </a:txBody>
                  <a:tcPr>
                    <a:solidFill>
                      <a:srgbClr val="FFCCCC"/>
                    </a:solidFill>
                  </a:tcPr>
                </a:tc>
                <a:tc>
                  <a:txBody>
                    <a:bodyPr/>
                    <a:lstStyle/>
                    <a:p>
                      <a:r>
                        <a:rPr lang="en-NZ" sz="1800" kern="1200" dirty="0">
                          <a:solidFill>
                            <a:schemeClr val="dk1"/>
                          </a:solidFill>
                          <a:effectLst/>
                          <a:latin typeface="+mn-lt"/>
                          <a:ea typeface="+mn-ea"/>
                          <a:cs typeface="+mn-cs"/>
                        </a:rPr>
                        <a:t>It is important because riders need to operate the hybrid system, throttle, and display safely without confusion. I will address this by using clearly labelled switches, simple control layouts, and making sure components like the electric–petrol mode indicator are easy to read.</a:t>
                      </a:r>
                      <a:endParaRPr lang="en-NZ" sz="1200" noProof="0" dirty="0"/>
                    </a:p>
                  </a:txBody>
                  <a:tcPr>
                    <a:solidFill>
                      <a:srgbClr val="FFCCCC"/>
                    </a:solidFill>
                  </a:tcPr>
                </a:tc>
                <a:tc>
                  <a:txBody>
                    <a:bodyPr/>
                    <a:lstStyle/>
                    <a:p>
                      <a:endParaRPr lang="en-NZ" sz="1200" noProof="0" dirty="0"/>
                    </a:p>
                  </a:txBody>
                  <a:tcPr>
                    <a:solidFill>
                      <a:srgbClr val="FFCCCC"/>
                    </a:solidFill>
                  </a:tcPr>
                </a:tc>
                <a:extLst>
                  <a:ext uri="{0D108BD9-81ED-4DB2-BD59-A6C34878D82A}">
                    <a16:rowId xmlns:a16="http://schemas.microsoft.com/office/drawing/2014/main" val="2120864744"/>
                  </a:ext>
                </a:extLst>
              </a:tr>
              <a:tr h="811831">
                <a:tc>
                  <a:txBody>
                    <a:bodyPr/>
                    <a:lstStyle/>
                    <a:p>
                      <a:r>
                        <a:rPr lang="en-NZ" sz="1800" kern="1200" dirty="0">
                          <a:solidFill>
                            <a:schemeClr val="dk1"/>
                          </a:solidFill>
                          <a:effectLst/>
                          <a:latin typeface="+mn-lt"/>
                          <a:ea typeface="+mn-ea"/>
                          <a:cs typeface="+mn-cs"/>
                        </a:rPr>
                        <a:t>Usability relates to how easy it is to understand and use the </a:t>
                      </a:r>
                      <a:r>
                        <a:rPr lang="en-NZ" sz="1800" kern="1200" dirty="0" err="1">
                          <a:solidFill>
                            <a:schemeClr val="dk1"/>
                          </a:solidFill>
                          <a:effectLst/>
                          <a:latin typeface="+mn-lt"/>
                          <a:ea typeface="+mn-ea"/>
                          <a:cs typeface="+mn-cs"/>
                        </a:rPr>
                        <a:t>pitbike’s</a:t>
                      </a:r>
                      <a:r>
                        <a:rPr lang="en-NZ" sz="1800" kern="1200" dirty="0">
                          <a:solidFill>
                            <a:schemeClr val="dk1"/>
                          </a:solidFill>
                          <a:effectLst/>
                          <a:latin typeface="+mn-lt"/>
                          <a:ea typeface="+mn-ea"/>
                          <a:cs typeface="+mn-cs"/>
                        </a:rPr>
                        <a:t> hybrid systems, such as switching modes, checking battery levels, or starting the bike. The design needs to feel intuitive even for new riders.</a:t>
                      </a:r>
                      <a:endParaRPr lang="en-NZ" sz="1200" noProof="0" dirty="0"/>
                    </a:p>
                  </a:txBody>
                  <a:tcPr>
                    <a:solidFill>
                      <a:srgbClr val="FFCCCC"/>
                    </a:solidFill>
                  </a:tcPr>
                </a:tc>
                <a:tc>
                  <a:txBody>
                    <a:bodyPr/>
                    <a:lstStyle/>
                    <a:p>
                      <a:r>
                        <a:rPr lang="en-NZ" sz="1800" kern="1200" dirty="0">
                          <a:solidFill>
                            <a:schemeClr val="dk1"/>
                          </a:solidFill>
                          <a:effectLst/>
                          <a:latin typeface="+mn-lt"/>
                          <a:ea typeface="+mn-ea"/>
                          <a:cs typeface="+mn-cs"/>
                        </a:rPr>
                        <a:t>It matters because if the interface is confusing, the rider could misuse the bike or struggle during operation. I will address this by keeping the hybrid controls simple, limiting unnecessary switches, and providing a logical layout similar to standard </a:t>
                      </a:r>
                      <a:r>
                        <a:rPr lang="en-NZ" sz="1800" kern="1200" dirty="0" err="1">
                          <a:solidFill>
                            <a:schemeClr val="dk1"/>
                          </a:solidFill>
                          <a:effectLst/>
                          <a:latin typeface="+mn-lt"/>
                          <a:ea typeface="+mn-ea"/>
                          <a:cs typeface="+mn-cs"/>
                        </a:rPr>
                        <a:t>pitbikes</a:t>
                      </a:r>
                      <a:r>
                        <a:rPr lang="en-NZ" sz="1800" kern="1200" dirty="0">
                          <a:solidFill>
                            <a:schemeClr val="dk1"/>
                          </a:solidFill>
                          <a:effectLst/>
                          <a:latin typeface="+mn-lt"/>
                          <a:ea typeface="+mn-ea"/>
                          <a:cs typeface="+mn-cs"/>
                        </a:rPr>
                        <a:t> so it feels familiar.</a:t>
                      </a:r>
                      <a:endParaRPr lang="en-NZ" sz="1200" noProof="0" dirty="0"/>
                    </a:p>
                  </a:txBody>
                  <a:tcPr>
                    <a:solidFill>
                      <a:srgbClr val="FFCCCC"/>
                    </a:solidFill>
                  </a:tcPr>
                </a:tc>
                <a:tc>
                  <a:txBody>
                    <a:bodyPr/>
                    <a:lstStyle/>
                    <a:p>
                      <a:endParaRPr lang="en-NZ" sz="1200" noProof="0" dirty="0"/>
                    </a:p>
                  </a:txBody>
                  <a:tcPr>
                    <a:solidFill>
                      <a:srgbClr val="FFCCCC"/>
                    </a:solidFill>
                  </a:tcPr>
                </a:tc>
                <a:extLst>
                  <a:ext uri="{0D108BD9-81ED-4DB2-BD59-A6C34878D82A}">
                    <a16:rowId xmlns:a16="http://schemas.microsoft.com/office/drawing/2014/main" val="570688745"/>
                  </a:ext>
                </a:extLst>
              </a:tr>
              <a:tr h="811831">
                <a:tc>
                  <a:txBody>
                    <a:bodyPr/>
                    <a:lstStyle/>
                    <a:p>
                      <a:r>
                        <a:rPr lang="en-US" sz="1800" kern="1200" dirty="0">
                          <a:solidFill>
                            <a:schemeClr val="dk1"/>
                          </a:solidFill>
                          <a:effectLst/>
                          <a:latin typeface="+mn-lt"/>
                          <a:ea typeface="+mn-ea"/>
                          <a:cs typeface="+mn-cs"/>
                        </a:rPr>
                        <a:t>Functionality refers to how well the 70cc hybrid </a:t>
                      </a:r>
                      <a:r>
                        <a:rPr lang="en-US" sz="1800" kern="1200" dirty="0" err="1">
                          <a:solidFill>
                            <a:schemeClr val="dk1"/>
                          </a:solidFill>
                          <a:effectLst/>
                          <a:latin typeface="+mn-lt"/>
                          <a:ea typeface="+mn-ea"/>
                          <a:cs typeface="+mn-cs"/>
                        </a:rPr>
                        <a:t>pitbike</a:t>
                      </a:r>
                      <a:r>
                        <a:rPr lang="en-US" sz="1800" kern="1200" dirty="0">
                          <a:solidFill>
                            <a:schemeClr val="dk1"/>
                          </a:solidFill>
                          <a:effectLst/>
                          <a:latin typeface="+mn-lt"/>
                          <a:ea typeface="+mn-ea"/>
                          <a:cs typeface="+mn-cs"/>
                        </a:rPr>
                        <a:t> performs its intended purpose—delivering reliable petrol and electric operation, smooth power delivery, and stable riding. It also includes ensuring the components (battery, controller, mechanical systems) work together correctly.</a:t>
                      </a:r>
                      <a:endParaRPr lang="en-NZ" sz="1200" noProof="0" dirty="0"/>
                    </a:p>
                  </a:txBody>
                  <a:tcPr>
                    <a:solidFill>
                      <a:srgbClr val="FFCCCC"/>
                    </a:solidFill>
                  </a:tcPr>
                </a:tc>
                <a:tc>
                  <a:txBody>
                    <a:bodyPr/>
                    <a:lstStyle/>
                    <a:p>
                      <a:r>
                        <a:rPr lang="en-NZ" sz="1800" kern="1200" dirty="0">
                          <a:solidFill>
                            <a:schemeClr val="dk1"/>
                          </a:solidFill>
                          <a:effectLst/>
                          <a:latin typeface="+mn-lt"/>
                          <a:ea typeface="+mn-ea"/>
                          <a:cs typeface="+mn-cs"/>
                        </a:rPr>
                        <a:t>It is important because the bike must be reliable and safe. I will address this by testing the hybrid system regularly, checking wiring, ensuring the mechanical and electrical parts don’t interfere with each other, and confirming that power output remains stable.</a:t>
                      </a:r>
                      <a:endParaRPr lang="en-NZ" sz="1200" noProof="0" dirty="0"/>
                    </a:p>
                  </a:txBody>
                  <a:tcPr>
                    <a:solidFill>
                      <a:srgbClr val="FFCCCC"/>
                    </a:solidFill>
                  </a:tcPr>
                </a:tc>
                <a:tc>
                  <a:txBody>
                    <a:bodyPr/>
                    <a:lstStyle/>
                    <a:p>
                      <a:endParaRPr lang="en-NZ" sz="1200" noProof="0" dirty="0"/>
                    </a:p>
                  </a:txBody>
                  <a:tcPr>
                    <a:solidFill>
                      <a:srgbClr val="FFCCCC"/>
                    </a:solidFill>
                  </a:tcPr>
                </a:tc>
                <a:extLst>
                  <a:ext uri="{0D108BD9-81ED-4DB2-BD59-A6C34878D82A}">
                    <a16:rowId xmlns:a16="http://schemas.microsoft.com/office/drawing/2014/main" val="2686728311"/>
                  </a:ext>
                </a:extLst>
              </a:tr>
              <a:tr h="811831">
                <a:tc>
                  <a:txBody>
                    <a:bodyPr/>
                    <a:lstStyle/>
                    <a:p>
                      <a:r>
                        <a:rPr lang="en-NZ" sz="1800" kern="1200" dirty="0">
                          <a:solidFill>
                            <a:schemeClr val="dk1"/>
                          </a:solidFill>
                          <a:effectLst/>
                          <a:latin typeface="+mn-lt"/>
                          <a:ea typeface="+mn-ea"/>
                          <a:cs typeface="+mn-cs"/>
                        </a:rPr>
                        <a:t>Aesthetics for the </a:t>
                      </a:r>
                      <a:r>
                        <a:rPr lang="en-NZ" sz="1800" kern="1200" dirty="0" err="1">
                          <a:solidFill>
                            <a:schemeClr val="dk1"/>
                          </a:solidFill>
                          <a:effectLst/>
                          <a:latin typeface="+mn-lt"/>
                          <a:ea typeface="+mn-ea"/>
                          <a:cs typeface="+mn-cs"/>
                        </a:rPr>
                        <a:t>pitbike</a:t>
                      </a:r>
                      <a:r>
                        <a:rPr lang="en-NZ" sz="1800" kern="1200" dirty="0">
                          <a:solidFill>
                            <a:schemeClr val="dk1"/>
                          </a:solidFill>
                          <a:effectLst/>
                          <a:latin typeface="+mn-lt"/>
                          <a:ea typeface="+mn-ea"/>
                          <a:cs typeface="+mn-cs"/>
                        </a:rPr>
                        <a:t> include the visual design—how the hybrid components are integrated, how tidy the wiring is, and the overall look of the bike. A clean, professional aesthetic helps the bike feel intentional rather than thrown together.</a:t>
                      </a:r>
                      <a:endParaRPr lang="en-NZ" sz="1200" noProof="0" dirty="0"/>
                    </a:p>
                  </a:txBody>
                  <a:tcPr>
                    <a:solidFill>
                      <a:srgbClr val="FFCCCC"/>
                    </a:solidFill>
                  </a:tcPr>
                </a:tc>
                <a:tc>
                  <a:txBody>
                    <a:bodyPr/>
                    <a:lstStyle/>
                    <a:p>
                      <a:r>
                        <a:rPr lang="en-NZ" sz="1800" kern="1200" dirty="0">
                          <a:solidFill>
                            <a:schemeClr val="dk1"/>
                          </a:solidFill>
                          <a:effectLst/>
                          <a:latin typeface="+mn-lt"/>
                          <a:ea typeface="+mn-ea"/>
                          <a:cs typeface="+mn-cs"/>
                        </a:rPr>
                        <a:t>It is important because a well-presented bike improves user confidence and makes maintenance easier. I will address this by organising wiring neatly, using matching colours or covers, and ensuring added components blend with the original frame so the hybrid upgrade looks cohesive.</a:t>
                      </a:r>
                      <a:endParaRPr lang="en-NZ" sz="1200" noProof="0" dirty="0"/>
                    </a:p>
                  </a:txBody>
                  <a:tcPr>
                    <a:solidFill>
                      <a:srgbClr val="FFCCCC"/>
                    </a:solidFill>
                  </a:tcPr>
                </a:tc>
                <a:tc>
                  <a:txBody>
                    <a:bodyPr/>
                    <a:lstStyle/>
                    <a:p>
                      <a:endParaRPr lang="en-NZ" sz="1200" noProof="0" dirty="0"/>
                    </a:p>
                  </a:txBody>
                  <a:tcPr>
                    <a:solidFill>
                      <a:srgbClr val="FFCCCC"/>
                    </a:solidFill>
                  </a:tcPr>
                </a:tc>
                <a:extLst>
                  <a:ext uri="{0D108BD9-81ED-4DB2-BD59-A6C34878D82A}">
                    <a16:rowId xmlns:a16="http://schemas.microsoft.com/office/drawing/2014/main" val="730498769"/>
                  </a:ext>
                </a:extLst>
              </a:tr>
            </a:tbl>
          </a:graphicData>
        </a:graphic>
      </p:graphicFrame>
    </p:spTree>
    <p:extLst>
      <p:ext uri="{BB962C8B-B14F-4D97-AF65-F5344CB8AC3E}">
        <p14:creationId xmlns:p14="http://schemas.microsoft.com/office/powerpoint/2010/main" val="4279029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E497E-C549-2DAD-64FC-FE29C099443A}"/>
              </a:ext>
            </a:extLst>
          </p:cNvPr>
          <p:cNvSpPr>
            <a:spLocks noGrp="1"/>
          </p:cNvSpPr>
          <p:nvPr>
            <p:ph type="title"/>
          </p:nvPr>
        </p:nvSpPr>
        <p:spPr>
          <a:solidFill>
            <a:srgbClr val="FF5050"/>
          </a:solidFill>
        </p:spPr>
        <p:txBody>
          <a:bodyPr/>
          <a:lstStyle/>
          <a:p>
            <a:r>
              <a:rPr lang="en-NZ" noProof="0" dirty="0"/>
              <a:t>Original Design</a:t>
            </a:r>
          </a:p>
        </p:txBody>
      </p:sp>
      <p:sp>
        <p:nvSpPr>
          <p:cNvPr id="3" name="Content Placeholder 2">
            <a:extLst>
              <a:ext uri="{FF2B5EF4-FFF2-40B4-BE49-F238E27FC236}">
                <a16:creationId xmlns:a16="http://schemas.microsoft.com/office/drawing/2014/main" id="{DA45C6F8-39B2-B16D-3499-DEBD85A6474C}"/>
              </a:ext>
            </a:extLst>
          </p:cNvPr>
          <p:cNvSpPr>
            <a:spLocks noGrp="1"/>
          </p:cNvSpPr>
          <p:nvPr>
            <p:ph idx="1"/>
          </p:nvPr>
        </p:nvSpPr>
        <p:spPr/>
        <p:txBody>
          <a:bodyPr/>
          <a:lstStyle/>
          <a:p>
            <a:pPr marL="0" indent="0">
              <a:buNone/>
            </a:pPr>
            <a:r>
              <a:rPr lang="en-NZ" noProof="0" dirty="0"/>
              <a:t>Insert diagram here of electronics outcome</a:t>
            </a:r>
          </a:p>
        </p:txBody>
      </p:sp>
    </p:spTree>
    <p:extLst>
      <p:ext uri="{BB962C8B-B14F-4D97-AF65-F5344CB8AC3E}">
        <p14:creationId xmlns:p14="http://schemas.microsoft.com/office/powerpoint/2010/main" val="1365950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AA192-D8D4-BF2A-AC46-D062E56A1ABD}"/>
              </a:ext>
            </a:extLst>
          </p:cNvPr>
          <p:cNvSpPr>
            <a:spLocks noGrp="1"/>
          </p:cNvSpPr>
          <p:nvPr>
            <p:ph type="title"/>
          </p:nvPr>
        </p:nvSpPr>
        <p:spPr>
          <a:solidFill>
            <a:srgbClr val="FF5050"/>
          </a:solidFill>
        </p:spPr>
        <p:txBody>
          <a:bodyPr/>
          <a:lstStyle/>
          <a:p>
            <a:r>
              <a:rPr lang="en-NZ" noProof="0" dirty="0"/>
              <a:t>Behaviour and function</a:t>
            </a:r>
          </a:p>
        </p:txBody>
      </p:sp>
      <p:sp>
        <p:nvSpPr>
          <p:cNvPr id="3" name="Content Placeholder 2">
            <a:extLst>
              <a:ext uri="{FF2B5EF4-FFF2-40B4-BE49-F238E27FC236}">
                <a16:creationId xmlns:a16="http://schemas.microsoft.com/office/drawing/2014/main" id="{A52EF0A1-3D21-8BB7-02F3-33253F2DFB43}"/>
              </a:ext>
            </a:extLst>
          </p:cNvPr>
          <p:cNvSpPr>
            <a:spLocks noGrp="1"/>
          </p:cNvSpPr>
          <p:nvPr>
            <p:ph idx="1"/>
          </p:nvPr>
        </p:nvSpPr>
        <p:spPr>
          <a:solidFill>
            <a:srgbClr val="FFCCCC"/>
          </a:solidFill>
        </p:spPr>
        <p:txBody>
          <a:bodyPr>
            <a:normAutofit lnSpcReduction="10000"/>
          </a:bodyPr>
          <a:lstStyle/>
          <a:p>
            <a:pPr marL="0" indent="0">
              <a:buNone/>
            </a:pPr>
            <a:r>
              <a:rPr lang="en-US" sz="1800" i="1" noProof="0" dirty="0"/>
              <a:t>The </a:t>
            </a:r>
            <a:r>
              <a:rPr lang="en-US" sz="1800" i="1" noProof="0" dirty="0" err="1"/>
              <a:t>behaviour</a:t>
            </a:r>
            <a:r>
              <a:rPr lang="en-US" sz="1800" i="1" noProof="0" dirty="0"/>
              <a:t> of the electronics is as follows. Firstly to relay signal to a motor controller for </a:t>
            </a:r>
            <a:r>
              <a:rPr lang="en-US" sz="1800" i="1" noProof="0" dirty="0" err="1"/>
              <a:t>th</a:t>
            </a:r>
            <a:r>
              <a:rPr lang="en-US" sz="1800" i="1" dirty="0"/>
              <a:t>e 800w electric motor which is done with a analog hall effect sensor, the reason for having a separate controller is because the motor runs on 36v where as the Arduino r4 runs on 12v which is done with a 36-12v dc-dc buck converter. The next part is to have the 2 power units be separatable, this is done with a 24v electromagnetic hall effect sensor and another analog hall effect sensor so that when the bike comes </a:t>
            </a:r>
            <a:r>
              <a:rPr lang="en-US" sz="1800" i="1" dirty="0" err="1"/>
              <a:t>offthe</a:t>
            </a:r>
            <a:r>
              <a:rPr lang="en-US" sz="1800" i="1" dirty="0"/>
              <a:t> line both units are giving power and when the bike reaches a certain speed the clutch will disengage the electric motor from the engine(this is because the engine can go at a much greater rpm comparted to the electric motor) also in the case that  I need the motor detached from the rest of the power train  I have the analog hall effect sensor connected to the clutch leaver so that when I pull in the clutch It disengages both clutches. The third is the rpm sensing so using 2 digital hall effect sensors so detect </a:t>
            </a:r>
            <a:r>
              <a:rPr lang="en-US" sz="1800" i="1" dirty="0" err="1"/>
              <a:t>therpm</a:t>
            </a:r>
            <a:r>
              <a:rPr lang="en-US" sz="1800" i="1" dirty="0"/>
              <a:t> of both sides of the clutch so that before the magnetic clutch engages (since it will be disengaged at higher speeds) the electric motor matches the speed of the rest of the drive train otherwise if it doesn’t and it is slower than the rest of the drive  train it can either cause the bike to go slower or caused catastrophic damage to the bike itself. The fourth is the speed sensing using a digital </a:t>
            </a:r>
            <a:r>
              <a:rPr lang="en-US" sz="1800" i="1" dirty="0" err="1"/>
              <a:t>hallleffecct</a:t>
            </a:r>
            <a:r>
              <a:rPr lang="en-US" sz="1800" i="1" dirty="0"/>
              <a:t> sensor attached to the rear wheel to tell the Arduino what speed the bike is traveling at. </a:t>
            </a:r>
            <a:r>
              <a:rPr lang="en-US" sz="1800" i="1" dirty="0" err="1"/>
              <a:t>Fithly</a:t>
            </a:r>
            <a:r>
              <a:rPr lang="en-US" sz="1800" i="1" dirty="0"/>
              <a:t> battery and fuel gauges for the </a:t>
            </a:r>
            <a:r>
              <a:rPr lang="en-US" sz="1800" i="1" dirty="0" err="1"/>
              <a:t>battey</a:t>
            </a:r>
            <a:r>
              <a:rPr lang="en-US" sz="1800" i="1" dirty="0"/>
              <a:t> using a capacitor and resistor to give a readable signal for the Arduino to show the voltage of the battery and for the fuel using a flow sensor to tell the Arduino if there is fuel flow in the fuel lines so if there isn’t that means the fuel is low  Lastly is the dashboard so using a </a:t>
            </a:r>
            <a:r>
              <a:rPr lang="en-US" sz="1800" i="1" dirty="0" err="1"/>
              <a:t>Oled</a:t>
            </a:r>
            <a:r>
              <a:rPr lang="en-US" sz="1800" i="1" dirty="0"/>
              <a:t> display and a few </a:t>
            </a:r>
            <a:r>
              <a:rPr lang="en-US" sz="1800" i="1" dirty="0" err="1"/>
              <a:t>led’s</a:t>
            </a:r>
            <a:r>
              <a:rPr lang="en-US" sz="1800" i="1" dirty="0"/>
              <a:t> to visually display the speed, the rpm and the battery and fuel percentage.</a:t>
            </a:r>
            <a:endParaRPr lang="en-NZ" sz="1800" i="1" noProof="0" dirty="0"/>
          </a:p>
        </p:txBody>
      </p:sp>
    </p:spTree>
    <p:extLst>
      <p:ext uri="{BB962C8B-B14F-4D97-AF65-F5344CB8AC3E}">
        <p14:creationId xmlns:p14="http://schemas.microsoft.com/office/powerpoint/2010/main" val="2961901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AA192-D8D4-BF2A-AC46-D062E56A1ABD}"/>
              </a:ext>
            </a:extLst>
          </p:cNvPr>
          <p:cNvSpPr>
            <a:spLocks noGrp="1"/>
          </p:cNvSpPr>
          <p:nvPr>
            <p:ph type="title"/>
          </p:nvPr>
        </p:nvSpPr>
        <p:spPr>
          <a:solidFill>
            <a:srgbClr val="FF5050"/>
          </a:solidFill>
        </p:spPr>
        <p:txBody>
          <a:bodyPr/>
          <a:lstStyle/>
          <a:p>
            <a:r>
              <a:rPr lang="en-NZ" noProof="0" dirty="0"/>
              <a:t>Explaining relevant communication protocols</a:t>
            </a:r>
          </a:p>
        </p:txBody>
      </p:sp>
      <p:sp>
        <p:nvSpPr>
          <p:cNvPr id="3" name="Content Placeholder 2">
            <a:extLst>
              <a:ext uri="{FF2B5EF4-FFF2-40B4-BE49-F238E27FC236}">
                <a16:creationId xmlns:a16="http://schemas.microsoft.com/office/drawing/2014/main" id="{A52EF0A1-3D21-8BB7-02F3-33253F2DFB43}"/>
              </a:ext>
            </a:extLst>
          </p:cNvPr>
          <p:cNvSpPr>
            <a:spLocks noGrp="1"/>
          </p:cNvSpPr>
          <p:nvPr>
            <p:ph idx="1"/>
          </p:nvPr>
        </p:nvSpPr>
        <p:spPr>
          <a:xfrm>
            <a:off x="838200" y="1825625"/>
            <a:ext cx="10515600" cy="2205601"/>
          </a:xfrm>
          <a:solidFill>
            <a:srgbClr val="FFCCCC"/>
          </a:solidFill>
        </p:spPr>
        <p:txBody>
          <a:bodyPr>
            <a:normAutofit/>
          </a:bodyPr>
          <a:lstStyle/>
          <a:p>
            <a:pPr marL="0" indent="0">
              <a:buNone/>
            </a:pPr>
            <a:r>
              <a:rPr lang="en-US" sz="1800" dirty="0"/>
              <a:t>For this project, I am using the I2C (Inter-Integrated Circuit) communication protocol to interface the Arduino with the dashboard OLED display. I2C operates as a master-slave system using a two-wire synchronous bus consisting of a Serial Data line (SDA) and a Serial Clock line (SCL). The Arduino acts as the master device, generating the clock signal and initiating contact by transmitting the unique 7-bit hardware address belonging to the OLED display. Once communication is established, the Arduino uses this data bus to send continuous, real-time telemetry updates. Specifically, I am using this protocol to transmit calculated values ​​for the e-bike's speed, clutch RPM, battery voltage, and fuel flow status directly to the screen for the rider to see.</a:t>
            </a:r>
            <a:endParaRPr lang="en-NZ" sz="1800" i="1" noProof="0" dirty="0"/>
          </a:p>
        </p:txBody>
      </p:sp>
      <p:sp>
        <p:nvSpPr>
          <p:cNvPr id="4" name="Content Placeholder 2">
            <a:extLst>
              <a:ext uri="{FF2B5EF4-FFF2-40B4-BE49-F238E27FC236}">
                <a16:creationId xmlns:a16="http://schemas.microsoft.com/office/drawing/2014/main" id="{733B3A00-9BAD-4EED-A5B0-1F15087135FA}"/>
              </a:ext>
            </a:extLst>
          </p:cNvPr>
          <p:cNvSpPr txBox="1">
            <a:spLocks/>
          </p:cNvSpPr>
          <p:nvPr/>
        </p:nvSpPr>
        <p:spPr>
          <a:xfrm>
            <a:off x="838200" y="4166163"/>
            <a:ext cx="10515600" cy="2205601"/>
          </a:xfrm>
          <a:prstGeom prst="rect">
            <a:avLst/>
          </a:prstGeom>
          <a:solidFill>
            <a:schemeClr val="accent6">
              <a:lumMod val="40000"/>
              <a:lumOff val="60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I selected the I2C protocol over alternative methods because it offers the best balance between speed and pin efficiency for this specific sensor-heavy application. While alternative interfaces like Parallel require eight or more digital pins, and SPI requires four, I2C requires only two microcontroller pins. Minimizing pin usage is critical for this e-bike layout because the system demands numerous dedicated hardware inputs for the digital speed sensors, analog clutch sensors, and the fuel flow meter. While SPI offers faster data transfer rates than I2C, the extra bandwidth is unnecessary for updating a small, primarily text-based dashboard screen. Furthermore, I2C supports multi-device connectivity on the same bus, allowing future upgrades—such as adding an I2C accelerometer or telemetry module—without consuming any additional physical pins on the Arduino.</a:t>
            </a:r>
            <a:endParaRPr lang="en-NZ" sz="1800" i="1" dirty="0"/>
          </a:p>
        </p:txBody>
      </p:sp>
    </p:spTree>
    <p:extLst>
      <p:ext uri="{BB962C8B-B14F-4D97-AF65-F5344CB8AC3E}">
        <p14:creationId xmlns:p14="http://schemas.microsoft.com/office/powerpoint/2010/main" val="4103162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556D0-C1D9-5C68-8845-C708DF5F31D1}"/>
              </a:ext>
            </a:extLst>
          </p:cNvPr>
          <p:cNvSpPr>
            <a:spLocks noGrp="1"/>
          </p:cNvSpPr>
          <p:nvPr>
            <p:ph type="title"/>
          </p:nvPr>
        </p:nvSpPr>
        <p:spPr>
          <a:solidFill>
            <a:schemeClr val="accent6">
              <a:lumMod val="40000"/>
              <a:lumOff val="60000"/>
            </a:schemeClr>
          </a:solidFill>
        </p:spPr>
        <p:txBody>
          <a:bodyPr/>
          <a:lstStyle/>
          <a:p>
            <a:r>
              <a:rPr lang="en-NZ" noProof="0" dirty="0"/>
              <a:t>Iterated Design</a:t>
            </a:r>
          </a:p>
        </p:txBody>
      </p:sp>
      <p:sp>
        <p:nvSpPr>
          <p:cNvPr id="3" name="Content Placeholder 2">
            <a:extLst>
              <a:ext uri="{FF2B5EF4-FFF2-40B4-BE49-F238E27FC236}">
                <a16:creationId xmlns:a16="http://schemas.microsoft.com/office/drawing/2014/main" id="{4ECA3479-9DD9-B6D5-BE2D-ABCAF7C76293}"/>
              </a:ext>
            </a:extLst>
          </p:cNvPr>
          <p:cNvSpPr>
            <a:spLocks noGrp="1"/>
          </p:cNvSpPr>
          <p:nvPr>
            <p:ph idx="1"/>
          </p:nvPr>
        </p:nvSpPr>
        <p:spPr>
          <a:xfrm>
            <a:off x="838200" y="1825625"/>
            <a:ext cx="10515600" cy="878246"/>
          </a:xfrm>
          <a:solidFill>
            <a:schemeClr val="accent6">
              <a:lumMod val="40000"/>
              <a:lumOff val="60000"/>
            </a:schemeClr>
          </a:solidFill>
        </p:spPr>
        <p:txBody>
          <a:bodyPr/>
          <a:lstStyle/>
          <a:p>
            <a:pPr marL="0" indent="0">
              <a:buNone/>
            </a:pPr>
            <a:r>
              <a:rPr lang="en-NZ" noProof="0" dirty="0"/>
              <a:t>Feedback:</a:t>
            </a:r>
          </a:p>
        </p:txBody>
      </p:sp>
      <p:sp>
        <p:nvSpPr>
          <p:cNvPr id="4" name="Content Placeholder 2">
            <a:extLst>
              <a:ext uri="{FF2B5EF4-FFF2-40B4-BE49-F238E27FC236}">
                <a16:creationId xmlns:a16="http://schemas.microsoft.com/office/drawing/2014/main" id="{0BDD2F55-C254-2B6C-E842-EDF49DD5A11C}"/>
              </a:ext>
            </a:extLst>
          </p:cNvPr>
          <p:cNvSpPr txBox="1">
            <a:spLocks/>
          </p:cNvSpPr>
          <p:nvPr/>
        </p:nvSpPr>
        <p:spPr>
          <a:xfrm>
            <a:off x="838200" y="3047999"/>
            <a:ext cx="10515600" cy="3128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Insert updated diagram here of electronics outcome</a:t>
            </a:r>
          </a:p>
        </p:txBody>
      </p:sp>
    </p:spTree>
    <p:extLst>
      <p:ext uri="{BB962C8B-B14F-4D97-AF65-F5344CB8AC3E}">
        <p14:creationId xmlns:p14="http://schemas.microsoft.com/office/powerpoint/2010/main" val="974559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56BB34-A33E-CA54-E3A0-74010D4B0A63}"/>
              </a:ext>
            </a:extLst>
          </p:cNvPr>
          <p:cNvSpPr>
            <a:spLocks noGrp="1"/>
          </p:cNvSpPr>
          <p:nvPr>
            <p:ph type="ctrTitle"/>
          </p:nvPr>
        </p:nvSpPr>
        <p:spPr/>
        <p:txBody>
          <a:bodyPr/>
          <a:lstStyle/>
          <a:p>
            <a:r>
              <a:rPr lang="en-NZ" noProof="0" dirty="0"/>
              <a:t>Components and Systems</a:t>
            </a:r>
          </a:p>
        </p:txBody>
      </p:sp>
      <p:sp>
        <p:nvSpPr>
          <p:cNvPr id="5" name="Subtitle 4">
            <a:extLst>
              <a:ext uri="{FF2B5EF4-FFF2-40B4-BE49-F238E27FC236}">
                <a16:creationId xmlns:a16="http://schemas.microsoft.com/office/drawing/2014/main" id="{E04ACEFA-C5B9-70D8-D43C-68A151E2A2DE}"/>
              </a:ext>
            </a:extLst>
          </p:cNvPr>
          <p:cNvSpPr>
            <a:spLocks noGrp="1"/>
          </p:cNvSpPr>
          <p:nvPr>
            <p:ph type="subTitle" idx="1"/>
          </p:nvPr>
        </p:nvSpPr>
        <p:spPr/>
        <p:txBody>
          <a:bodyPr/>
          <a:lstStyle/>
          <a:p>
            <a:endParaRPr lang="en-NZ" noProof="0" dirty="0"/>
          </a:p>
        </p:txBody>
      </p:sp>
    </p:spTree>
    <p:extLst>
      <p:ext uri="{BB962C8B-B14F-4D97-AF65-F5344CB8AC3E}">
        <p14:creationId xmlns:p14="http://schemas.microsoft.com/office/powerpoint/2010/main" val="3440362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4EB2B-85A8-4549-4E6D-72F4823A2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3A040-4DF6-3A52-2828-494419344D41}"/>
              </a:ext>
            </a:extLst>
          </p:cNvPr>
          <p:cNvSpPr>
            <a:spLocks noGrp="1"/>
          </p:cNvSpPr>
          <p:nvPr>
            <p:ph type="title"/>
          </p:nvPr>
        </p:nvSpPr>
        <p:spPr>
          <a:solidFill>
            <a:schemeClr val="accent3">
              <a:lumMod val="20000"/>
              <a:lumOff val="80000"/>
            </a:schemeClr>
          </a:solidFill>
        </p:spPr>
        <p:txBody>
          <a:bodyPr/>
          <a:lstStyle/>
          <a:p>
            <a:r>
              <a:rPr lang="en-NZ" noProof="0" dirty="0"/>
              <a:t>Choice of Component/System 1: controller</a:t>
            </a:r>
          </a:p>
        </p:txBody>
      </p:sp>
      <p:sp>
        <p:nvSpPr>
          <p:cNvPr id="5" name="Content Placeholder 2">
            <a:extLst>
              <a:ext uri="{FF2B5EF4-FFF2-40B4-BE49-F238E27FC236}">
                <a16:creationId xmlns:a16="http://schemas.microsoft.com/office/drawing/2014/main" id="{208AF426-607B-1936-143C-7541AD8896ED}"/>
              </a:ext>
            </a:extLst>
          </p:cNvPr>
          <p:cNvSpPr txBox="1">
            <a:spLocks/>
          </p:cNvSpPr>
          <p:nvPr/>
        </p:nvSpPr>
        <p:spPr>
          <a:xfrm>
            <a:off x="838200" y="3646026"/>
            <a:ext cx="10225548" cy="2726095"/>
          </a:xfrm>
          <a:prstGeom prst="rect">
            <a:avLst/>
          </a:prstGeom>
          <a:solidFill>
            <a:schemeClr val="accent6">
              <a:lumMod val="20000"/>
              <a:lumOff val="80000"/>
            </a:schemeClr>
          </a:solidFill>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Justification of choice made</a:t>
            </a:r>
          </a:p>
          <a:p>
            <a:pPr marL="0" indent="0">
              <a:buFont typeface="Arial" panose="020B0604020202020204" pitchFamily="34" charset="0"/>
              <a:buNone/>
            </a:pPr>
            <a:r>
              <a:rPr lang="en-NZ" dirty="0"/>
              <a:t>I chose the Arduino r4 over the </a:t>
            </a:r>
            <a:r>
              <a:rPr lang="en-NZ" dirty="0" err="1"/>
              <a:t>esp</a:t>
            </a:r>
            <a:r>
              <a:rPr lang="en-NZ" dirty="0"/>
              <a:t> 32 because is have a fundamental </a:t>
            </a:r>
            <a:r>
              <a:rPr lang="en-NZ" dirty="0" err="1"/>
              <a:t>uderstranding</a:t>
            </a:r>
            <a:r>
              <a:rPr lang="en-NZ" dirty="0"/>
              <a:t> on the workings of the </a:t>
            </a:r>
            <a:r>
              <a:rPr lang="en-NZ" dirty="0" err="1"/>
              <a:t>arduios</a:t>
            </a:r>
            <a:r>
              <a:rPr lang="en-NZ" dirty="0"/>
              <a:t> compared to a the esp32 which </a:t>
            </a:r>
            <a:r>
              <a:rPr lang="en-NZ" dirty="0" err="1"/>
              <a:t>ive</a:t>
            </a:r>
            <a:r>
              <a:rPr lang="en-NZ" dirty="0"/>
              <a:t> never used before. I chose the r4 over the r3 because the r4 has a </a:t>
            </a:r>
            <a:r>
              <a:rPr lang="en-NZ" dirty="0" err="1"/>
              <a:t>wifi</a:t>
            </a:r>
            <a:r>
              <a:rPr lang="en-NZ" dirty="0"/>
              <a:t> chip on board which means  that I can made a </a:t>
            </a:r>
            <a:r>
              <a:rPr lang="en-NZ" dirty="0" err="1"/>
              <a:t>ui</a:t>
            </a:r>
            <a:r>
              <a:rPr lang="en-NZ" dirty="0"/>
              <a:t> to adjust settings like throttle logic and sensitivity and when I need to do maintenance I can turn stuff of  like the clutch for example</a:t>
            </a:r>
            <a:endParaRPr lang="en-NZ" noProof="0" dirty="0"/>
          </a:p>
        </p:txBody>
      </p:sp>
      <p:sp>
        <p:nvSpPr>
          <p:cNvPr id="8" name="Content Placeholder 7">
            <a:extLst>
              <a:ext uri="{FF2B5EF4-FFF2-40B4-BE49-F238E27FC236}">
                <a16:creationId xmlns:a16="http://schemas.microsoft.com/office/drawing/2014/main" id="{DFB8CE4C-97AF-7F3E-9CAC-E06101B7E86D}"/>
              </a:ext>
            </a:extLst>
          </p:cNvPr>
          <p:cNvSpPr>
            <a:spLocks noGrp="1"/>
          </p:cNvSpPr>
          <p:nvPr>
            <p:ph idx="1"/>
          </p:nvPr>
        </p:nvSpPr>
        <p:spPr>
          <a:xfrm>
            <a:off x="838200" y="1825625"/>
            <a:ext cx="3723968" cy="1325563"/>
          </a:xfrm>
        </p:spPr>
        <p:txBody>
          <a:bodyPr/>
          <a:lstStyle/>
          <a:p>
            <a:pPr marL="0" indent="0">
              <a:buNone/>
            </a:pPr>
            <a:r>
              <a:rPr lang="en-NZ" noProof="0" dirty="0"/>
              <a:t>Chosen</a:t>
            </a:r>
          </a:p>
          <a:p>
            <a:pPr marL="0" indent="0">
              <a:buNone/>
            </a:pPr>
            <a:r>
              <a:rPr lang="en-NZ" dirty="0" err="1"/>
              <a:t>Ardunio</a:t>
            </a:r>
            <a:r>
              <a:rPr lang="en-NZ" dirty="0"/>
              <a:t> R4</a:t>
            </a:r>
            <a:endParaRPr lang="en-NZ" noProof="0" dirty="0"/>
          </a:p>
        </p:txBody>
      </p:sp>
      <p:sp>
        <p:nvSpPr>
          <p:cNvPr id="9" name="Content Placeholder 7">
            <a:extLst>
              <a:ext uri="{FF2B5EF4-FFF2-40B4-BE49-F238E27FC236}">
                <a16:creationId xmlns:a16="http://schemas.microsoft.com/office/drawing/2014/main" id="{0A4F4AF7-5E5A-2D76-3F73-6A09F3F31537}"/>
              </a:ext>
            </a:extLst>
          </p:cNvPr>
          <p:cNvSpPr txBox="1">
            <a:spLocks/>
          </p:cNvSpPr>
          <p:nvPr/>
        </p:nvSpPr>
        <p:spPr>
          <a:xfrm>
            <a:off x="4234016" y="1846467"/>
            <a:ext cx="3723968"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Alternative 1</a:t>
            </a:r>
          </a:p>
          <a:p>
            <a:pPr marL="0" indent="0">
              <a:buFont typeface="Arial" panose="020B0604020202020204" pitchFamily="34" charset="0"/>
              <a:buNone/>
            </a:pPr>
            <a:r>
              <a:rPr lang="en-NZ" dirty="0"/>
              <a:t>Esp 32</a:t>
            </a:r>
            <a:r>
              <a:rPr lang="en-NZ" noProof="0" dirty="0"/>
              <a:t> </a:t>
            </a:r>
          </a:p>
        </p:txBody>
      </p:sp>
      <p:sp>
        <p:nvSpPr>
          <p:cNvPr id="10" name="Content Placeholder 7">
            <a:extLst>
              <a:ext uri="{FF2B5EF4-FFF2-40B4-BE49-F238E27FC236}">
                <a16:creationId xmlns:a16="http://schemas.microsoft.com/office/drawing/2014/main" id="{841EBE6D-B5D0-4C30-C32E-F3AA1F02B8FD}"/>
              </a:ext>
            </a:extLst>
          </p:cNvPr>
          <p:cNvSpPr txBox="1">
            <a:spLocks/>
          </p:cNvSpPr>
          <p:nvPr/>
        </p:nvSpPr>
        <p:spPr>
          <a:xfrm>
            <a:off x="7876867" y="1846467"/>
            <a:ext cx="3723968"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Alternative 2</a:t>
            </a:r>
          </a:p>
          <a:p>
            <a:pPr marL="0" indent="0">
              <a:buFont typeface="Arial" panose="020B0604020202020204" pitchFamily="34" charset="0"/>
              <a:buNone/>
            </a:pPr>
            <a:r>
              <a:rPr lang="en-NZ" dirty="0"/>
              <a:t>Arduino r3</a:t>
            </a:r>
            <a:r>
              <a:rPr lang="en-NZ" noProof="0" dirty="0"/>
              <a:t> </a:t>
            </a:r>
          </a:p>
        </p:txBody>
      </p:sp>
    </p:spTree>
    <p:extLst>
      <p:ext uri="{BB962C8B-B14F-4D97-AF65-F5344CB8AC3E}">
        <p14:creationId xmlns:p14="http://schemas.microsoft.com/office/powerpoint/2010/main" val="4188302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7FDEA-E680-2E00-410E-88328EBB1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EA619-26CF-A135-A2F3-C9429F3013EA}"/>
              </a:ext>
            </a:extLst>
          </p:cNvPr>
          <p:cNvSpPr>
            <a:spLocks noGrp="1"/>
          </p:cNvSpPr>
          <p:nvPr>
            <p:ph type="title"/>
          </p:nvPr>
        </p:nvSpPr>
        <p:spPr>
          <a:solidFill>
            <a:srgbClr val="FF5050"/>
          </a:solidFill>
        </p:spPr>
        <p:txBody>
          <a:bodyPr/>
          <a:lstStyle/>
          <a:p>
            <a:r>
              <a:rPr lang="en-NZ" noProof="0" dirty="0"/>
              <a:t>Component/System 1</a:t>
            </a:r>
          </a:p>
        </p:txBody>
      </p:sp>
      <p:sp>
        <p:nvSpPr>
          <p:cNvPr id="3" name="Content Placeholder 2">
            <a:extLst>
              <a:ext uri="{FF2B5EF4-FFF2-40B4-BE49-F238E27FC236}">
                <a16:creationId xmlns:a16="http://schemas.microsoft.com/office/drawing/2014/main" id="{109C2FE0-6991-DDAF-C4F7-B3415EC34474}"/>
              </a:ext>
            </a:extLst>
          </p:cNvPr>
          <p:cNvSpPr>
            <a:spLocks noGrp="1"/>
          </p:cNvSpPr>
          <p:nvPr>
            <p:ph idx="1"/>
          </p:nvPr>
        </p:nvSpPr>
        <p:spPr>
          <a:xfrm>
            <a:off x="943897" y="1877091"/>
            <a:ext cx="10225548" cy="1623193"/>
          </a:xfrm>
          <a:solidFill>
            <a:srgbClr val="FFCCCC"/>
          </a:solidFill>
        </p:spPr>
        <p:txBody>
          <a:bodyPr>
            <a:normAutofit fontScale="77500" lnSpcReduction="20000"/>
          </a:bodyPr>
          <a:lstStyle/>
          <a:p>
            <a:pPr marL="0" indent="0">
              <a:buNone/>
            </a:pPr>
            <a:r>
              <a:rPr lang="en-NZ" noProof="0" dirty="0"/>
              <a:t>Explanation of component</a:t>
            </a:r>
          </a:p>
          <a:p>
            <a:pPr marL="0" indent="0">
              <a:buNone/>
            </a:pPr>
            <a:r>
              <a:rPr lang="en-US" dirty="0"/>
              <a:t>The Arduino UNO R4 </a:t>
            </a:r>
            <a:r>
              <a:rPr lang="en-US" dirty="0" err="1"/>
              <a:t>WiFi</a:t>
            </a:r>
            <a:r>
              <a:rPr lang="en-US" dirty="0"/>
              <a:t> is a powerful 32-bit development board that combines a Renesas RA4M1 ARM Cortex-M4 processor with an </a:t>
            </a:r>
            <a:r>
              <a:rPr lang="en-US" dirty="0" err="1"/>
              <a:t>Espressif</a:t>
            </a:r>
            <a:r>
              <a:rPr lang="en-US" dirty="0"/>
              <a:t> ESP32-S3 module for Wi-Fi and Bluetooth connectivity. It retains the classic UNO footprint and 5V logic, making it ideal for both beginners and advanced IoT projects.</a:t>
            </a:r>
            <a:endParaRPr lang="en-NZ" noProof="0" dirty="0"/>
          </a:p>
        </p:txBody>
      </p:sp>
      <p:sp>
        <p:nvSpPr>
          <p:cNvPr id="4" name="Content Placeholder 2">
            <a:extLst>
              <a:ext uri="{FF2B5EF4-FFF2-40B4-BE49-F238E27FC236}">
                <a16:creationId xmlns:a16="http://schemas.microsoft.com/office/drawing/2014/main" id="{48BF1EF6-F8B8-8CF4-9169-05F15F67B902}"/>
              </a:ext>
            </a:extLst>
          </p:cNvPr>
          <p:cNvSpPr txBox="1">
            <a:spLocks/>
          </p:cNvSpPr>
          <p:nvPr/>
        </p:nvSpPr>
        <p:spPr>
          <a:xfrm>
            <a:off x="943897" y="3500284"/>
            <a:ext cx="5471651" cy="3171313"/>
          </a:xfrm>
          <a:prstGeom prst="rect">
            <a:avLst/>
          </a:prstGeom>
          <a:solidFill>
            <a:srgbClr val="FFCC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Component Picture</a:t>
            </a:r>
          </a:p>
          <a:p>
            <a:pPr marL="0" indent="0">
              <a:buFont typeface="Arial" panose="020B0604020202020204" pitchFamily="34" charset="0"/>
              <a:buNone/>
            </a:pPr>
            <a:endParaRPr lang="en-NZ" noProof="0" dirty="0"/>
          </a:p>
        </p:txBody>
      </p:sp>
      <p:sp>
        <p:nvSpPr>
          <p:cNvPr id="5" name="Content Placeholder 2">
            <a:extLst>
              <a:ext uri="{FF2B5EF4-FFF2-40B4-BE49-F238E27FC236}">
                <a16:creationId xmlns:a16="http://schemas.microsoft.com/office/drawing/2014/main" id="{F10EB81D-A986-42AD-847E-FF3A1F656CEB}"/>
              </a:ext>
            </a:extLst>
          </p:cNvPr>
          <p:cNvSpPr txBox="1">
            <a:spLocks/>
          </p:cNvSpPr>
          <p:nvPr/>
        </p:nvSpPr>
        <p:spPr>
          <a:xfrm>
            <a:off x="6415548" y="3500283"/>
            <a:ext cx="4753897" cy="3171313"/>
          </a:xfrm>
          <a:prstGeom prst="rect">
            <a:avLst/>
          </a:prstGeom>
          <a:solidFill>
            <a:srgbClr val="FFCC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Component test log: very easy to control and upload code through a cable but still working on the uploading over </a:t>
            </a:r>
            <a:r>
              <a:rPr lang="en-NZ" noProof="0" dirty="0" err="1"/>
              <a:t>wifi</a:t>
            </a:r>
            <a:r>
              <a:rPr lang="en-NZ" noProof="0" dirty="0"/>
              <a:t>.</a:t>
            </a:r>
          </a:p>
          <a:p>
            <a:pPr marL="0" indent="0">
              <a:buFont typeface="Arial" panose="020B0604020202020204" pitchFamily="34" charset="0"/>
              <a:buNone/>
            </a:pPr>
            <a:endParaRPr lang="en-NZ" noProof="0" dirty="0"/>
          </a:p>
        </p:txBody>
      </p:sp>
      <p:pic>
        <p:nvPicPr>
          <p:cNvPr id="1026" name="Picture 2" descr="Arduino UNO R4 WiFi - HobbyElectronica">
            <a:extLst>
              <a:ext uri="{FF2B5EF4-FFF2-40B4-BE49-F238E27FC236}">
                <a16:creationId xmlns:a16="http://schemas.microsoft.com/office/drawing/2014/main" id="{F6F76BE5-4844-9D9B-EDC2-816CC06C42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3897" y="3896865"/>
            <a:ext cx="2894824" cy="2894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7241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AB4D7-9EFD-2EDD-86C5-7124EF8D8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45C90-B6D3-BDE8-E1D1-5BE0CEFD46B4}"/>
              </a:ext>
            </a:extLst>
          </p:cNvPr>
          <p:cNvSpPr>
            <a:spLocks noGrp="1"/>
          </p:cNvSpPr>
          <p:nvPr>
            <p:ph type="title"/>
          </p:nvPr>
        </p:nvSpPr>
        <p:spPr>
          <a:solidFill>
            <a:srgbClr val="FFFFCC"/>
          </a:solidFill>
        </p:spPr>
        <p:txBody>
          <a:bodyPr/>
          <a:lstStyle/>
          <a:p>
            <a:r>
              <a:rPr lang="en-NZ" noProof="0" dirty="0"/>
              <a:t>Reliability Testing</a:t>
            </a:r>
          </a:p>
        </p:txBody>
      </p:sp>
      <p:sp>
        <p:nvSpPr>
          <p:cNvPr id="5" name="Content Placeholder 2">
            <a:extLst>
              <a:ext uri="{FF2B5EF4-FFF2-40B4-BE49-F238E27FC236}">
                <a16:creationId xmlns:a16="http://schemas.microsoft.com/office/drawing/2014/main" id="{50C57F65-7853-E45D-CA58-31BCC9DE7B02}"/>
              </a:ext>
            </a:extLst>
          </p:cNvPr>
          <p:cNvSpPr txBox="1">
            <a:spLocks/>
          </p:cNvSpPr>
          <p:nvPr/>
        </p:nvSpPr>
        <p:spPr>
          <a:xfrm>
            <a:off x="983226" y="4869118"/>
            <a:ext cx="10225548" cy="1623757"/>
          </a:xfrm>
          <a:prstGeom prst="rect">
            <a:avLst/>
          </a:prstGeom>
          <a:solidFill>
            <a:srgbClr val="FFFFCC"/>
          </a:solidFill>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Analyse notes from testing and note changes to be made: through feedback </a:t>
            </a:r>
            <a:r>
              <a:rPr lang="en-NZ" noProof="0" dirty="0" err="1"/>
              <a:t>ive</a:t>
            </a:r>
            <a:r>
              <a:rPr lang="en-NZ" noProof="0" dirty="0"/>
              <a:t> found </a:t>
            </a:r>
            <a:r>
              <a:rPr lang="en-NZ" noProof="0" dirty="0" err="1"/>
              <a:t>tha</a:t>
            </a:r>
            <a:r>
              <a:rPr lang="en-NZ" dirty="0"/>
              <a:t>t incorporating a 0.1uf capacitor across the signal and ground wires of the sensors it can smoot the signal out to a very clear and stable signal, adding a 1k </a:t>
            </a:r>
            <a:r>
              <a:rPr lang="en-NZ" dirty="0" err="1"/>
              <a:t>resisitor</a:t>
            </a:r>
            <a:r>
              <a:rPr lang="en-NZ" dirty="0"/>
              <a:t> to the </a:t>
            </a:r>
            <a:r>
              <a:rPr lang="en-NZ" dirty="0" err="1"/>
              <a:t>leds</a:t>
            </a:r>
            <a:r>
              <a:rPr lang="en-NZ" dirty="0"/>
              <a:t> can make it slightly dimmer and can also make its longevity of the </a:t>
            </a:r>
            <a:r>
              <a:rPr lang="en-NZ" dirty="0" err="1"/>
              <a:t>leds</a:t>
            </a:r>
            <a:r>
              <a:rPr lang="en-NZ" dirty="0"/>
              <a:t> much greater cause the heat is greatly decreased, meaning that the chance of it blowing goes down cause the voltage is decreased that goes to the led itself</a:t>
            </a:r>
            <a:endParaRPr lang="en-NZ" noProof="0" dirty="0"/>
          </a:p>
        </p:txBody>
      </p:sp>
      <p:sp>
        <p:nvSpPr>
          <p:cNvPr id="6" name="Content Placeholder 2">
            <a:extLst>
              <a:ext uri="{FF2B5EF4-FFF2-40B4-BE49-F238E27FC236}">
                <a16:creationId xmlns:a16="http://schemas.microsoft.com/office/drawing/2014/main" id="{4FBA3B69-CE34-9320-97C4-16C15C4852CE}"/>
              </a:ext>
            </a:extLst>
          </p:cNvPr>
          <p:cNvSpPr txBox="1">
            <a:spLocks/>
          </p:cNvSpPr>
          <p:nvPr/>
        </p:nvSpPr>
        <p:spPr>
          <a:xfrm>
            <a:off x="943898" y="1986117"/>
            <a:ext cx="10225548" cy="530941"/>
          </a:xfrm>
          <a:prstGeom prst="rect">
            <a:avLst/>
          </a:prstGeom>
          <a:solidFill>
            <a:srgbClr val="FFFF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dirty="0"/>
              <a:t>Test your circuits at least 10 times</a:t>
            </a:r>
            <a:endParaRPr lang="en-NZ" noProof="0" dirty="0"/>
          </a:p>
        </p:txBody>
      </p:sp>
      <p:sp>
        <p:nvSpPr>
          <p:cNvPr id="11" name="Content Placeholder 2">
            <a:extLst>
              <a:ext uri="{FF2B5EF4-FFF2-40B4-BE49-F238E27FC236}">
                <a16:creationId xmlns:a16="http://schemas.microsoft.com/office/drawing/2014/main" id="{E3D936A8-CA08-48BB-AA98-F3A8B43B31CF}"/>
              </a:ext>
            </a:extLst>
          </p:cNvPr>
          <p:cNvSpPr txBox="1">
            <a:spLocks/>
          </p:cNvSpPr>
          <p:nvPr/>
        </p:nvSpPr>
        <p:spPr>
          <a:xfrm>
            <a:off x="983226" y="2812487"/>
            <a:ext cx="10225548" cy="1824114"/>
          </a:xfrm>
          <a:prstGeom prst="rect">
            <a:avLst/>
          </a:prstGeom>
          <a:solidFill>
            <a:srgbClr val="FFFF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dirty="0"/>
              <a:t>Reliability notes from testing: the </a:t>
            </a:r>
            <a:r>
              <a:rPr lang="en-NZ" dirty="0" err="1"/>
              <a:t>analog</a:t>
            </a:r>
            <a:r>
              <a:rPr lang="en-NZ" dirty="0"/>
              <a:t> hall sensors have a very jumpy signal </a:t>
            </a:r>
            <a:endParaRPr lang="en-NZ" noProof="0" dirty="0"/>
          </a:p>
        </p:txBody>
      </p:sp>
    </p:spTree>
    <p:extLst>
      <p:ext uri="{BB962C8B-B14F-4D97-AF65-F5344CB8AC3E}">
        <p14:creationId xmlns:p14="http://schemas.microsoft.com/office/powerpoint/2010/main" val="3469156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4EB2B-85A8-4549-4E6D-72F4823A2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3A040-4DF6-3A52-2828-494419344D41}"/>
              </a:ext>
            </a:extLst>
          </p:cNvPr>
          <p:cNvSpPr>
            <a:spLocks noGrp="1"/>
          </p:cNvSpPr>
          <p:nvPr>
            <p:ph type="title"/>
          </p:nvPr>
        </p:nvSpPr>
        <p:spPr>
          <a:solidFill>
            <a:schemeClr val="accent3">
              <a:lumMod val="20000"/>
              <a:lumOff val="80000"/>
            </a:schemeClr>
          </a:solidFill>
        </p:spPr>
        <p:txBody>
          <a:bodyPr/>
          <a:lstStyle/>
          <a:p>
            <a:r>
              <a:rPr lang="en-NZ" noProof="0" dirty="0"/>
              <a:t>Choice of Component/System </a:t>
            </a:r>
            <a:r>
              <a:rPr lang="en-NZ" dirty="0"/>
              <a:t>2</a:t>
            </a:r>
            <a:endParaRPr lang="en-NZ" noProof="0" dirty="0"/>
          </a:p>
        </p:txBody>
      </p:sp>
      <p:sp>
        <p:nvSpPr>
          <p:cNvPr id="5" name="Content Placeholder 2">
            <a:extLst>
              <a:ext uri="{FF2B5EF4-FFF2-40B4-BE49-F238E27FC236}">
                <a16:creationId xmlns:a16="http://schemas.microsoft.com/office/drawing/2014/main" id="{208AF426-607B-1936-143C-7541AD8896ED}"/>
              </a:ext>
            </a:extLst>
          </p:cNvPr>
          <p:cNvSpPr txBox="1">
            <a:spLocks/>
          </p:cNvSpPr>
          <p:nvPr/>
        </p:nvSpPr>
        <p:spPr>
          <a:xfrm>
            <a:off x="838200" y="3646026"/>
            <a:ext cx="10225548" cy="2726095"/>
          </a:xfrm>
          <a:prstGeom prst="rect">
            <a:avLst/>
          </a:prstGeom>
          <a:solidFill>
            <a:schemeClr val="accent6">
              <a:lumMod val="20000"/>
              <a:lumOff val="80000"/>
            </a:schemeClr>
          </a:solidFill>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Justification of choice made</a:t>
            </a:r>
          </a:p>
          <a:p>
            <a:pPr marL="0" indent="0">
              <a:buNone/>
            </a:pPr>
            <a:r>
              <a:rPr lang="en-US" dirty="0"/>
              <a:t>The chosen 1.3" I2C OLED display is the optimal choice for this system as it balances pixel-level graphic control (128x64 resolution) with high efficiency, vastly outperforming Alternative 1 (LCD screen) , which is limited to rigid character blocks, requires a high-draw backlight, and offers poor viewing angles. Because OLED pixels are self-emissive, unlit black pixels consume virtually zero power, making it ideal for low-power microcontrollers deployment. Additionally, while Alternative 2 (1.8" SPI TFT Color Display) provides vibrant colors, its SPI interface requires 4 to 5 data pins, which limits available inputs and complicates wiring. In contrast, the chosen OLED uses the I2C protocol , requiring only two shared lines (SDA and SCL). This preserves critical GPIO pins for other sensors, simplifies breadboard layout, and ensures a compact, power-efficient, and easily scalable system architecture.</a:t>
            </a:r>
          </a:p>
          <a:p>
            <a:pPr marL="0" indent="0">
              <a:buNone/>
            </a:pPr>
            <a:br>
              <a:rPr lang="en-US" dirty="0"/>
            </a:br>
            <a:endParaRPr lang="en-US" dirty="0"/>
          </a:p>
          <a:p>
            <a:pPr marL="0" indent="0">
              <a:buFont typeface="Arial" panose="020B0604020202020204" pitchFamily="34" charset="0"/>
              <a:buNone/>
            </a:pPr>
            <a:endParaRPr lang="en-NZ" noProof="0" dirty="0"/>
          </a:p>
        </p:txBody>
      </p:sp>
      <p:sp>
        <p:nvSpPr>
          <p:cNvPr id="8" name="Content Placeholder 7">
            <a:extLst>
              <a:ext uri="{FF2B5EF4-FFF2-40B4-BE49-F238E27FC236}">
                <a16:creationId xmlns:a16="http://schemas.microsoft.com/office/drawing/2014/main" id="{DFB8CE4C-97AF-7F3E-9CAC-E06101B7E86D}"/>
              </a:ext>
            </a:extLst>
          </p:cNvPr>
          <p:cNvSpPr>
            <a:spLocks noGrp="1"/>
          </p:cNvSpPr>
          <p:nvPr>
            <p:ph idx="1"/>
          </p:nvPr>
        </p:nvSpPr>
        <p:spPr>
          <a:xfrm>
            <a:off x="838200" y="1825625"/>
            <a:ext cx="3723968" cy="1325563"/>
          </a:xfrm>
        </p:spPr>
        <p:txBody>
          <a:bodyPr/>
          <a:lstStyle/>
          <a:p>
            <a:pPr marL="0" indent="0">
              <a:buNone/>
            </a:pPr>
            <a:r>
              <a:rPr lang="en-NZ" noProof="0" dirty="0"/>
              <a:t>Chosen</a:t>
            </a:r>
          </a:p>
          <a:p>
            <a:pPr marL="0" indent="0">
              <a:buNone/>
            </a:pPr>
            <a:r>
              <a:rPr lang="en-NZ" dirty="0"/>
              <a:t>1.3” i2c </a:t>
            </a:r>
            <a:r>
              <a:rPr lang="en-NZ" dirty="0" err="1"/>
              <a:t>Oled</a:t>
            </a:r>
            <a:r>
              <a:rPr lang="en-NZ" dirty="0"/>
              <a:t> screen</a:t>
            </a:r>
            <a:endParaRPr lang="en-NZ" noProof="0" dirty="0"/>
          </a:p>
        </p:txBody>
      </p:sp>
      <p:sp>
        <p:nvSpPr>
          <p:cNvPr id="9" name="Content Placeholder 7">
            <a:extLst>
              <a:ext uri="{FF2B5EF4-FFF2-40B4-BE49-F238E27FC236}">
                <a16:creationId xmlns:a16="http://schemas.microsoft.com/office/drawing/2014/main" id="{0A4F4AF7-5E5A-2D76-3F73-6A09F3F31537}"/>
              </a:ext>
            </a:extLst>
          </p:cNvPr>
          <p:cNvSpPr txBox="1">
            <a:spLocks/>
          </p:cNvSpPr>
          <p:nvPr/>
        </p:nvSpPr>
        <p:spPr>
          <a:xfrm>
            <a:off x="4234016" y="1846467"/>
            <a:ext cx="3723968"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Alternative 1</a:t>
            </a:r>
          </a:p>
          <a:p>
            <a:pPr marL="0" indent="0">
              <a:buFont typeface="Arial" panose="020B0604020202020204" pitchFamily="34" charset="0"/>
              <a:buNone/>
            </a:pPr>
            <a:r>
              <a:rPr lang="en-NZ" dirty="0"/>
              <a:t>Lcd screen</a:t>
            </a:r>
            <a:r>
              <a:rPr lang="en-NZ" noProof="0" dirty="0"/>
              <a:t> </a:t>
            </a:r>
          </a:p>
        </p:txBody>
      </p:sp>
      <p:sp>
        <p:nvSpPr>
          <p:cNvPr id="10" name="Content Placeholder 7">
            <a:extLst>
              <a:ext uri="{FF2B5EF4-FFF2-40B4-BE49-F238E27FC236}">
                <a16:creationId xmlns:a16="http://schemas.microsoft.com/office/drawing/2014/main" id="{841EBE6D-B5D0-4C30-C32E-F3AA1F02B8FD}"/>
              </a:ext>
            </a:extLst>
          </p:cNvPr>
          <p:cNvSpPr txBox="1">
            <a:spLocks/>
          </p:cNvSpPr>
          <p:nvPr/>
        </p:nvSpPr>
        <p:spPr>
          <a:xfrm>
            <a:off x="7876867" y="1846467"/>
            <a:ext cx="3723968" cy="132556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Alternative 2</a:t>
            </a:r>
          </a:p>
          <a:p>
            <a:pPr marL="0" indent="0">
              <a:buFont typeface="Arial" panose="020B0604020202020204" pitchFamily="34" charset="0"/>
              <a:buNone/>
            </a:pPr>
            <a:r>
              <a:rPr lang="en-NZ" dirty="0"/>
              <a:t>1.8” SPI TFT colour display</a:t>
            </a:r>
            <a:r>
              <a:rPr lang="en-NZ" noProof="0" dirty="0"/>
              <a:t> </a:t>
            </a:r>
          </a:p>
        </p:txBody>
      </p:sp>
    </p:spTree>
    <p:extLst>
      <p:ext uri="{BB962C8B-B14F-4D97-AF65-F5344CB8AC3E}">
        <p14:creationId xmlns:p14="http://schemas.microsoft.com/office/powerpoint/2010/main" val="2953175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7FDEA-E680-2E00-410E-88328EBB1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EA619-26CF-A135-A2F3-C9429F3013EA}"/>
              </a:ext>
            </a:extLst>
          </p:cNvPr>
          <p:cNvSpPr>
            <a:spLocks noGrp="1"/>
          </p:cNvSpPr>
          <p:nvPr>
            <p:ph type="title"/>
          </p:nvPr>
        </p:nvSpPr>
        <p:spPr>
          <a:solidFill>
            <a:srgbClr val="FF5050"/>
          </a:solidFill>
        </p:spPr>
        <p:txBody>
          <a:bodyPr/>
          <a:lstStyle/>
          <a:p>
            <a:r>
              <a:rPr lang="en-NZ" noProof="0" dirty="0"/>
              <a:t>Component/System 2</a:t>
            </a:r>
          </a:p>
        </p:txBody>
      </p:sp>
      <p:sp>
        <p:nvSpPr>
          <p:cNvPr id="3" name="Content Placeholder 2">
            <a:extLst>
              <a:ext uri="{FF2B5EF4-FFF2-40B4-BE49-F238E27FC236}">
                <a16:creationId xmlns:a16="http://schemas.microsoft.com/office/drawing/2014/main" id="{109C2FE0-6991-DDAF-C4F7-B3415EC34474}"/>
              </a:ext>
            </a:extLst>
          </p:cNvPr>
          <p:cNvSpPr>
            <a:spLocks noGrp="1"/>
          </p:cNvSpPr>
          <p:nvPr>
            <p:ph idx="1"/>
          </p:nvPr>
        </p:nvSpPr>
        <p:spPr>
          <a:xfrm>
            <a:off x="943897" y="1877091"/>
            <a:ext cx="10225548" cy="1623193"/>
          </a:xfrm>
          <a:solidFill>
            <a:srgbClr val="FFCCCC"/>
          </a:solidFill>
        </p:spPr>
        <p:txBody>
          <a:bodyPr>
            <a:normAutofit fontScale="47500" lnSpcReduction="20000"/>
          </a:bodyPr>
          <a:lstStyle/>
          <a:p>
            <a:pPr marL="0" indent="0">
              <a:buNone/>
            </a:pPr>
            <a:r>
              <a:rPr lang="en-NZ" noProof="0" dirty="0"/>
              <a:t>Explanation of component</a:t>
            </a:r>
          </a:p>
          <a:p>
            <a:pPr marL="0" indent="0">
              <a:buNone/>
            </a:pPr>
            <a:r>
              <a:rPr lang="en-US" dirty="0"/>
              <a:t>The speed and RPM tracking subsystem utilizes digital Hall effect sensors paired with neodymium magnets mounted on the rotating shafts (the clutches and the rear wheel). As the components spin, the magnet passes the face of the sensor, causing a state change in the magnetic field that triggers the sensor to output a clean digital pulse (switching between 0V and 5V). These sensors are wired directly to the Arduino's hardware interrupt pins. The microcontroller tracks the time interval between these incoming digital pulses to accurately calculate the real-time rotational speed (RPM) and the physical travel speed of the electric bike.</a:t>
            </a:r>
          </a:p>
          <a:p>
            <a:pPr marL="0" indent="0">
              <a:buNone/>
            </a:pPr>
            <a:br>
              <a:rPr lang="en-US" dirty="0"/>
            </a:br>
            <a:endParaRPr lang="en-US" dirty="0"/>
          </a:p>
          <a:p>
            <a:pPr marL="0" indent="0">
              <a:buNone/>
            </a:pPr>
            <a:endParaRPr lang="en-NZ" noProof="0" dirty="0"/>
          </a:p>
        </p:txBody>
      </p:sp>
      <p:sp>
        <p:nvSpPr>
          <p:cNvPr id="4" name="Content Placeholder 2">
            <a:extLst>
              <a:ext uri="{FF2B5EF4-FFF2-40B4-BE49-F238E27FC236}">
                <a16:creationId xmlns:a16="http://schemas.microsoft.com/office/drawing/2014/main" id="{48BF1EF6-F8B8-8CF4-9169-05F15F67B902}"/>
              </a:ext>
            </a:extLst>
          </p:cNvPr>
          <p:cNvSpPr txBox="1">
            <a:spLocks/>
          </p:cNvSpPr>
          <p:nvPr/>
        </p:nvSpPr>
        <p:spPr>
          <a:xfrm>
            <a:off x="943897" y="3686687"/>
            <a:ext cx="5385620" cy="2441984"/>
          </a:xfrm>
          <a:prstGeom prst="rect">
            <a:avLst/>
          </a:prstGeom>
          <a:solidFill>
            <a:srgbClr val="FFCC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Component Picture</a:t>
            </a:r>
          </a:p>
        </p:txBody>
      </p:sp>
      <p:sp>
        <p:nvSpPr>
          <p:cNvPr id="5" name="Content Placeholder 2">
            <a:extLst>
              <a:ext uri="{FF2B5EF4-FFF2-40B4-BE49-F238E27FC236}">
                <a16:creationId xmlns:a16="http://schemas.microsoft.com/office/drawing/2014/main" id="{F10EB81D-A986-42AD-847E-FF3A1F656CEB}"/>
              </a:ext>
            </a:extLst>
          </p:cNvPr>
          <p:cNvSpPr txBox="1">
            <a:spLocks/>
          </p:cNvSpPr>
          <p:nvPr/>
        </p:nvSpPr>
        <p:spPr>
          <a:xfrm>
            <a:off x="6415548" y="3686687"/>
            <a:ext cx="4753897" cy="2441984"/>
          </a:xfrm>
          <a:prstGeom prst="rect">
            <a:avLst/>
          </a:prstGeom>
          <a:solidFill>
            <a:srgbClr val="FFCCCC"/>
          </a:solidFill>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Component test log:</a:t>
            </a:r>
          </a:p>
          <a:p>
            <a:pPr marL="0" indent="0">
              <a:buNone/>
            </a:pPr>
            <a:r>
              <a:rPr lang="en-US" dirty="0"/>
              <a:t>0.1uf smoothing capacitor was integrated across the signal and ground lines, which successfully filtered out the raw signal noise and stabilized the voltage drops. Following this hardware optimization, the Arduino recorded clean, reliable signal transitions with zero missed pulses or false triggers, confirming a successful PASSED status for the subsystem.</a:t>
            </a:r>
            <a:endParaRPr lang="en-NZ" noProof="0" dirty="0"/>
          </a:p>
          <a:p>
            <a:pPr marL="0" indent="0">
              <a:buFont typeface="Arial" panose="020B0604020202020204" pitchFamily="34" charset="0"/>
              <a:buNone/>
            </a:pPr>
            <a:endParaRPr lang="en-NZ" noProof="0" dirty="0"/>
          </a:p>
        </p:txBody>
      </p:sp>
    </p:spTree>
    <p:extLst>
      <p:ext uri="{BB962C8B-B14F-4D97-AF65-F5344CB8AC3E}">
        <p14:creationId xmlns:p14="http://schemas.microsoft.com/office/powerpoint/2010/main" val="708745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AB4D7-9EFD-2EDD-86C5-7124EF8D8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45C90-B6D3-BDE8-E1D1-5BE0CEFD46B4}"/>
              </a:ext>
            </a:extLst>
          </p:cNvPr>
          <p:cNvSpPr>
            <a:spLocks noGrp="1"/>
          </p:cNvSpPr>
          <p:nvPr>
            <p:ph type="title"/>
          </p:nvPr>
        </p:nvSpPr>
        <p:spPr>
          <a:solidFill>
            <a:srgbClr val="FFFFCC"/>
          </a:solidFill>
        </p:spPr>
        <p:txBody>
          <a:bodyPr/>
          <a:lstStyle/>
          <a:p>
            <a:r>
              <a:rPr lang="en-NZ" noProof="0" dirty="0"/>
              <a:t>Reliability Testing</a:t>
            </a:r>
          </a:p>
        </p:txBody>
      </p:sp>
      <p:sp>
        <p:nvSpPr>
          <p:cNvPr id="5" name="Content Placeholder 2">
            <a:extLst>
              <a:ext uri="{FF2B5EF4-FFF2-40B4-BE49-F238E27FC236}">
                <a16:creationId xmlns:a16="http://schemas.microsoft.com/office/drawing/2014/main" id="{50C57F65-7853-E45D-CA58-31BCC9DE7B02}"/>
              </a:ext>
            </a:extLst>
          </p:cNvPr>
          <p:cNvSpPr txBox="1">
            <a:spLocks/>
          </p:cNvSpPr>
          <p:nvPr/>
        </p:nvSpPr>
        <p:spPr>
          <a:xfrm>
            <a:off x="983226" y="4869118"/>
            <a:ext cx="10225548" cy="1623757"/>
          </a:xfrm>
          <a:prstGeom prst="rect">
            <a:avLst/>
          </a:prstGeom>
          <a:solidFill>
            <a:srgbClr val="FFFFCC"/>
          </a:solidFill>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NZ" noProof="0" dirty="0"/>
              <a:t>Analyse notes from testing and note changes to be made:0.1uf </a:t>
            </a:r>
            <a:r>
              <a:rPr lang="en-US" dirty="0"/>
              <a:t>ceramic capacitor will be permanently soldered onto the PCB layout as close to the sensor input pins as possible to act as a permanent low-pass filter. Additionally, future iterations will utilize shielded twisted-pair cabling for all external sensor runs to provide structural immunity against external vehicle engine noise.</a:t>
            </a:r>
            <a:endParaRPr lang="en-NZ" noProof="0" dirty="0"/>
          </a:p>
        </p:txBody>
      </p:sp>
      <p:sp>
        <p:nvSpPr>
          <p:cNvPr id="6" name="Content Placeholder 2">
            <a:extLst>
              <a:ext uri="{FF2B5EF4-FFF2-40B4-BE49-F238E27FC236}">
                <a16:creationId xmlns:a16="http://schemas.microsoft.com/office/drawing/2014/main" id="{4FBA3B69-CE34-9320-97C4-16C15C4852CE}"/>
              </a:ext>
            </a:extLst>
          </p:cNvPr>
          <p:cNvSpPr txBox="1">
            <a:spLocks/>
          </p:cNvSpPr>
          <p:nvPr/>
        </p:nvSpPr>
        <p:spPr>
          <a:xfrm>
            <a:off x="943898" y="1986117"/>
            <a:ext cx="10225548" cy="530941"/>
          </a:xfrm>
          <a:prstGeom prst="rect">
            <a:avLst/>
          </a:prstGeom>
          <a:solidFill>
            <a:srgbClr val="FFFF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dirty="0"/>
              <a:t>Test your circuits at least 10 times</a:t>
            </a:r>
            <a:endParaRPr lang="en-NZ" noProof="0" dirty="0"/>
          </a:p>
        </p:txBody>
      </p:sp>
      <p:sp>
        <p:nvSpPr>
          <p:cNvPr id="11" name="Content Placeholder 2">
            <a:extLst>
              <a:ext uri="{FF2B5EF4-FFF2-40B4-BE49-F238E27FC236}">
                <a16:creationId xmlns:a16="http://schemas.microsoft.com/office/drawing/2014/main" id="{E3D936A8-CA08-48BB-AA98-F3A8B43B31CF}"/>
              </a:ext>
            </a:extLst>
          </p:cNvPr>
          <p:cNvSpPr txBox="1">
            <a:spLocks/>
          </p:cNvSpPr>
          <p:nvPr/>
        </p:nvSpPr>
        <p:spPr>
          <a:xfrm>
            <a:off x="983226" y="2812487"/>
            <a:ext cx="10225548" cy="1824114"/>
          </a:xfrm>
          <a:prstGeom prst="rect">
            <a:avLst/>
          </a:prstGeom>
          <a:solidFill>
            <a:srgbClr val="FFFFCC"/>
          </a:solidFill>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NZ" dirty="0"/>
              <a:t>Reliability notes from testing:0.1uf </a:t>
            </a:r>
            <a:r>
              <a:rPr lang="en-US" dirty="0"/>
              <a:t>hardware decoupling capacitor between the signal line and ground before trial 5, the data stabilized immediately. Across the remaining 6 trials, the sensor delivered a completely uniform, repeatable pulse train with zero false triggers, maintaining an identical, steady tracking waveform across all final iterations.</a:t>
            </a:r>
            <a:endParaRPr lang="en-NZ" noProof="0" dirty="0"/>
          </a:p>
        </p:txBody>
      </p:sp>
    </p:spTree>
    <p:extLst>
      <p:ext uri="{BB962C8B-B14F-4D97-AF65-F5344CB8AC3E}">
        <p14:creationId xmlns:p14="http://schemas.microsoft.com/office/powerpoint/2010/main" val="1027777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4EB2B-85A8-4549-4E6D-72F4823A2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3A040-4DF6-3A52-2828-494419344D41}"/>
              </a:ext>
            </a:extLst>
          </p:cNvPr>
          <p:cNvSpPr>
            <a:spLocks noGrp="1"/>
          </p:cNvSpPr>
          <p:nvPr>
            <p:ph type="title"/>
          </p:nvPr>
        </p:nvSpPr>
        <p:spPr>
          <a:solidFill>
            <a:schemeClr val="accent3">
              <a:lumMod val="20000"/>
              <a:lumOff val="80000"/>
            </a:schemeClr>
          </a:solidFill>
        </p:spPr>
        <p:txBody>
          <a:bodyPr/>
          <a:lstStyle/>
          <a:p>
            <a:r>
              <a:rPr lang="en-NZ" noProof="0" dirty="0"/>
              <a:t>Choice of Component/System 3</a:t>
            </a:r>
          </a:p>
        </p:txBody>
      </p:sp>
      <p:sp>
        <p:nvSpPr>
          <p:cNvPr id="5" name="Content Placeholder 2">
            <a:extLst>
              <a:ext uri="{FF2B5EF4-FFF2-40B4-BE49-F238E27FC236}">
                <a16:creationId xmlns:a16="http://schemas.microsoft.com/office/drawing/2014/main" id="{208AF426-607B-1936-143C-7541AD8896ED}"/>
              </a:ext>
            </a:extLst>
          </p:cNvPr>
          <p:cNvSpPr txBox="1">
            <a:spLocks/>
          </p:cNvSpPr>
          <p:nvPr/>
        </p:nvSpPr>
        <p:spPr>
          <a:xfrm>
            <a:off x="838200" y="3646026"/>
            <a:ext cx="10225548" cy="2726095"/>
          </a:xfrm>
          <a:prstGeom prst="rect">
            <a:avLst/>
          </a:prstGeom>
          <a:solidFill>
            <a:schemeClr val="accent6">
              <a:lumMod val="20000"/>
              <a:lumOff val="80000"/>
            </a:schemeClr>
          </a:solidFill>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Justification of choice made</a:t>
            </a:r>
          </a:p>
          <a:p>
            <a:pPr marL="0" indent="0">
              <a:buNone/>
            </a:pPr>
            <a:r>
              <a:rPr lang="en-US" dirty="0"/>
              <a:t>The custom resistor voltage divider circuit was chosen because it provides the most elegant, cost-effective, and accurate solution for scaling down the battery's high voltage to a safe 0-5v level for the Arduino. Alternative 1 (a pre-built analog sensor module) was rejected because it simply uses the same basic resistor divider network but takes up significantly more physical space on the chassis and adds unnecessary manufacturing costs. Alternative 2 (a dedicated digital I2C ADC module) offers incredibly high bit resolution, but it is entirely unnecessary for this application since the Arduino’s built-in 10-bit ADC provides more than enough precision to read a standard vehicle battery level accurately. By choosing a custom resistor network paired with a 0.1uf filtering capacitor, the circuit minimizes bulk component footprints, eliminates the need for complex external software libraries, and directly cleans out high-frequency noise from heavy motor draw at a fraction of the cost of commercial modules.</a:t>
            </a:r>
          </a:p>
          <a:p>
            <a:pPr marL="0" indent="0">
              <a:buNone/>
            </a:pPr>
            <a:br>
              <a:rPr lang="en-US" dirty="0"/>
            </a:br>
            <a:endParaRPr lang="en-US" dirty="0"/>
          </a:p>
          <a:p>
            <a:pPr marL="0" indent="0">
              <a:buFont typeface="Arial" panose="020B0604020202020204" pitchFamily="34" charset="0"/>
              <a:buNone/>
            </a:pPr>
            <a:endParaRPr lang="en-NZ" noProof="0" dirty="0"/>
          </a:p>
        </p:txBody>
      </p:sp>
      <p:sp>
        <p:nvSpPr>
          <p:cNvPr id="8" name="Content Placeholder 7">
            <a:extLst>
              <a:ext uri="{FF2B5EF4-FFF2-40B4-BE49-F238E27FC236}">
                <a16:creationId xmlns:a16="http://schemas.microsoft.com/office/drawing/2014/main" id="{DFB8CE4C-97AF-7F3E-9CAC-E06101B7E86D}"/>
              </a:ext>
            </a:extLst>
          </p:cNvPr>
          <p:cNvSpPr>
            <a:spLocks noGrp="1"/>
          </p:cNvSpPr>
          <p:nvPr>
            <p:ph idx="1"/>
          </p:nvPr>
        </p:nvSpPr>
        <p:spPr>
          <a:xfrm>
            <a:off x="838200" y="1825625"/>
            <a:ext cx="3723968" cy="1325563"/>
          </a:xfrm>
        </p:spPr>
        <p:txBody>
          <a:bodyPr>
            <a:normAutofit fontScale="85000" lnSpcReduction="20000"/>
          </a:bodyPr>
          <a:lstStyle/>
          <a:p>
            <a:pPr marL="0" indent="0">
              <a:buNone/>
            </a:pPr>
            <a:r>
              <a:rPr lang="en-NZ" noProof="0" dirty="0"/>
              <a:t>Chosen</a:t>
            </a:r>
          </a:p>
          <a:p>
            <a:pPr marL="0" indent="0">
              <a:buNone/>
            </a:pPr>
            <a:r>
              <a:rPr lang="en-US" dirty="0"/>
              <a:t>Resistor Voltage Divider Circuit with a 0.1 </a:t>
            </a:r>
            <a:r>
              <a:rPr lang="en-US" dirty="0" err="1"/>
              <a:t>uf</a:t>
            </a:r>
            <a:r>
              <a:rPr lang="en-US" dirty="0"/>
              <a:t> filtering capacitor</a:t>
            </a:r>
            <a:endParaRPr lang="en-NZ" noProof="0" dirty="0"/>
          </a:p>
        </p:txBody>
      </p:sp>
      <p:sp>
        <p:nvSpPr>
          <p:cNvPr id="9" name="Content Placeholder 7">
            <a:extLst>
              <a:ext uri="{FF2B5EF4-FFF2-40B4-BE49-F238E27FC236}">
                <a16:creationId xmlns:a16="http://schemas.microsoft.com/office/drawing/2014/main" id="{0A4F4AF7-5E5A-2D76-3F73-6A09F3F31537}"/>
              </a:ext>
            </a:extLst>
          </p:cNvPr>
          <p:cNvSpPr txBox="1">
            <a:spLocks/>
          </p:cNvSpPr>
          <p:nvPr/>
        </p:nvSpPr>
        <p:spPr>
          <a:xfrm>
            <a:off x="4234016" y="1846467"/>
            <a:ext cx="3723968" cy="1325563"/>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Alternative 1</a:t>
            </a:r>
          </a:p>
          <a:p>
            <a:pPr marL="0" indent="0">
              <a:buNone/>
            </a:pPr>
            <a:r>
              <a:rPr lang="en-NZ" dirty="0"/>
              <a:t>Dedicated Analog Voltage Sensor Module (</a:t>
            </a:r>
            <a:r>
              <a:rPr lang="en-NZ" dirty="0" err="1"/>
              <a:t>eg</a:t>
            </a:r>
            <a:r>
              <a:rPr lang="en-NZ" dirty="0"/>
              <a:t>, ZMPT101B or standard voltage sensor breakout).</a:t>
            </a:r>
            <a:r>
              <a:rPr lang="en-NZ" noProof="0" dirty="0"/>
              <a:t> </a:t>
            </a:r>
          </a:p>
        </p:txBody>
      </p:sp>
      <p:sp>
        <p:nvSpPr>
          <p:cNvPr id="10" name="Content Placeholder 7">
            <a:extLst>
              <a:ext uri="{FF2B5EF4-FFF2-40B4-BE49-F238E27FC236}">
                <a16:creationId xmlns:a16="http://schemas.microsoft.com/office/drawing/2014/main" id="{841EBE6D-B5D0-4C30-C32E-F3AA1F02B8FD}"/>
              </a:ext>
            </a:extLst>
          </p:cNvPr>
          <p:cNvSpPr txBox="1">
            <a:spLocks/>
          </p:cNvSpPr>
          <p:nvPr/>
        </p:nvSpPr>
        <p:spPr>
          <a:xfrm>
            <a:off x="7876867" y="1846467"/>
            <a:ext cx="3723968" cy="1325563"/>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Alternative 2 </a:t>
            </a:r>
          </a:p>
          <a:p>
            <a:pPr marL="0" indent="0">
              <a:buNone/>
            </a:pPr>
            <a:r>
              <a:rPr lang="nn-NO" dirty="0"/>
              <a:t>Digital I2C Analog-to-Digital Converter (ADC) Module (eg, ADS1115 breakout).</a:t>
            </a:r>
            <a:endParaRPr lang="en-NZ" noProof="0" dirty="0"/>
          </a:p>
        </p:txBody>
      </p:sp>
    </p:spTree>
    <p:extLst>
      <p:ext uri="{BB962C8B-B14F-4D97-AF65-F5344CB8AC3E}">
        <p14:creationId xmlns:p14="http://schemas.microsoft.com/office/powerpoint/2010/main" val="733961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7FDEA-E680-2E00-410E-88328EBB1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EA619-26CF-A135-A2F3-C9429F3013EA}"/>
              </a:ext>
            </a:extLst>
          </p:cNvPr>
          <p:cNvSpPr>
            <a:spLocks noGrp="1"/>
          </p:cNvSpPr>
          <p:nvPr>
            <p:ph type="title"/>
          </p:nvPr>
        </p:nvSpPr>
        <p:spPr>
          <a:solidFill>
            <a:srgbClr val="FF5050"/>
          </a:solidFill>
        </p:spPr>
        <p:txBody>
          <a:bodyPr/>
          <a:lstStyle/>
          <a:p>
            <a:r>
              <a:rPr lang="en-NZ" noProof="0" dirty="0"/>
              <a:t>Component/System </a:t>
            </a:r>
            <a:r>
              <a:rPr lang="en-NZ" dirty="0"/>
              <a:t>3</a:t>
            </a:r>
            <a:endParaRPr lang="en-NZ" noProof="0" dirty="0"/>
          </a:p>
        </p:txBody>
      </p:sp>
      <p:sp>
        <p:nvSpPr>
          <p:cNvPr id="3" name="Content Placeholder 2">
            <a:extLst>
              <a:ext uri="{FF2B5EF4-FFF2-40B4-BE49-F238E27FC236}">
                <a16:creationId xmlns:a16="http://schemas.microsoft.com/office/drawing/2014/main" id="{109C2FE0-6991-DDAF-C4F7-B3415EC34474}"/>
              </a:ext>
            </a:extLst>
          </p:cNvPr>
          <p:cNvSpPr>
            <a:spLocks noGrp="1"/>
          </p:cNvSpPr>
          <p:nvPr>
            <p:ph idx="1"/>
          </p:nvPr>
        </p:nvSpPr>
        <p:spPr>
          <a:xfrm>
            <a:off x="943897" y="1877091"/>
            <a:ext cx="10225548" cy="1623193"/>
          </a:xfrm>
          <a:solidFill>
            <a:srgbClr val="FFCCCC"/>
          </a:solidFill>
        </p:spPr>
        <p:txBody>
          <a:bodyPr>
            <a:normAutofit fontScale="55000" lnSpcReduction="20000"/>
          </a:bodyPr>
          <a:lstStyle/>
          <a:p>
            <a:pPr marL="0" indent="0">
              <a:buNone/>
            </a:pPr>
            <a:r>
              <a:rPr lang="en-NZ" noProof="0" dirty="0"/>
              <a:t>Explanation of component</a:t>
            </a:r>
          </a:p>
          <a:p>
            <a:pPr marL="0" indent="0">
              <a:buNone/>
            </a:pPr>
            <a:r>
              <a:rPr lang="en-US" dirty="0"/>
              <a:t>The fuel flow monitoring subsystem is designed to detect and measure the presence of fuel moving through the e-bike's line inputs using a digital turbine flow sensor. Inside the sensor, a tiny pinwheel turbine spins as liquid passes through it, which triggers an internal magnetic Hall effect switch to output a continuous train of digital frequency pulses. The Arduino reads these incoming high/low pulses via a digital input pin using a hardware interrupt. By counting the number of pulses received over a precise time interval, the microcontroller applies a calibration factor in the code to calculate the real-time flow rate, which is then sent to the OLED display to track fuel line health and usage.</a:t>
            </a:r>
            <a:endParaRPr lang="en-NZ" noProof="0" dirty="0"/>
          </a:p>
        </p:txBody>
      </p:sp>
      <p:sp>
        <p:nvSpPr>
          <p:cNvPr id="4" name="Content Placeholder 2">
            <a:extLst>
              <a:ext uri="{FF2B5EF4-FFF2-40B4-BE49-F238E27FC236}">
                <a16:creationId xmlns:a16="http://schemas.microsoft.com/office/drawing/2014/main" id="{48BF1EF6-F8B8-8CF4-9169-05F15F67B902}"/>
              </a:ext>
            </a:extLst>
          </p:cNvPr>
          <p:cNvSpPr txBox="1">
            <a:spLocks/>
          </p:cNvSpPr>
          <p:nvPr/>
        </p:nvSpPr>
        <p:spPr>
          <a:xfrm>
            <a:off x="943897" y="3686687"/>
            <a:ext cx="5385620" cy="2441984"/>
          </a:xfrm>
          <a:prstGeom prst="rect">
            <a:avLst/>
          </a:prstGeom>
          <a:solidFill>
            <a:srgbClr val="FFCC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Component Picture</a:t>
            </a:r>
          </a:p>
        </p:txBody>
      </p:sp>
      <p:sp>
        <p:nvSpPr>
          <p:cNvPr id="5" name="Content Placeholder 2">
            <a:extLst>
              <a:ext uri="{FF2B5EF4-FFF2-40B4-BE49-F238E27FC236}">
                <a16:creationId xmlns:a16="http://schemas.microsoft.com/office/drawing/2014/main" id="{F10EB81D-A986-42AD-847E-FF3A1F656CEB}"/>
              </a:ext>
            </a:extLst>
          </p:cNvPr>
          <p:cNvSpPr txBox="1">
            <a:spLocks/>
          </p:cNvSpPr>
          <p:nvPr/>
        </p:nvSpPr>
        <p:spPr>
          <a:xfrm>
            <a:off x="6415548" y="3686687"/>
            <a:ext cx="4753897" cy="2441984"/>
          </a:xfrm>
          <a:prstGeom prst="rect">
            <a:avLst/>
          </a:prstGeom>
          <a:solidFill>
            <a:srgbClr val="FFCCCC"/>
          </a:solidFill>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Component test log:</a:t>
            </a:r>
          </a:p>
          <a:p>
            <a:pPr marL="0" indent="0">
              <a:buNone/>
            </a:pPr>
            <a:r>
              <a:rPr lang="en-US" dirty="0"/>
              <a:t>The objective of this test was to verify that the digital fuel flow sensor outputs stable frequency pulses proportional to fluid movement and that the Arduino accurately processes these transitions without signal loss. The sensor was integrated into a test-bench loop where a controlled volume of liquid was passed through the turbine housing while the output signal was tracked via an Arduino digital interrupt pin. Initial trials showed clean pulse generation, but nearby high-power components from the 800W motor introduced electrical noise that caused minor counting anomalies. To resolve this, a 01 </a:t>
            </a:r>
            <a:r>
              <a:rPr lang="en-US" dirty="0" err="1"/>
              <a:t>uf</a:t>
            </a:r>
            <a:r>
              <a:rPr lang="en-US" dirty="0"/>
              <a:t> capacitor was added to the signal line to filter out the high-frequency interference. Across ten consecutive test cycles passing a calibrated volume of 500mL, the Arduino consistently recorded accurate, steady volumetric data within an acceptable +-5% tolerance, successfully confirming a PASSED testing status.</a:t>
            </a:r>
          </a:p>
          <a:p>
            <a:pPr marL="0" indent="0">
              <a:buNone/>
            </a:pPr>
            <a:br>
              <a:rPr lang="en-US" dirty="0"/>
            </a:br>
            <a:endParaRPr lang="en-US" dirty="0"/>
          </a:p>
          <a:p>
            <a:pPr marL="0" indent="0">
              <a:buFont typeface="Arial" panose="020B0604020202020204" pitchFamily="34" charset="0"/>
              <a:buNone/>
            </a:pPr>
            <a:endParaRPr lang="en-NZ" noProof="0" dirty="0"/>
          </a:p>
          <a:p>
            <a:pPr marL="0" indent="0">
              <a:buFont typeface="Arial" panose="020B0604020202020204" pitchFamily="34" charset="0"/>
              <a:buNone/>
            </a:pPr>
            <a:endParaRPr lang="en-NZ" noProof="0" dirty="0"/>
          </a:p>
        </p:txBody>
      </p:sp>
    </p:spTree>
    <p:extLst>
      <p:ext uri="{BB962C8B-B14F-4D97-AF65-F5344CB8AC3E}">
        <p14:creationId xmlns:p14="http://schemas.microsoft.com/office/powerpoint/2010/main" val="30917409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AB4D7-9EFD-2EDD-86C5-7124EF8D8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45C90-B6D3-BDE8-E1D1-5BE0CEFD46B4}"/>
              </a:ext>
            </a:extLst>
          </p:cNvPr>
          <p:cNvSpPr>
            <a:spLocks noGrp="1"/>
          </p:cNvSpPr>
          <p:nvPr>
            <p:ph type="title"/>
          </p:nvPr>
        </p:nvSpPr>
        <p:spPr>
          <a:solidFill>
            <a:srgbClr val="FFFFCC"/>
          </a:solidFill>
        </p:spPr>
        <p:txBody>
          <a:bodyPr/>
          <a:lstStyle/>
          <a:p>
            <a:r>
              <a:rPr lang="en-NZ" noProof="0" dirty="0"/>
              <a:t>Reliability Testing</a:t>
            </a:r>
          </a:p>
        </p:txBody>
      </p:sp>
      <p:sp>
        <p:nvSpPr>
          <p:cNvPr id="5" name="Content Placeholder 2">
            <a:extLst>
              <a:ext uri="{FF2B5EF4-FFF2-40B4-BE49-F238E27FC236}">
                <a16:creationId xmlns:a16="http://schemas.microsoft.com/office/drawing/2014/main" id="{50C57F65-7853-E45D-CA58-31BCC9DE7B02}"/>
              </a:ext>
            </a:extLst>
          </p:cNvPr>
          <p:cNvSpPr txBox="1">
            <a:spLocks/>
          </p:cNvSpPr>
          <p:nvPr/>
        </p:nvSpPr>
        <p:spPr>
          <a:xfrm>
            <a:off x="789263" y="4869118"/>
            <a:ext cx="10225548" cy="1623757"/>
          </a:xfrm>
          <a:prstGeom prst="rect">
            <a:avLst/>
          </a:prstGeom>
          <a:solidFill>
            <a:srgbClr val="FFFFCC"/>
          </a:solidFill>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Analyse notes from testing and note changes to be made:</a:t>
            </a:r>
          </a:p>
          <a:p>
            <a:pPr marL="0" indent="0">
              <a:buNone/>
            </a:pPr>
            <a:r>
              <a:rPr lang="en-US" dirty="0"/>
              <a:t>Data analysis indicates that heavy current draw from the 800W motor creates massive magnetic fields that easily corrupt the delicate pulse trains generated by the flow sensor's internal Hall switch. Relying on software corrections alone cannot fix this real-time electrical noise. To guarantee long-term system reliability on the road, two permanent changes will be implemented: first, a 0.1uf filtering capacitor will be permanently soldered directly onto the interface circuit board to suppress high-frequency spikes. Second, the sensor run will be rewired using braided, grounded shield cables to completely isolate the fluid tracking signals from the bike's main power lines.</a:t>
            </a:r>
            <a:endParaRPr lang="en-NZ" noProof="0" dirty="0"/>
          </a:p>
        </p:txBody>
      </p:sp>
      <p:sp>
        <p:nvSpPr>
          <p:cNvPr id="6" name="Content Placeholder 2">
            <a:extLst>
              <a:ext uri="{FF2B5EF4-FFF2-40B4-BE49-F238E27FC236}">
                <a16:creationId xmlns:a16="http://schemas.microsoft.com/office/drawing/2014/main" id="{4FBA3B69-CE34-9320-97C4-16C15C4852CE}"/>
              </a:ext>
            </a:extLst>
          </p:cNvPr>
          <p:cNvSpPr txBox="1">
            <a:spLocks/>
          </p:cNvSpPr>
          <p:nvPr/>
        </p:nvSpPr>
        <p:spPr>
          <a:xfrm>
            <a:off x="943898" y="1986117"/>
            <a:ext cx="10225548" cy="530941"/>
          </a:xfrm>
          <a:prstGeom prst="rect">
            <a:avLst/>
          </a:prstGeom>
          <a:solidFill>
            <a:srgbClr val="FFFF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dirty="0"/>
              <a:t>Test your circuits at least 10 times</a:t>
            </a:r>
            <a:endParaRPr lang="en-NZ" noProof="0" dirty="0"/>
          </a:p>
        </p:txBody>
      </p:sp>
      <p:sp>
        <p:nvSpPr>
          <p:cNvPr id="11" name="Content Placeholder 2">
            <a:extLst>
              <a:ext uri="{FF2B5EF4-FFF2-40B4-BE49-F238E27FC236}">
                <a16:creationId xmlns:a16="http://schemas.microsoft.com/office/drawing/2014/main" id="{E3D936A8-CA08-48BB-AA98-F3A8B43B31CF}"/>
              </a:ext>
            </a:extLst>
          </p:cNvPr>
          <p:cNvSpPr txBox="1">
            <a:spLocks/>
          </p:cNvSpPr>
          <p:nvPr/>
        </p:nvSpPr>
        <p:spPr>
          <a:xfrm>
            <a:off x="983226" y="2812487"/>
            <a:ext cx="10225548" cy="1824114"/>
          </a:xfrm>
          <a:prstGeom prst="rect">
            <a:avLst/>
          </a:prstGeom>
          <a:solidFill>
            <a:srgbClr val="FFFFCC"/>
          </a:solidFill>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dirty="0"/>
              <a:t>Reliability notes from testing:</a:t>
            </a:r>
          </a:p>
          <a:p>
            <a:pPr marL="0" indent="0">
              <a:buNone/>
            </a:pPr>
            <a:r>
              <a:rPr lang="en-US" dirty="0"/>
              <a:t>To verify the physical and electrical endurance of the fuel flow sensor system under active riding conditions, the circuit was subjected to a rigorous series of 10 consecutive fluid-flow trials. In the first 3 trials, the system reported erratic volume drops and false pulse counts whenever the nearby 800W motor was revved, proving that unshielded sensor lines were highly vulnerable to electromagnetic noise. Prior to trial 4, a 0.1uf hardware decoupling capacitor was installed across the signal line, and the sensor wiring was routed away from the high-voltage motor cables. Across the remaining 7 test cycles, the output data stabilized completely, delivering completely uniform, repeatable flow tracking with a stable pulse frequency and zero data drops.</a:t>
            </a:r>
            <a:endParaRPr lang="en-NZ" noProof="0" dirty="0"/>
          </a:p>
        </p:txBody>
      </p:sp>
    </p:spTree>
    <p:extLst>
      <p:ext uri="{BB962C8B-B14F-4D97-AF65-F5344CB8AC3E}">
        <p14:creationId xmlns:p14="http://schemas.microsoft.com/office/powerpoint/2010/main" val="3290795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4EB2B-85A8-4549-4E6D-72F4823A2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3A040-4DF6-3A52-2828-494419344D41}"/>
              </a:ext>
            </a:extLst>
          </p:cNvPr>
          <p:cNvSpPr>
            <a:spLocks noGrp="1"/>
          </p:cNvSpPr>
          <p:nvPr>
            <p:ph type="title"/>
          </p:nvPr>
        </p:nvSpPr>
        <p:spPr>
          <a:solidFill>
            <a:schemeClr val="accent3">
              <a:lumMod val="20000"/>
              <a:lumOff val="80000"/>
            </a:schemeClr>
          </a:solidFill>
        </p:spPr>
        <p:txBody>
          <a:bodyPr/>
          <a:lstStyle/>
          <a:p>
            <a:r>
              <a:rPr lang="en-NZ" noProof="0" dirty="0"/>
              <a:t>Choice of Component/System </a:t>
            </a:r>
            <a:r>
              <a:rPr lang="en-NZ" dirty="0"/>
              <a:t>4</a:t>
            </a:r>
            <a:endParaRPr lang="en-NZ" noProof="0" dirty="0"/>
          </a:p>
        </p:txBody>
      </p:sp>
      <p:sp>
        <p:nvSpPr>
          <p:cNvPr id="5" name="Content Placeholder 2">
            <a:extLst>
              <a:ext uri="{FF2B5EF4-FFF2-40B4-BE49-F238E27FC236}">
                <a16:creationId xmlns:a16="http://schemas.microsoft.com/office/drawing/2014/main" id="{208AF426-607B-1936-143C-7541AD8896ED}"/>
              </a:ext>
            </a:extLst>
          </p:cNvPr>
          <p:cNvSpPr txBox="1">
            <a:spLocks/>
          </p:cNvSpPr>
          <p:nvPr/>
        </p:nvSpPr>
        <p:spPr>
          <a:xfrm>
            <a:off x="838200" y="3646026"/>
            <a:ext cx="10225548" cy="2726095"/>
          </a:xfrm>
          <a:prstGeom prst="rect">
            <a:avLst/>
          </a:prstGeom>
          <a:solidFill>
            <a:schemeClr val="accent6">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Justification of choice made</a:t>
            </a:r>
          </a:p>
          <a:p>
            <a:pPr marL="0" indent="0">
              <a:buNone/>
            </a:pPr>
            <a:r>
              <a:rPr lang="en-US" dirty="0"/>
              <a:t>+-1% 5Vdigital pulse output for the Arduino, and delivers reliable, rock-steady volumetric readings that remain unaffected by fluid density changes.</a:t>
            </a:r>
          </a:p>
          <a:p>
            <a:pPr marL="0" indent="0">
              <a:buNone/>
            </a:pPr>
            <a:br>
              <a:rPr lang="en-US" dirty="0"/>
            </a:br>
            <a:endParaRPr lang="en-US" dirty="0"/>
          </a:p>
          <a:p>
            <a:pPr marL="0" indent="0">
              <a:buFont typeface="Arial" panose="020B0604020202020204" pitchFamily="34" charset="0"/>
              <a:buNone/>
            </a:pPr>
            <a:endParaRPr lang="en-NZ" noProof="0" dirty="0"/>
          </a:p>
        </p:txBody>
      </p:sp>
      <p:sp>
        <p:nvSpPr>
          <p:cNvPr id="8" name="Content Placeholder 7">
            <a:extLst>
              <a:ext uri="{FF2B5EF4-FFF2-40B4-BE49-F238E27FC236}">
                <a16:creationId xmlns:a16="http://schemas.microsoft.com/office/drawing/2014/main" id="{DFB8CE4C-97AF-7F3E-9CAC-E06101B7E86D}"/>
              </a:ext>
            </a:extLst>
          </p:cNvPr>
          <p:cNvSpPr>
            <a:spLocks noGrp="1"/>
          </p:cNvSpPr>
          <p:nvPr>
            <p:ph idx="1"/>
          </p:nvPr>
        </p:nvSpPr>
        <p:spPr>
          <a:xfrm>
            <a:off x="838200" y="1825625"/>
            <a:ext cx="3723968" cy="1325563"/>
          </a:xfrm>
        </p:spPr>
        <p:txBody>
          <a:bodyPr>
            <a:normAutofit fontScale="85000" lnSpcReduction="10000"/>
          </a:bodyPr>
          <a:lstStyle/>
          <a:p>
            <a:pPr marL="0" indent="0">
              <a:buNone/>
            </a:pPr>
            <a:r>
              <a:rPr lang="en-NZ" noProof="0" dirty="0"/>
              <a:t>Chosen</a:t>
            </a:r>
          </a:p>
          <a:p>
            <a:pPr marL="0" indent="0">
              <a:buNone/>
            </a:pPr>
            <a:r>
              <a:rPr lang="en-US" dirty="0"/>
              <a:t> G1/4" </a:t>
            </a:r>
            <a:r>
              <a:rPr lang="en-US" dirty="0">
                <a:hlinkClick r:id="rId2"/>
              </a:rPr>
              <a:t>SEA OF07ZAT</a:t>
            </a:r>
            <a:r>
              <a:rPr lang="en-US" dirty="0"/>
              <a:t> Oval Gear Digital Flow Meter.</a:t>
            </a:r>
            <a:endParaRPr lang="en-NZ" noProof="0" dirty="0"/>
          </a:p>
        </p:txBody>
      </p:sp>
      <p:sp>
        <p:nvSpPr>
          <p:cNvPr id="9" name="Content Placeholder 7">
            <a:extLst>
              <a:ext uri="{FF2B5EF4-FFF2-40B4-BE49-F238E27FC236}">
                <a16:creationId xmlns:a16="http://schemas.microsoft.com/office/drawing/2014/main" id="{0A4F4AF7-5E5A-2D76-3F73-6A09F3F31537}"/>
              </a:ext>
            </a:extLst>
          </p:cNvPr>
          <p:cNvSpPr txBox="1">
            <a:spLocks/>
          </p:cNvSpPr>
          <p:nvPr/>
        </p:nvSpPr>
        <p:spPr>
          <a:xfrm>
            <a:off x="4234016" y="1846467"/>
            <a:ext cx="3723968" cy="1325563"/>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Alternative 1</a:t>
            </a:r>
          </a:p>
          <a:p>
            <a:pPr marL="0" indent="0">
              <a:buNone/>
            </a:pPr>
            <a:r>
              <a:rPr lang="en-US" dirty="0"/>
              <a:t>Standard Plastic Turbine Liquid Flow Sensor (</a:t>
            </a:r>
            <a:r>
              <a:rPr lang="en-US" dirty="0" err="1"/>
              <a:t>eg</a:t>
            </a:r>
            <a:r>
              <a:rPr lang="en-US" dirty="0"/>
              <a:t>, YF-S201).</a:t>
            </a:r>
            <a:r>
              <a:rPr lang="en-NZ" noProof="0" dirty="0"/>
              <a:t> </a:t>
            </a:r>
          </a:p>
        </p:txBody>
      </p:sp>
      <p:sp>
        <p:nvSpPr>
          <p:cNvPr id="10" name="Content Placeholder 7">
            <a:extLst>
              <a:ext uri="{FF2B5EF4-FFF2-40B4-BE49-F238E27FC236}">
                <a16:creationId xmlns:a16="http://schemas.microsoft.com/office/drawing/2014/main" id="{841EBE6D-B5D0-4C30-C32E-F3AA1F02B8FD}"/>
              </a:ext>
            </a:extLst>
          </p:cNvPr>
          <p:cNvSpPr txBox="1">
            <a:spLocks/>
          </p:cNvSpPr>
          <p:nvPr/>
        </p:nvSpPr>
        <p:spPr>
          <a:xfrm>
            <a:off x="7876867" y="1846467"/>
            <a:ext cx="3723968" cy="132556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Alternative 2</a:t>
            </a:r>
          </a:p>
          <a:p>
            <a:pPr marL="0" indent="0">
              <a:buNone/>
            </a:pPr>
            <a:r>
              <a:rPr lang="en-US" dirty="0"/>
              <a:t>Differential Pressure Fuel Flow Transducer.</a:t>
            </a:r>
            <a:r>
              <a:rPr lang="en-NZ" noProof="0" dirty="0"/>
              <a:t> </a:t>
            </a:r>
          </a:p>
        </p:txBody>
      </p:sp>
    </p:spTree>
    <p:extLst>
      <p:ext uri="{BB962C8B-B14F-4D97-AF65-F5344CB8AC3E}">
        <p14:creationId xmlns:p14="http://schemas.microsoft.com/office/powerpoint/2010/main" val="34636448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7FDEA-E680-2E00-410E-88328EBB1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EA619-26CF-A135-A2F3-C9429F3013EA}"/>
              </a:ext>
            </a:extLst>
          </p:cNvPr>
          <p:cNvSpPr>
            <a:spLocks noGrp="1"/>
          </p:cNvSpPr>
          <p:nvPr>
            <p:ph type="title"/>
          </p:nvPr>
        </p:nvSpPr>
        <p:spPr>
          <a:solidFill>
            <a:srgbClr val="FF5050"/>
          </a:solidFill>
        </p:spPr>
        <p:txBody>
          <a:bodyPr/>
          <a:lstStyle/>
          <a:p>
            <a:r>
              <a:rPr lang="en-NZ" noProof="0" dirty="0"/>
              <a:t>Component/System 4</a:t>
            </a:r>
          </a:p>
        </p:txBody>
      </p:sp>
      <p:sp>
        <p:nvSpPr>
          <p:cNvPr id="3" name="Content Placeholder 2">
            <a:extLst>
              <a:ext uri="{FF2B5EF4-FFF2-40B4-BE49-F238E27FC236}">
                <a16:creationId xmlns:a16="http://schemas.microsoft.com/office/drawing/2014/main" id="{109C2FE0-6991-DDAF-C4F7-B3415EC34474}"/>
              </a:ext>
            </a:extLst>
          </p:cNvPr>
          <p:cNvSpPr>
            <a:spLocks noGrp="1"/>
          </p:cNvSpPr>
          <p:nvPr>
            <p:ph idx="1"/>
          </p:nvPr>
        </p:nvSpPr>
        <p:spPr>
          <a:xfrm>
            <a:off x="943897" y="1877091"/>
            <a:ext cx="10225548" cy="1623193"/>
          </a:xfrm>
          <a:solidFill>
            <a:srgbClr val="FFCCCC"/>
          </a:solidFill>
        </p:spPr>
        <p:txBody>
          <a:bodyPr>
            <a:normAutofit fontScale="55000" lnSpcReduction="20000"/>
          </a:bodyPr>
          <a:lstStyle/>
          <a:p>
            <a:pPr marL="0" indent="0">
              <a:buNone/>
            </a:pPr>
            <a:r>
              <a:rPr lang="en-NZ" noProof="0" dirty="0"/>
              <a:t>Explanation of component</a:t>
            </a:r>
          </a:p>
          <a:p>
            <a:pPr marL="0" indent="0">
              <a:buNone/>
            </a:pPr>
            <a:r>
              <a:rPr lang="en-US" dirty="0"/>
              <a:t>The fuel flow monitoring subsystem utilizes an OF07ZAT G1/4" oval gear flow sensor to accurately measure liquid moving through the e-bike's line inputs. Unlike standard turbine sensors, this component uses two high-precision, meshing oval gears that are pushed by the fluid's pressure, providing positive displacement that allows it to measure thick or viscous fluids like diesel and oils with high precision. As these oval gears rotate, internal magnets pass a built-in Hall effect switch, generating a clean digital pulse train. The Arduino reads these high/low pulses via a digital hardware interrupt pin, counting the frequency of the pulses over time to calculate the exact, real-time volumetric flow rate for the rider's OLED dashboard display.</a:t>
            </a:r>
            <a:endParaRPr lang="en-NZ" noProof="0" dirty="0"/>
          </a:p>
        </p:txBody>
      </p:sp>
      <p:sp>
        <p:nvSpPr>
          <p:cNvPr id="4" name="Content Placeholder 2">
            <a:extLst>
              <a:ext uri="{FF2B5EF4-FFF2-40B4-BE49-F238E27FC236}">
                <a16:creationId xmlns:a16="http://schemas.microsoft.com/office/drawing/2014/main" id="{48BF1EF6-F8B8-8CF4-9169-05F15F67B902}"/>
              </a:ext>
            </a:extLst>
          </p:cNvPr>
          <p:cNvSpPr txBox="1">
            <a:spLocks/>
          </p:cNvSpPr>
          <p:nvPr/>
        </p:nvSpPr>
        <p:spPr>
          <a:xfrm>
            <a:off x="943897" y="3686687"/>
            <a:ext cx="5385620" cy="2441984"/>
          </a:xfrm>
          <a:prstGeom prst="rect">
            <a:avLst/>
          </a:prstGeom>
          <a:solidFill>
            <a:srgbClr val="FFCC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Component Picture</a:t>
            </a:r>
          </a:p>
        </p:txBody>
      </p:sp>
      <p:sp>
        <p:nvSpPr>
          <p:cNvPr id="5" name="Content Placeholder 2">
            <a:extLst>
              <a:ext uri="{FF2B5EF4-FFF2-40B4-BE49-F238E27FC236}">
                <a16:creationId xmlns:a16="http://schemas.microsoft.com/office/drawing/2014/main" id="{F10EB81D-A986-42AD-847E-FF3A1F656CEB}"/>
              </a:ext>
            </a:extLst>
          </p:cNvPr>
          <p:cNvSpPr txBox="1">
            <a:spLocks/>
          </p:cNvSpPr>
          <p:nvPr/>
        </p:nvSpPr>
        <p:spPr>
          <a:xfrm>
            <a:off x="6415548" y="3686687"/>
            <a:ext cx="4753897" cy="2441984"/>
          </a:xfrm>
          <a:prstGeom prst="rect">
            <a:avLst/>
          </a:prstGeom>
          <a:solidFill>
            <a:srgbClr val="FFCCCC"/>
          </a:solidFill>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Component test log:</a:t>
            </a:r>
          </a:p>
          <a:p>
            <a:pPr marL="0" indent="0">
              <a:buNone/>
            </a:pPr>
            <a:r>
              <a:rPr lang="en-US" dirty="0"/>
              <a:t>The objective of this test was to verify that the OF07ZAT oval gear sensor outputs stable digital frequency pulses proportional to fluid movement and that the Arduino accurately processes the data without losing counts. The sensor was plumbed into a test loop using a calibrated volume of fluid while its signal pin was monitored via an Arduino digital interrupt input. Initial runs showed consistent gear rotation, but high-frequency electrical noise from the nearby 800W motor caused minor counting anomalies on the microchip. To completely isolate the signal, a 0.1uf capacitor was added across the signal and ground lines to act as a hardware low-pass filter. Following this hardware modification, the system passed ten consecutive test iterations of a 500mL fluid run with an outstanding volumetric accuracy within+-1%, successfully achieving a PASSED calibration status.</a:t>
            </a:r>
            <a:endParaRPr lang="en-NZ" noProof="0" dirty="0"/>
          </a:p>
          <a:p>
            <a:pPr marL="0" indent="0">
              <a:buFont typeface="Arial" panose="020B0604020202020204" pitchFamily="34" charset="0"/>
              <a:buNone/>
            </a:pPr>
            <a:endParaRPr lang="en-NZ" noProof="0" dirty="0"/>
          </a:p>
        </p:txBody>
      </p:sp>
    </p:spTree>
    <p:extLst>
      <p:ext uri="{BB962C8B-B14F-4D97-AF65-F5344CB8AC3E}">
        <p14:creationId xmlns:p14="http://schemas.microsoft.com/office/powerpoint/2010/main" val="2380697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AB4D7-9EFD-2EDD-86C5-7124EF8D8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45C90-B6D3-BDE8-E1D1-5BE0CEFD46B4}"/>
              </a:ext>
            </a:extLst>
          </p:cNvPr>
          <p:cNvSpPr>
            <a:spLocks noGrp="1"/>
          </p:cNvSpPr>
          <p:nvPr>
            <p:ph type="title"/>
          </p:nvPr>
        </p:nvSpPr>
        <p:spPr>
          <a:solidFill>
            <a:srgbClr val="FFFFCC"/>
          </a:solidFill>
        </p:spPr>
        <p:txBody>
          <a:bodyPr/>
          <a:lstStyle/>
          <a:p>
            <a:r>
              <a:rPr lang="en-NZ" noProof="0" dirty="0"/>
              <a:t>Reliability Testing</a:t>
            </a:r>
          </a:p>
        </p:txBody>
      </p:sp>
      <p:sp>
        <p:nvSpPr>
          <p:cNvPr id="5" name="Content Placeholder 2">
            <a:extLst>
              <a:ext uri="{FF2B5EF4-FFF2-40B4-BE49-F238E27FC236}">
                <a16:creationId xmlns:a16="http://schemas.microsoft.com/office/drawing/2014/main" id="{50C57F65-7853-E45D-CA58-31BCC9DE7B02}"/>
              </a:ext>
            </a:extLst>
          </p:cNvPr>
          <p:cNvSpPr txBox="1">
            <a:spLocks/>
          </p:cNvSpPr>
          <p:nvPr/>
        </p:nvSpPr>
        <p:spPr>
          <a:xfrm>
            <a:off x="983226" y="4869118"/>
            <a:ext cx="10225548" cy="1623757"/>
          </a:xfrm>
          <a:prstGeom prst="rect">
            <a:avLst/>
          </a:prstGeom>
          <a:solidFill>
            <a:srgbClr val="FFFFCC"/>
          </a:solidFill>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Analyse notes from testing and note changes to be made:</a:t>
            </a:r>
          </a:p>
          <a:p>
            <a:pPr marL="0" indent="0">
              <a:buNone/>
            </a:pPr>
            <a:r>
              <a:rPr lang="en-US" dirty="0"/>
              <a:t>Analysis of the testing logs indicates that heavy current draw from the 800W motor creates massive magnetic fields that easily corrupt the delicate digital pulse trains generated by the flow meter's internal Hall switch. Relying on software corrections alone cannot filter out this real-time electrical noise. To guarantee long-term system reliability on the vehicle, two permanent hardware changes will be implemented: first</a:t>
            </a:r>
            <a:r>
              <a:rPr lang="en-US"/>
              <a:t>, a 0.1uf ceramic </a:t>
            </a:r>
            <a:r>
              <a:rPr lang="en-US" dirty="0"/>
              <a:t>filtering capacitor will be permanently soldered directly onto the interface circuit board to suppress high-frequency voltage spikes. Second, the sensor run will be rewired using braided, grounded shield cables to completely isolate the fluid tracking signals from the bike's main power lines.</a:t>
            </a:r>
          </a:p>
          <a:p>
            <a:pPr marL="0" indent="0">
              <a:buNone/>
            </a:pPr>
            <a:br>
              <a:rPr lang="en-US" dirty="0"/>
            </a:br>
            <a:endParaRPr lang="en-US" dirty="0"/>
          </a:p>
          <a:p>
            <a:pPr marL="0" indent="0">
              <a:buFont typeface="Arial" panose="020B0604020202020204" pitchFamily="34" charset="0"/>
              <a:buNone/>
            </a:pPr>
            <a:endParaRPr lang="en-NZ" noProof="0" dirty="0"/>
          </a:p>
        </p:txBody>
      </p:sp>
      <p:sp>
        <p:nvSpPr>
          <p:cNvPr id="6" name="Content Placeholder 2">
            <a:extLst>
              <a:ext uri="{FF2B5EF4-FFF2-40B4-BE49-F238E27FC236}">
                <a16:creationId xmlns:a16="http://schemas.microsoft.com/office/drawing/2014/main" id="{4FBA3B69-CE34-9320-97C4-16C15C4852CE}"/>
              </a:ext>
            </a:extLst>
          </p:cNvPr>
          <p:cNvSpPr txBox="1">
            <a:spLocks/>
          </p:cNvSpPr>
          <p:nvPr/>
        </p:nvSpPr>
        <p:spPr>
          <a:xfrm>
            <a:off x="943898" y="1986117"/>
            <a:ext cx="10225548" cy="530941"/>
          </a:xfrm>
          <a:prstGeom prst="rect">
            <a:avLst/>
          </a:prstGeom>
          <a:solidFill>
            <a:srgbClr val="FFFFCC"/>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dirty="0"/>
              <a:t>Test your circuits at least 10 times</a:t>
            </a:r>
            <a:endParaRPr lang="en-NZ" noProof="0" dirty="0"/>
          </a:p>
        </p:txBody>
      </p:sp>
      <p:sp>
        <p:nvSpPr>
          <p:cNvPr id="11" name="Content Placeholder 2">
            <a:extLst>
              <a:ext uri="{FF2B5EF4-FFF2-40B4-BE49-F238E27FC236}">
                <a16:creationId xmlns:a16="http://schemas.microsoft.com/office/drawing/2014/main" id="{E3D936A8-CA08-48BB-AA98-F3A8B43B31CF}"/>
              </a:ext>
            </a:extLst>
          </p:cNvPr>
          <p:cNvSpPr txBox="1">
            <a:spLocks/>
          </p:cNvSpPr>
          <p:nvPr/>
        </p:nvSpPr>
        <p:spPr>
          <a:xfrm>
            <a:off x="983226" y="2812487"/>
            <a:ext cx="10225548" cy="1824114"/>
          </a:xfrm>
          <a:prstGeom prst="rect">
            <a:avLst/>
          </a:prstGeom>
          <a:solidFill>
            <a:srgbClr val="FFFFCC"/>
          </a:solidFill>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dirty="0"/>
              <a:t>Reliability notes from testing:</a:t>
            </a:r>
          </a:p>
          <a:p>
            <a:pPr marL="0" indent="0">
              <a:buNone/>
            </a:pPr>
            <a:r>
              <a:rPr lang="en-US" dirty="0"/>
              <a:t>To verify the physical and electrical endurance of the volumetric tracking system under active riding conditions, the OF07ZAT sensor circuit was run through a sequence of 10 consecutive fluid-flow trials. During the first 3 trials, the system reported erratic volume jumps and unstable pulse counts whenever the nearby 800W motor was operated at high loads, proving that unshielded sensor lines were highly vulnerable to electromagnetic noise. Prior to trial 4, a 0.1uf hardware decoupling capacitor was installed across the signal line, and the sensor wiring layout was physically isolated from the high-voltage motor cables. Across the remaining 7 test cycles, the data stabilized completely, delivering a perfectly uniform, repeatable pulse train with zero missed gear rotations or false data drops.</a:t>
            </a:r>
          </a:p>
          <a:p>
            <a:pPr marL="0" indent="0">
              <a:buFont typeface="Arial" panose="020B0604020202020204" pitchFamily="34" charset="0"/>
              <a:buNone/>
            </a:pPr>
            <a:endParaRPr lang="en-NZ" noProof="0" dirty="0"/>
          </a:p>
        </p:txBody>
      </p:sp>
    </p:spTree>
    <p:extLst>
      <p:ext uri="{BB962C8B-B14F-4D97-AF65-F5344CB8AC3E}">
        <p14:creationId xmlns:p14="http://schemas.microsoft.com/office/powerpoint/2010/main" val="13249611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31A39-8EBC-4C64-E2A9-B136F0E6ACF8}"/>
              </a:ext>
            </a:extLst>
          </p:cNvPr>
          <p:cNvSpPr>
            <a:spLocks noGrp="1"/>
          </p:cNvSpPr>
          <p:nvPr>
            <p:ph type="title"/>
          </p:nvPr>
        </p:nvSpPr>
        <p:spPr>
          <a:solidFill>
            <a:srgbClr val="FF5050"/>
          </a:solidFill>
        </p:spPr>
        <p:txBody>
          <a:bodyPr/>
          <a:lstStyle/>
          <a:p>
            <a:r>
              <a:rPr lang="en-NZ" dirty="0"/>
              <a:t>Final Outcome, Before Testing</a:t>
            </a:r>
          </a:p>
        </p:txBody>
      </p:sp>
      <p:sp>
        <p:nvSpPr>
          <p:cNvPr id="3" name="Content Placeholder 2">
            <a:extLst>
              <a:ext uri="{FF2B5EF4-FFF2-40B4-BE49-F238E27FC236}">
                <a16:creationId xmlns:a16="http://schemas.microsoft.com/office/drawing/2014/main" id="{C72A0CE0-5AE0-CAD3-C4C6-81694DF4EFBC}"/>
              </a:ext>
            </a:extLst>
          </p:cNvPr>
          <p:cNvSpPr>
            <a:spLocks noGrp="1"/>
          </p:cNvSpPr>
          <p:nvPr>
            <p:ph idx="1"/>
          </p:nvPr>
        </p:nvSpPr>
        <p:spPr>
          <a:solidFill>
            <a:srgbClr val="FFCCCC"/>
          </a:solidFill>
        </p:spPr>
        <p:txBody>
          <a:bodyPr/>
          <a:lstStyle/>
          <a:p>
            <a:pPr marL="0" indent="0">
              <a:buNone/>
            </a:pPr>
            <a:r>
              <a:rPr lang="en-NZ" dirty="0"/>
              <a:t>Include a screenshot/video of the final outcome working before testing here</a:t>
            </a:r>
          </a:p>
        </p:txBody>
      </p:sp>
    </p:spTree>
    <p:extLst>
      <p:ext uri="{BB962C8B-B14F-4D97-AF65-F5344CB8AC3E}">
        <p14:creationId xmlns:p14="http://schemas.microsoft.com/office/powerpoint/2010/main" val="2958982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122C3-DA0F-3AD2-E281-79AA20F8162C}"/>
              </a:ext>
            </a:extLst>
          </p:cNvPr>
          <p:cNvSpPr>
            <a:spLocks noGrp="1"/>
          </p:cNvSpPr>
          <p:nvPr>
            <p:ph type="title"/>
          </p:nvPr>
        </p:nvSpPr>
        <p:spPr>
          <a:solidFill>
            <a:schemeClr val="accent6">
              <a:lumMod val="40000"/>
              <a:lumOff val="60000"/>
            </a:schemeClr>
          </a:solidFill>
        </p:spPr>
        <p:txBody>
          <a:bodyPr/>
          <a:lstStyle/>
          <a:p>
            <a:r>
              <a:rPr lang="en-NZ" noProof="0" dirty="0"/>
              <a:t>Iteration of Development</a:t>
            </a:r>
          </a:p>
        </p:txBody>
      </p:sp>
      <p:sp>
        <p:nvSpPr>
          <p:cNvPr id="3" name="Content Placeholder 2">
            <a:extLst>
              <a:ext uri="{FF2B5EF4-FFF2-40B4-BE49-F238E27FC236}">
                <a16:creationId xmlns:a16="http://schemas.microsoft.com/office/drawing/2014/main" id="{42CC82DB-ADCC-6B9B-6B86-C4BA2CC7A228}"/>
              </a:ext>
            </a:extLst>
          </p:cNvPr>
          <p:cNvSpPr>
            <a:spLocks noGrp="1"/>
          </p:cNvSpPr>
          <p:nvPr>
            <p:ph idx="1"/>
          </p:nvPr>
        </p:nvSpPr>
        <p:spPr>
          <a:xfrm>
            <a:off x="838200" y="1825625"/>
            <a:ext cx="10515600" cy="1325563"/>
          </a:xfrm>
          <a:solidFill>
            <a:schemeClr val="accent6">
              <a:lumMod val="20000"/>
              <a:lumOff val="80000"/>
            </a:schemeClr>
          </a:solidFill>
        </p:spPr>
        <p:txBody>
          <a:bodyPr/>
          <a:lstStyle/>
          <a:p>
            <a:pPr marL="0" indent="0">
              <a:buNone/>
            </a:pPr>
            <a:r>
              <a:rPr lang="en-NZ" noProof="0" dirty="0"/>
              <a:t>Feedback on reliability and functionality of the system:</a:t>
            </a:r>
          </a:p>
        </p:txBody>
      </p:sp>
      <p:sp>
        <p:nvSpPr>
          <p:cNvPr id="4" name="Content Placeholder 2">
            <a:extLst>
              <a:ext uri="{FF2B5EF4-FFF2-40B4-BE49-F238E27FC236}">
                <a16:creationId xmlns:a16="http://schemas.microsoft.com/office/drawing/2014/main" id="{5A500152-C527-1813-62FC-FA1AC31145DD}"/>
              </a:ext>
            </a:extLst>
          </p:cNvPr>
          <p:cNvSpPr txBox="1">
            <a:spLocks/>
          </p:cNvSpPr>
          <p:nvPr/>
        </p:nvSpPr>
        <p:spPr>
          <a:xfrm>
            <a:off x="838200" y="3286125"/>
            <a:ext cx="10515600" cy="2691888"/>
          </a:xfrm>
          <a:prstGeom prst="rect">
            <a:avLst/>
          </a:prstGeom>
          <a:solidFill>
            <a:schemeClr val="accent6">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Changes based off feedback (include picture or design):</a:t>
            </a:r>
          </a:p>
        </p:txBody>
      </p:sp>
    </p:spTree>
    <p:extLst>
      <p:ext uri="{BB962C8B-B14F-4D97-AF65-F5344CB8AC3E}">
        <p14:creationId xmlns:p14="http://schemas.microsoft.com/office/powerpoint/2010/main" val="35483784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17F74F-859F-B048-3AAF-AC6611F9A4FD}"/>
              </a:ext>
            </a:extLst>
          </p:cNvPr>
          <p:cNvSpPr>
            <a:spLocks noGrp="1"/>
          </p:cNvSpPr>
          <p:nvPr>
            <p:ph type="ctrTitle"/>
          </p:nvPr>
        </p:nvSpPr>
        <p:spPr/>
        <p:txBody>
          <a:bodyPr/>
          <a:lstStyle/>
          <a:p>
            <a:r>
              <a:rPr lang="en-NZ" noProof="0" dirty="0"/>
              <a:t>Testing and Debugging</a:t>
            </a:r>
          </a:p>
        </p:txBody>
      </p:sp>
      <p:sp>
        <p:nvSpPr>
          <p:cNvPr id="5" name="Subtitle 4">
            <a:extLst>
              <a:ext uri="{FF2B5EF4-FFF2-40B4-BE49-F238E27FC236}">
                <a16:creationId xmlns:a16="http://schemas.microsoft.com/office/drawing/2014/main" id="{F00B0B72-A873-F49A-39ED-F80EF8712470}"/>
              </a:ext>
            </a:extLst>
          </p:cNvPr>
          <p:cNvSpPr>
            <a:spLocks noGrp="1"/>
          </p:cNvSpPr>
          <p:nvPr>
            <p:ph type="subTitle" idx="1"/>
          </p:nvPr>
        </p:nvSpPr>
        <p:spPr/>
        <p:txBody>
          <a:bodyPr/>
          <a:lstStyle/>
          <a:p>
            <a:endParaRPr lang="en-NZ" noProof="0" dirty="0"/>
          </a:p>
        </p:txBody>
      </p:sp>
    </p:spTree>
    <p:extLst>
      <p:ext uri="{BB962C8B-B14F-4D97-AF65-F5344CB8AC3E}">
        <p14:creationId xmlns:p14="http://schemas.microsoft.com/office/powerpoint/2010/main" val="39011346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86A53-61F8-FFEC-036E-DC7EB8729098}"/>
              </a:ext>
            </a:extLst>
          </p:cNvPr>
          <p:cNvSpPr>
            <a:spLocks noGrp="1"/>
          </p:cNvSpPr>
          <p:nvPr>
            <p:ph type="title"/>
          </p:nvPr>
        </p:nvSpPr>
        <p:spPr>
          <a:solidFill>
            <a:srgbClr val="FF5050"/>
          </a:solidFill>
        </p:spPr>
        <p:txBody>
          <a:bodyPr/>
          <a:lstStyle/>
          <a:p>
            <a:r>
              <a:rPr lang="en-NZ" noProof="0" dirty="0"/>
              <a:t>Testing for functionality</a:t>
            </a:r>
          </a:p>
        </p:txBody>
      </p:sp>
      <p:graphicFrame>
        <p:nvGraphicFramePr>
          <p:cNvPr id="4" name="Table 3">
            <a:extLst>
              <a:ext uri="{FF2B5EF4-FFF2-40B4-BE49-F238E27FC236}">
                <a16:creationId xmlns:a16="http://schemas.microsoft.com/office/drawing/2014/main" id="{F61ED25F-F8C6-770A-0FAD-E0AAB8D900DA}"/>
              </a:ext>
            </a:extLst>
          </p:cNvPr>
          <p:cNvGraphicFramePr>
            <a:graphicFrameLocks noGrp="1"/>
          </p:cNvGraphicFramePr>
          <p:nvPr>
            <p:extLst>
              <p:ext uri="{D42A27DB-BD31-4B8C-83A1-F6EECF244321}">
                <p14:modId xmlns:p14="http://schemas.microsoft.com/office/powerpoint/2010/main" val="3393806545"/>
              </p:ext>
            </p:extLst>
          </p:nvPr>
        </p:nvGraphicFramePr>
        <p:xfrm>
          <a:off x="392784" y="1951294"/>
          <a:ext cx="11406432" cy="4059155"/>
        </p:xfrm>
        <a:graphic>
          <a:graphicData uri="http://schemas.openxmlformats.org/drawingml/2006/table">
            <a:tbl>
              <a:tblPr firstRow="1" bandRow="1">
                <a:tableStyleId>{5C22544A-7EE6-4342-B048-85BDC9FD1C3A}</a:tableStyleId>
              </a:tblPr>
              <a:tblGrid>
                <a:gridCol w="3802144">
                  <a:extLst>
                    <a:ext uri="{9D8B030D-6E8A-4147-A177-3AD203B41FA5}">
                      <a16:colId xmlns:a16="http://schemas.microsoft.com/office/drawing/2014/main" val="432899679"/>
                    </a:ext>
                  </a:extLst>
                </a:gridCol>
                <a:gridCol w="3802144">
                  <a:extLst>
                    <a:ext uri="{9D8B030D-6E8A-4147-A177-3AD203B41FA5}">
                      <a16:colId xmlns:a16="http://schemas.microsoft.com/office/drawing/2014/main" val="1221611069"/>
                    </a:ext>
                  </a:extLst>
                </a:gridCol>
                <a:gridCol w="3802144">
                  <a:extLst>
                    <a:ext uri="{9D8B030D-6E8A-4147-A177-3AD203B41FA5}">
                      <a16:colId xmlns:a16="http://schemas.microsoft.com/office/drawing/2014/main" val="1564170305"/>
                    </a:ext>
                  </a:extLst>
                </a:gridCol>
              </a:tblGrid>
              <a:tr h="811831">
                <a:tc>
                  <a:txBody>
                    <a:bodyPr/>
                    <a:lstStyle/>
                    <a:p>
                      <a:r>
                        <a:rPr lang="en-NZ" noProof="0" dirty="0"/>
                        <a:t>Project Specification</a:t>
                      </a:r>
                    </a:p>
                  </a:txBody>
                  <a:tcPr>
                    <a:solidFill>
                      <a:srgbClr val="FF5050"/>
                    </a:solidFill>
                  </a:tcPr>
                </a:tc>
                <a:tc>
                  <a:txBody>
                    <a:bodyPr/>
                    <a:lstStyle/>
                    <a:p>
                      <a:r>
                        <a:rPr lang="en-NZ" noProof="0" dirty="0"/>
                        <a:t>Test</a:t>
                      </a:r>
                    </a:p>
                  </a:txBody>
                  <a:tcPr>
                    <a:solidFill>
                      <a:srgbClr val="FF5050"/>
                    </a:solidFill>
                  </a:tcPr>
                </a:tc>
                <a:tc>
                  <a:txBody>
                    <a:bodyPr/>
                    <a:lstStyle/>
                    <a:p>
                      <a:r>
                        <a:rPr lang="en-NZ" noProof="0" dirty="0"/>
                        <a:t>Issues to be fixed, debugging, Notes</a:t>
                      </a:r>
                    </a:p>
                  </a:txBody>
                  <a:tcPr>
                    <a:solidFill>
                      <a:srgbClr val="FF5050"/>
                    </a:solidFill>
                  </a:tcPr>
                </a:tc>
                <a:extLst>
                  <a:ext uri="{0D108BD9-81ED-4DB2-BD59-A6C34878D82A}">
                    <a16:rowId xmlns:a16="http://schemas.microsoft.com/office/drawing/2014/main" val="2823653061"/>
                  </a:ext>
                </a:extLst>
              </a:tr>
              <a:tr h="811831">
                <a:tc>
                  <a:txBody>
                    <a:bodyPr/>
                    <a:lstStyle/>
                    <a:p>
                      <a:endParaRPr lang="en-NZ" sz="1200" noProof="0" dirty="0"/>
                    </a:p>
                  </a:txBody>
                  <a:tcPr>
                    <a:solidFill>
                      <a:srgbClr val="FFCCCC"/>
                    </a:solidFill>
                  </a:tcPr>
                </a:tc>
                <a:tc>
                  <a:txBody>
                    <a:bodyPr/>
                    <a:lstStyle/>
                    <a:p>
                      <a:endParaRPr lang="en-NZ" sz="1200" noProof="0" dirty="0"/>
                    </a:p>
                  </a:txBody>
                  <a:tcPr>
                    <a:solidFill>
                      <a:srgbClr val="FFCCCC"/>
                    </a:solidFill>
                  </a:tcPr>
                </a:tc>
                <a:tc>
                  <a:txBody>
                    <a:bodyPr/>
                    <a:lstStyle/>
                    <a:p>
                      <a:endParaRPr lang="en-NZ" sz="1200" noProof="0" dirty="0"/>
                    </a:p>
                  </a:txBody>
                  <a:tcPr>
                    <a:solidFill>
                      <a:srgbClr val="FFCCCC"/>
                    </a:solidFill>
                  </a:tcPr>
                </a:tc>
                <a:extLst>
                  <a:ext uri="{0D108BD9-81ED-4DB2-BD59-A6C34878D82A}">
                    <a16:rowId xmlns:a16="http://schemas.microsoft.com/office/drawing/2014/main" val="2120864744"/>
                  </a:ext>
                </a:extLst>
              </a:tr>
              <a:tr h="811831">
                <a:tc>
                  <a:txBody>
                    <a:bodyPr/>
                    <a:lstStyle/>
                    <a:p>
                      <a:endParaRPr lang="en-NZ" sz="1200" noProof="0" dirty="0"/>
                    </a:p>
                  </a:txBody>
                  <a:tcPr>
                    <a:solidFill>
                      <a:srgbClr val="FFCCCC"/>
                    </a:solidFill>
                  </a:tcPr>
                </a:tc>
                <a:tc>
                  <a:txBody>
                    <a:bodyPr/>
                    <a:lstStyle/>
                    <a:p>
                      <a:endParaRPr lang="en-NZ" sz="1200" noProof="0" dirty="0"/>
                    </a:p>
                  </a:txBody>
                  <a:tcPr>
                    <a:solidFill>
                      <a:srgbClr val="FFCCCC"/>
                    </a:solidFill>
                  </a:tcPr>
                </a:tc>
                <a:tc>
                  <a:txBody>
                    <a:bodyPr/>
                    <a:lstStyle/>
                    <a:p>
                      <a:endParaRPr lang="en-NZ" sz="1200" noProof="0" dirty="0"/>
                    </a:p>
                  </a:txBody>
                  <a:tcPr>
                    <a:solidFill>
                      <a:srgbClr val="FFCCCC"/>
                    </a:solidFill>
                  </a:tcPr>
                </a:tc>
                <a:extLst>
                  <a:ext uri="{0D108BD9-81ED-4DB2-BD59-A6C34878D82A}">
                    <a16:rowId xmlns:a16="http://schemas.microsoft.com/office/drawing/2014/main" val="570688745"/>
                  </a:ext>
                </a:extLst>
              </a:tr>
              <a:tr h="811831">
                <a:tc>
                  <a:txBody>
                    <a:bodyPr/>
                    <a:lstStyle/>
                    <a:p>
                      <a:endParaRPr lang="en-NZ" sz="1200" noProof="0" dirty="0"/>
                    </a:p>
                  </a:txBody>
                  <a:tcPr>
                    <a:solidFill>
                      <a:srgbClr val="FFCCCC"/>
                    </a:solidFill>
                  </a:tcPr>
                </a:tc>
                <a:tc>
                  <a:txBody>
                    <a:bodyPr/>
                    <a:lstStyle/>
                    <a:p>
                      <a:endParaRPr lang="en-NZ" sz="1200" noProof="0" dirty="0"/>
                    </a:p>
                  </a:txBody>
                  <a:tcPr>
                    <a:solidFill>
                      <a:srgbClr val="FFCCCC"/>
                    </a:solidFill>
                  </a:tcPr>
                </a:tc>
                <a:tc>
                  <a:txBody>
                    <a:bodyPr/>
                    <a:lstStyle/>
                    <a:p>
                      <a:endParaRPr lang="en-NZ" sz="1200" noProof="0" dirty="0"/>
                    </a:p>
                  </a:txBody>
                  <a:tcPr>
                    <a:solidFill>
                      <a:srgbClr val="FFCCCC"/>
                    </a:solidFill>
                  </a:tcPr>
                </a:tc>
                <a:extLst>
                  <a:ext uri="{0D108BD9-81ED-4DB2-BD59-A6C34878D82A}">
                    <a16:rowId xmlns:a16="http://schemas.microsoft.com/office/drawing/2014/main" val="2686728311"/>
                  </a:ext>
                </a:extLst>
              </a:tr>
              <a:tr h="811831">
                <a:tc>
                  <a:txBody>
                    <a:bodyPr/>
                    <a:lstStyle/>
                    <a:p>
                      <a:endParaRPr lang="en-NZ" sz="1200" noProof="0" dirty="0"/>
                    </a:p>
                  </a:txBody>
                  <a:tcPr>
                    <a:solidFill>
                      <a:srgbClr val="FFCCCC"/>
                    </a:solidFill>
                  </a:tcPr>
                </a:tc>
                <a:tc>
                  <a:txBody>
                    <a:bodyPr/>
                    <a:lstStyle/>
                    <a:p>
                      <a:endParaRPr lang="en-NZ" sz="1200" noProof="0" dirty="0"/>
                    </a:p>
                  </a:txBody>
                  <a:tcPr>
                    <a:solidFill>
                      <a:srgbClr val="FFCCCC"/>
                    </a:solidFill>
                  </a:tcPr>
                </a:tc>
                <a:tc>
                  <a:txBody>
                    <a:bodyPr/>
                    <a:lstStyle/>
                    <a:p>
                      <a:endParaRPr lang="en-NZ" sz="1200" noProof="0" dirty="0"/>
                    </a:p>
                  </a:txBody>
                  <a:tcPr>
                    <a:solidFill>
                      <a:srgbClr val="FFCCCC"/>
                    </a:solidFill>
                  </a:tcPr>
                </a:tc>
                <a:extLst>
                  <a:ext uri="{0D108BD9-81ED-4DB2-BD59-A6C34878D82A}">
                    <a16:rowId xmlns:a16="http://schemas.microsoft.com/office/drawing/2014/main" val="730498769"/>
                  </a:ext>
                </a:extLst>
              </a:tr>
            </a:tbl>
          </a:graphicData>
        </a:graphic>
      </p:graphicFrame>
      <p:sp>
        <p:nvSpPr>
          <p:cNvPr id="6" name="TextBox 5">
            <a:extLst>
              <a:ext uri="{FF2B5EF4-FFF2-40B4-BE49-F238E27FC236}">
                <a16:creationId xmlns:a16="http://schemas.microsoft.com/office/drawing/2014/main" id="{5BAC52E2-2C3C-BC90-EF54-64DBDDEEF08B}"/>
              </a:ext>
            </a:extLst>
          </p:cNvPr>
          <p:cNvSpPr txBox="1"/>
          <p:nvPr/>
        </p:nvSpPr>
        <p:spPr>
          <a:xfrm>
            <a:off x="274290" y="6080458"/>
            <a:ext cx="11406432" cy="584775"/>
          </a:xfrm>
          <a:prstGeom prst="rect">
            <a:avLst/>
          </a:prstGeom>
          <a:noFill/>
        </p:spPr>
        <p:txBody>
          <a:bodyPr wrap="square">
            <a:spAutoFit/>
          </a:bodyPr>
          <a:lstStyle/>
          <a:p>
            <a:r>
              <a:rPr lang="en-NZ" sz="1600" noProof="0" dirty="0"/>
              <a:t>Examples of testing, modifying and debugging include: using testing devices and testing strategies, testing expected, boundary and invalid inputs, changing board layout, improving component selection. </a:t>
            </a:r>
            <a:r>
              <a:rPr lang="en-NZ" sz="1600" b="1" noProof="0" dirty="0"/>
              <a:t>You may test as you go</a:t>
            </a:r>
          </a:p>
        </p:txBody>
      </p:sp>
    </p:spTree>
    <p:extLst>
      <p:ext uri="{BB962C8B-B14F-4D97-AF65-F5344CB8AC3E}">
        <p14:creationId xmlns:p14="http://schemas.microsoft.com/office/powerpoint/2010/main" val="11829003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C6662-2585-4ECB-7C1E-AAA5D4E70521}"/>
              </a:ext>
            </a:extLst>
          </p:cNvPr>
          <p:cNvSpPr>
            <a:spLocks noGrp="1"/>
          </p:cNvSpPr>
          <p:nvPr>
            <p:ph type="title"/>
          </p:nvPr>
        </p:nvSpPr>
        <p:spPr/>
        <p:txBody>
          <a:bodyPr/>
          <a:lstStyle/>
          <a:p>
            <a:r>
              <a:rPr lang="en-NZ" noProof="0" dirty="0"/>
              <a:t>Testing for reliability</a:t>
            </a:r>
          </a:p>
        </p:txBody>
      </p:sp>
      <p:graphicFrame>
        <p:nvGraphicFramePr>
          <p:cNvPr id="6" name="Table 5">
            <a:extLst>
              <a:ext uri="{FF2B5EF4-FFF2-40B4-BE49-F238E27FC236}">
                <a16:creationId xmlns:a16="http://schemas.microsoft.com/office/drawing/2014/main" id="{613A281D-E603-3C09-229D-4F4B7BF80DC1}"/>
              </a:ext>
            </a:extLst>
          </p:cNvPr>
          <p:cNvGraphicFramePr>
            <a:graphicFrameLocks noGrp="1"/>
          </p:cNvGraphicFramePr>
          <p:nvPr>
            <p:extLst>
              <p:ext uri="{D42A27DB-BD31-4B8C-83A1-F6EECF244321}">
                <p14:modId xmlns:p14="http://schemas.microsoft.com/office/powerpoint/2010/main" val="3787679186"/>
              </p:ext>
            </p:extLst>
          </p:nvPr>
        </p:nvGraphicFramePr>
        <p:xfrm>
          <a:off x="392784" y="1951294"/>
          <a:ext cx="11406432" cy="4059155"/>
        </p:xfrm>
        <a:graphic>
          <a:graphicData uri="http://schemas.openxmlformats.org/drawingml/2006/table">
            <a:tbl>
              <a:tblPr firstRow="1" bandRow="1">
                <a:tableStyleId>{5C22544A-7EE6-4342-B048-85BDC9FD1C3A}</a:tableStyleId>
              </a:tblPr>
              <a:tblGrid>
                <a:gridCol w="3802144">
                  <a:extLst>
                    <a:ext uri="{9D8B030D-6E8A-4147-A177-3AD203B41FA5}">
                      <a16:colId xmlns:a16="http://schemas.microsoft.com/office/drawing/2014/main" val="432899679"/>
                    </a:ext>
                  </a:extLst>
                </a:gridCol>
                <a:gridCol w="3802144">
                  <a:extLst>
                    <a:ext uri="{9D8B030D-6E8A-4147-A177-3AD203B41FA5}">
                      <a16:colId xmlns:a16="http://schemas.microsoft.com/office/drawing/2014/main" val="1221611069"/>
                    </a:ext>
                  </a:extLst>
                </a:gridCol>
                <a:gridCol w="3802144">
                  <a:extLst>
                    <a:ext uri="{9D8B030D-6E8A-4147-A177-3AD203B41FA5}">
                      <a16:colId xmlns:a16="http://schemas.microsoft.com/office/drawing/2014/main" val="1564170305"/>
                    </a:ext>
                  </a:extLst>
                </a:gridCol>
              </a:tblGrid>
              <a:tr h="811831">
                <a:tc>
                  <a:txBody>
                    <a:bodyPr/>
                    <a:lstStyle/>
                    <a:p>
                      <a:r>
                        <a:rPr lang="en-NZ" noProof="0" dirty="0">
                          <a:solidFill>
                            <a:schemeClr val="tx1"/>
                          </a:solidFill>
                        </a:rPr>
                        <a:t>Potential problem, original reliability</a:t>
                      </a:r>
                    </a:p>
                  </a:txBody>
                  <a:tcPr>
                    <a:lnB w="12700" cap="flat" cmpd="sng" algn="ctr">
                      <a:solidFill>
                        <a:schemeClr val="tx1"/>
                      </a:solidFill>
                      <a:prstDash val="solid"/>
                      <a:round/>
                      <a:headEnd type="none" w="med" len="med"/>
                      <a:tailEnd type="none" w="med" len="med"/>
                    </a:lnB>
                    <a:solidFill>
                      <a:srgbClr val="FFFF99"/>
                    </a:solidFill>
                  </a:tcPr>
                </a:tc>
                <a:tc>
                  <a:txBody>
                    <a:bodyPr/>
                    <a:lstStyle/>
                    <a:p>
                      <a:r>
                        <a:rPr lang="en-NZ" noProof="0" dirty="0">
                          <a:solidFill>
                            <a:schemeClr val="tx1"/>
                          </a:solidFill>
                        </a:rPr>
                        <a:t>Test and change for reliability</a:t>
                      </a:r>
                    </a:p>
                  </a:txBody>
                  <a:tcPr>
                    <a:lnB w="12700" cap="flat" cmpd="sng" algn="ctr">
                      <a:solidFill>
                        <a:schemeClr val="tx1"/>
                      </a:solidFill>
                      <a:prstDash val="solid"/>
                      <a:round/>
                      <a:headEnd type="none" w="med" len="med"/>
                      <a:tailEnd type="none" w="med" len="med"/>
                    </a:lnB>
                    <a:solidFill>
                      <a:srgbClr val="FFFF99"/>
                    </a:solidFill>
                  </a:tcPr>
                </a:tc>
                <a:tc>
                  <a:txBody>
                    <a:bodyPr/>
                    <a:lstStyle/>
                    <a:p>
                      <a:r>
                        <a:rPr lang="en-NZ" noProof="0" dirty="0">
                          <a:solidFill>
                            <a:schemeClr val="tx1"/>
                          </a:solidFill>
                        </a:rPr>
                        <a:t>Issues to be fixed, debugging, Notes</a:t>
                      </a:r>
                    </a:p>
                  </a:txBody>
                  <a:tcPr>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2823653061"/>
                  </a:ext>
                </a:extLst>
              </a:tr>
              <a:tr h="811831">
                <a:tc>
                  <a:txBody>
                    <a:bodyPr/>
                    <a:lstStyle/>
                    <a:p>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120864744"/>
                  </a:ext>
                </a:extLst>
              </a:tr>
              <a:tr h="811831">
                <a:tc>
                  <a:txBody>
                    <a:bodyPr/>
                    <a:lstStyle/>
                    <a:p>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570688745"/>
                  </a:ext>
                </a:extLst>
              </a:tr>
              <a:tr h="811831">
                <a:tc>
                  <a:txBody>
                    <a:bodyPr/>
                    <a:lstStyle/>
                    <a:p>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2686728311"/>
                  </a:ext>
                </a:extLst>
              </a:tr>
              <a:tr h="811831">
                <a:tc>
                  <a:txBody>
                    <a:bodyPr/>
                    <a:lstStyle/>
                    <a:p>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tc>
                  <a:txBody>
                    <a:bodyPr/>
                    <a:lstStyle/>
                    <a:p>
                      <a:endParaRPr lang="en-NZ" sz="1200" noProof="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CC"/>
                    </a:solidFill>
                  </a:tcPr>
                </a:tc>
                <a:extLst>
                  <a:ext uri="{0D108BD9-81ED-4DB2-BD59-A6C34878D82A}">
                    <a16:rowId xmlns:a16="http://schemas.microsoft.com/office/drawing/2014/main" val="730498769"/>
                  </a:ext>
                </a:extLst>
              </a:tr>
            </a:tbl>
          </a:graphicData>
        </a:graphic>
      </p:graphicFrame>
    </p:spTree>
    <p:extLst>
      <p:ext uri="{BB962C8B-B14F-4D97-AF65-F5344CB8AC3E}">
        <p14:creationId xmlns:p14="http://schemas.microsoft.com/office/powerpoint/2010/main" val="37138593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6D362-3543-DD4C-FC34-7275B256AC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95E1F7-B585-9982-CC75-E7379A9C4248}"/>
              </a:ext>
            </a:extLst>
          </p:cNvPr>
          <p:cNvSpPr>
            <a:spLocks noGrp="1"/>
          </p:cNvSpPr>
          <p:nvPr>
            <p:ph type="title"/>
          </p:nvPr>
        </p:nvSpPr>
        <p:spPr>
          <a:solidFill>
            <a:schemeClr val="accent6">
              <a:lumMod val="40000"/>
              <a:lumOff val="60000"/>
            </a:schemeClr>
          </a:solidFill>
        </p:spPr>
        <p:txBody>
          <a:bodyPr/>
          <a:lstStyle/>
          <a:p>
            <a:r>
              <a:rPr lang="en-NZ" noProof="0" dirty="0"/>
              <a:t>Iteration after testing</a:t>
            </a:r>
          </a:p>
        </p:txBody>
      </p:sp>
      <p:sp>
        <p:nvSpPr>
          <p:cNvPr id="3" name="Content Placeholder 2">
            <a:extLst>
              <a:ext uri="{FF2B5EF4-FFF2-40B4-BE49-F238E27FC236}">
                <a16:creationId xmlns:a16="http://schemas.microsoft.com/office/drawing/2014/main" id="{5A1D233B-220B-493E-C461-4F4088BAB28F}"/>
              </a:ext>
            </a:extLst>
          </p:cNvPr>
          <p:cNvSpPr>
            <a:spLocks noGrp="1"/>
          </p:cNvSpPr>
          <p:nvPr>
            <p:ph idx="1"/>
          </p:nvPr>
        </p:nvSpPr>
        <p:spPr>
          <a:xfrm>
            <a:off x="838200" y="1825625"/>
            <a:ext cx="10515600" cy="1325563"/>
          </a:xfrm>
          <a:solidFill>
            <a:schemeClr val="accent6">
              <a:lumMod val="20000"/>
              <a:lumOff val="80000"/>
            </a:schemeClr>
          </a:solidFill>
        </p:spPr>
        <p:txBody>
          <a:bodyPr/>
          <a:lstStyle/>
          <a:p>
            <a:pPr marL="0" indent="0">
              <a:buNone/>
            </a:pPr>
            <a:r>
              <a:rPr lang="en-NZ" noProof="0" dirty="0"/>
              <a:t>Feedback </a:t>
            </a:r>
            <a:r>
              <a:rPr lang="en-NZ" noProof="0"/>
              <a:t>after testing:</a:t>
            </a:r>
            <a:endParaRPr lang="en-NZ" noProof="0" dirty="0"/>
          </a:p>
        </p:txBody>
      </p:sp>
      <p:sp>
        <p:nvSpPr>
          <p:cNvPr id="4" name="Content Placeholder 2">
            <a:extLst>
              <a:ext uri="{FF2B5EF4-FFF2-40B4-BE49-F238E27FC236}">
                <a16:creationId xmlns:a16="http://schemas.microsoft.com/office/drawing/2014/main" id="{699A2878-C266-8972-451C-90B30E57A1FB}"/>
              </a:ext>
            </a:extLst>
          </p:cNvPr>
          <p:cNvSpPr txBox="1">
            <a:spLocks/>
          </p:cNvSpPr>
          <p:nvPr/>
        </p:nvSpPr>
        <p:spPr>
          <a:xfrm>
            <a:off x="838200" y="3286125"/>
            <a:ext cx="10515600" cy="2691888"/>
          </a:xfrm>
          <a:prstGeom prst="rect">
            <a:avLst/>
          </a:prstGeom>
          <a:solidFill>
            <a:schemeClr val="accent6">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Z" noProof="0" dirty="0"/>
              <a:t>Changes based off feedback (include picture or design):</a:t>
            </a:r>
          </a:p>
        </p:txBody>
      </p:sp>
    </p:spTree>
    <p:extLst>
      <p:ext uri="{BB962C8B-B14F-4D97-AF65-F5344CB8AC3E}">
        <p14:creationId xmlns:p14="http://schemas.microsoft.com/office/powerpoint/2010/main" val="38304955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348783e-0638-4a30-9f7a-26b4cfbb0058}" enabled="0" method="" siteId="{3348783e-0638-4a30-9f7a-26b4cfbb0058}" removed="1"/>
</clbl:labelList>
</file>

<file path=docProps/app.xml><?xml version="1.0" encoding="utf-8"?>
<Properties xmlns="http://schemas.openxmlformats.org/officeDocument/2006/extended-properties" xmlns:vt="http://schemas.openxmlformats.org/officeDocument/2006/docPropsVTypes">
  <TotalTime>625</TotalTime>
  <Words>3490</Words>
  <Application>Microsoft Office PowerPoint</Application>
  <PresentationFormat>Widescreen</PresentationFormat>
  <Paragraphs>146</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Aptos</vt:lpstr>
      <vt:lpstr>Aptos Display</vt:lpstr>
      <vt:lpstr>Arial</vt:lpstr>
      <vt:lpstr>Office Theme</vt:lpstr>
      <vt:lpstr>AS91904 Electronics Outcome</vt:lpstr>
      <vt:lpstr>Project Details</vt:lpstr>
      <vt:lpstr>Techniques used</vt:lpstr>
      <vt:lpstr>Relevant Implications</vt:lpstr>
      <vt:lpstr>Original Design</vt:lpstr>
      <vt:lpstr>Behaviour and function</vt:lpstr>
      <vt:lpstr>Explaining relevant communication protocols</vt:lpstr>
      <vt:lpstr>Iterated Design</vt:lpstr>
      <vt:lpstr>Components and Systems</vt:lpstr>
      <vt:lpstr>Choice of Component/System 1: controller</vt:lpstr>
      <vt:lpstr>Component/System 1</vt:lpstr>
      <vt:lpstr>Reliability Testing</vt:lpstr>
      <vt:lpstr>Choice of Component/System 2</vt:lpstr>
      <vt:lpstr>Component/System 2</vt:lpstr>
      <vt:lpstr>Reliability Testing</vt:lpstr>
      <vt:lpstr>Choice of Component/System 3</vt:lpstr>
      <vt:lpstr>Component/System 3</vt:lpstr>
      <vt:lpstr>Reliability Testing</vt:lpstr>
      <vt:lpstr>Choice of Component/System 4</vt:lpstr>
      <vt:lpstr>Component/System 4</vt:lpstr>
      <vt:lpstr>Reliability Testing</vt:lpstr>
      <vt:lpstr>Final Outcome, Before Testing</vt:lpstr>
      <vt:lpstr>Iteration of Development</vt:lpstr>
      <vt:lpstr>Testing and Debugging</vt:lpstr>
      <vt:lpstr>Testing for functionality</vt:lpstr>
      <vt:lpstr>Testing for reliability</vt:lpstr>
      <vt:lpstr>Iteration after testing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AS91904 Electronics Outcome</dc:title>
  <dc:creator>Mark Sutherland</dc:creator>
  <cp:lastModifiedBy>Heinrich Venter</cp:lastModifiedBy>
  <cp:revision>3</cp:revision>
  <dcterms:created xsi:type="dcterms:W3CDTF">2025-11-11T22:30:20Z</dcterms:created>
  <dcterms:modified xsi:type="dcterms:W3CDTF">2026-05-24T11:46:00Z</dcterms:modified>
</cp:coreProperties>
</file>