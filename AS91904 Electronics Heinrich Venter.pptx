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1_FFE3B6F5.xml" ContentType="application/vnd.ms-powerpoint.comments+xml"/>
  <Override PartName="/ppt/comments/modernComment_102_8F82B503.xml" ContentType="application/vnd.ms-powerpoint.comments+xml"/>
  <Override PartName="/ppt/comments/modernComment_10D_B08B0791.xml" ContentType="application/vnd.ms-powerpoint.comments+xml"/>
  <Override PartName="/ppt/comments/modernComment_11D_F491498A.xml" ContentType="application/vnd.ms-powerpoint.comments+xml"/>
  <Override PartName="/ppt/comments/modernComment_117_E97C5DDB.xml" ContentType="application/vnd.ms-powerpoint.comments+xml"/>
  <Override PartName="/ppt/comments/modernComment_120_B005E26D.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7" r:id="rId6"/>
    <p:sldId id="269" r:id="rId7"/>
    <p:sldId id="297" r:id="rId8"/>
    <p:sldId id="285" r:id="rId9"/>
    <p:sldId id="268" r:id="rId10"/>
    <p:sldId id="261" r:id="rId11"/>
    <p:sldId id="287" r:id="rId12"/>
    <p:sldId id="279" r:id="rId13"/>
    <p:sldId id="280" r:id="rId14"/>
    <p:sldId id="288" r:id="rId15"/>
    <p:sldId id="289" r:id="rId16"/>
    <p:sldId id="290" r:id="rId17"/>
    <p:sldId id="291" r:id="rId18"/>
    <p:sldId id="292" r:id="rId19"/>
    <p:sldId id="293" r:id="rId20"/>
    <p:sldId id="294" r:id="rId21"/>
    <p:sldId id="295" r:id="rId22"/>
    <p:sldId id="296" r:id="rId23"/>
    <p:sldId id="282" r:id="rId24"/>
    <p:sldId id="277" r:id="rId25"/>
    <p:sldId id="265" r:id="rId26"/>
    <p:sldId id="266" r:id="rId27"/>
    <p:sldId id="278" r:id="rId28"/>
    <p:sldId id="28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C077F8-8573-EEE0-B7B7-42F83088B50D}" name="Heinrich Venter" initials="HV" userId="694de3c83518532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CC"/>
    <a:srgbClr val="FFCCCC"/>
    <a:srgbClr val="FF5050"/>
    <a:srgbClr val="FFFF99"/>
    <a:srgbClr val="CBC32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B3EF88-C134-4ECF-A8E1-33D5E10640B0}" v="20" dt="2026-07-19T07:47:21.73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964" autoAdjust="0"/>
    <p:restoredTop sz="94660"/>
  </p:normalViewPr>
  <p:slideViewPr>
    <p:cSldViewPr snapToGrid="0">
      <p:cViewPr varScale="1">
        <p:scale>
          <a:sx n="105" d="100"/>
          <a:sy n="105" d="100"/>
        </p:scale>
        <p:origin x="16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inrich Venter" userId="694de3c83518532c" providerId="LiveId" clId="{10CD68D7-CBE1-4750-A2D1-7DEE064E9363}"/>
    <pc:docChg chg="undo custSel addSld delSld modSld">
      <pc:chgData name="Heinrich Venter" userId="694de3c83518532c" providerId="LiveId" clId="{10CD68D7-CBE1-4750-A2D1-7DEE064E9363}" dt="2026-07-19T07:49:15.322" v="5551" actId="20577"/>
      <pc:docMkLst>
        <pc:docMk/>
      </pc:docMkLst>
      <pc:sldChg chg="modSp mod">
        <pc:chgData name="Heinrich Venter" userId="694de3c83518532c" providerId="LiveId" clId="{10CD68D7-CBE1-4750-A2D1-7DEE064E9363}" dt="2026-07-19T07:27:38.676" v="5319"/>
        <pc:sldMkLst>
          <pc:docMk/>
          <pc:sldMk cId="4293113589" sldId="257"/>
        </pc:sldMkLst>
        <pc:spChg chg="mod">
          <ac:chgData name="Heinrich Venter" userId="694de3c83518532c" providerId="LiveId" clId="{10CD68D7-CBE1-4750-A2D1-7DEE064E9363}" dt="2026-07-19T07:27:38.676" v="5319"/>
          <ac:spMkLst>
            <pc:docMk/>
            <pc:sldMk cId="4293113589" sldId="257"/>
            <ac:spMk id="3" creationId="{EB73A0B0-8C2E-99B2-DFB1-974EF0CDEB52}"/>
          </ac:spMkLst>
        </pc:spChg>
      </pc:sldChg>
      <pc:sldChg chg="modSp mod">
        <pc:chgData name="Heinrich Venter" userId="694de3c83518532c" providerId="LiveId" clId="{10CD68D7-CBE1-4750-A2D1-7DEE064E9363}" dt="2026-07-19T07:29:13.040" v="5325" actId="27636"/>
        <pc:sldMkLst>
          <pc:docMk/>
          <pc:sldMk cId="2407707907" sldId="258"/>
        </pc:sldMkLst>
        <pc:spChg chg="mod">
          <ac:chgData name="Heinrich Venter" userId="694de3c83518532c" providerId="LiveId" clId="{10CD68D7-CBE1-4750-A2D1-7DEE064E9363}" dt="2026-07-19T07:28:36.545" v="5321" actId="27636"/>
          <ac:spMkLst>
            <pc:docMk/>
            <pc:sldMk cId="2407707907" sldId="258"/>
            <ac:spMk id="3" creationId="{48517805-ABAD-9125-D5EB-9C37B582DC52}"/>
          </ac:spMkLst>
        </pc:spChg>
        <pc:spChg chg="mod">
          <ac:chgData name="Heinrich Venter" userId="694de3c83518532c" providerId="LiveId" clId="{10CD68D7-CBE1-4750-A2D1-7DEE064E9363}" dt="2026-07-19T07:29:13.040" v="5325" actId="27636"/>
          <ac:spMkLst>
            <pc:docMk/>
            <pc:sldMk cId="2407707907" sldId="258"/>
            <ac:spMk id="4" creationId="{6748CEDE-0DB3-164E-E438-A407CD2F953C}"/>
          </ac:spMkLst>
        </pc:spChg>
      </pc:sldChg>
      <pc:sldChg chg="modSp mod">
        <pc:chgData name="Heinrich Venter" userId="694de3c83518532c" providerId="LiveId" clId="{10CD68D7-CBE1-4750-A2D1-7DEE064E9363}" dt="2026-07-19T07:32:11.473" v="5366" actId="115"/>
        <pc:sldMkLst>
          <pc:docMk/>
          <pc:sldMk cId="2961901457" sldId="269"/>
        </pc:sldMkLst>
        <pc:spChg chg="mod">
          <ac:chgData name="Heinrich Venter" userId="694de3c83518532c" providerId="LiveId" clId="{10CD68D7-CBE1-4750-A2D1-7DEE064E9363}" dt="2026-07-19T07:32:11.473" v="5366" actId="115"/>
          <ac:spMkLst>
            <pc:docMk/>
            <pc:sldMk cId="2961901457" sldId="269"/>
            <ac:spMk id="3" creationId="{A52EF0A1-3D21-8BB7-02F3-33253F2DFB43}"/>
          </ac:spMkLst>
        </pc:spChg>
      </pc:sldChg>
      <pc:sldChg chg="modSp mod">
        <pc:chgData name="Heinrich Venter" userId="694de3c83518532c" providerId="LiveId" clId="{10CD68D7-CBE1-4750-A2D1-7DEE064E9363}" dt="2026-07-19T07:49:15.322" v="5551" actId="20577"/>
        <pc:sldMkLst>
          <pc:docMk/>
          <pc:sldMk cId="3917241819" sldId="279"/>
        </pc:sldMkLst>
        <pc:spChg chg="mod">
          <ac:chgData name="Heinrich Venter" userId="694de3c83518532c" providerId="LiveId" clId="{10CD68D7-CBE1-4750-A2D1-7DEE064E9363}" dt="2026-07-19T07:49:15.322" v="5551" actId="20577"/>
          <ac:spMkLst>
            <pc:docMk/>
            <pc:sldMk cId="3917241819" sldId="279"/>
            <ac:spMk id="3" creationId="{109C2FE0-6991-DDAF-C4F7-B3415EC34474}"/>
          </ac:spMkLst>
        </pc:spChg>
      </pc:sldChg>
      <pc:sldChg chg="modSp mod">
        <pc:chgData name="Heinrich Venter" userId="694de3c83518532c" providerId="LiveId" clId="{10CD68D7-CBE1-4750-A2D1-7DEE064E9363}" dt="2026-07-19T07:36:17.581" v="5424" actId="20577"/>
        <pc:sldMkLst>
          <pc:docMk/>
          <pc:sldMk cId="4103162250" sldId="285"/>
        </pc:sldMkLst>
        <pc:spChg chg="mod">
          <ac:chgData name="Heinrich Venter" userId="694de3c83518532c" providerId="LiveId" clId="{10CD68D7-CBE1-4750-A2D1-7DEE064E9363}" dt="2026-07-19T07:35:49.169" v="5413"/>
          <ac:spMkLst>
            <pc:docMk/>
            <pc:sldMk cId="4103162250" sldId="285"/>
            <ac:spMk id="3" creationId="{A52EF0A1-3D21-8BB7-02F3-33253F2DFB43}"/>
          </ac:spMkLst>
        </pc:spChg>
        <pc:spChg chg="mod">
          <ac:chgData name="Heinrich Venter" userId="694de3c83518532c" providerId="LiveId" clId="{10CD68D7-CBE1-4750-A2D1-7DEE064E9363}" dt="2026-07-19T07:36:17.581" v="5424" actId="20577"/>
          <ac:spMkLst>
            <pc:docMk/>
            <pc:sldMk cId="4103162250" sldId="285"/>
            <ac:spMk id="4" creationId="{733B3A00-9BAD-4EED-A5B0-1F15087135FA}"/>
          </ac:spMkLst>
        </pc:spChg>
      </pc:sldChg>
      <pc:sldChg chg="modSp mod">
        <pc:chgData name="Heinrich Venter" userId="694de3c83518532c" providerId="LiveId" clId="{10CD68D7-CBE1-4750-A2D1-7DEE064E9363}" dt="2026-07-19T07:40:14.476" v="5438" actId="27636"/>
        <pc:sldMkLst>
          <pc:docMk/>
          <pc:sldMk cId="2953175661" sldId="288"/>
        </pc:sldMkLst>
        <pc:spChg chg="mod">
          <ac:chgData name="Heinrich Venter" userId="694de3c83518532c" providerId="LiveId" clId="{10CD68D7-CBE1-4750-A2D1-7DEE064E9363}" dt="2026-07-19T07:40:02.005" v="5433" actId="27636"/>
          <ac:spMkLst>
            <pc:docMk/>
            <pc:sldMk cId="2953175661" sldId="288"/>
            <ac:spMk id="5" creationId="{208AF426-607B-1936-143C-7541AD8896ED}"/>
          </ac:spMkLst>
        </pc:spChg>
        <pc:spChg chg="mod">
          <ac:chgData name="Heinrich Venter" userId="694de3c83518532c" providerId="LiveId" clId="{10CD68D7-CBE1-4750-A2D1-7DEE064E9363}" dt="2026-07-19T07:40:14.476" v="5438" actId="27636"/>
          <ac:spMkLst>
            <pc:docMk/>
            <pc:sldMk cId="2953175661" sldId="288"/>
            <ac:spMk id="10" creationId="{841EBE6D-B5D0-4C30-C32E-F3AA1F02B8FD}"/>
          </ac:spMkLst>
        </pc:spChg>
      </pc:sldChg>
      <pc:sldChg chg="modSp mod">
        <pc:chgData name="Heinrich Venter" userId="694de3c83518532c" providerId="LiveId" clId="{10CD68D7-CBE1-4750-A2D1-7DEE064E9363}" dt="2026-07-19T07:49:07.086" v="5541" actId="20577"/>
        <pc:sldMkLst>
          <pc:docMk/>
          <pc:sldMk cId="708745857" sldId="289"/>
        </pc:sldMkLst>
        <pc:spChg chg="mod">
          <ac:chgData name="Heinrich Venter" userId="694de3c83518532c" providerId="LiveId" clId="{10CD68D7-CBE1-4750-A2D1-7DEE064E9363}" dt="2026-07-19T07:49:07.086" v="5541" actId="20577"/>
          <ac:spMkLst>
            <pc:docMk/>
            <pc:sldMk cId="708745857" sldId="289"/>
            <ac:spMk id="3" creationId="{109C2FE0-6991-DDAF-C4F7-B3415EC34474}"/>
          </ac:spMkLst>
        </pc:spChg>
        <pc:spChg chg="mod">
          <ac:chgData name="Heinrich Venter" userId="694de3c83518532c" providerId="LiveId" clId="{10CD68D7-CBE1-4750-A2D1-7DEE064E9363}" dt="2026-07-19T07:42:05.561" v="5447" actId="113"/>
          <ac:spMkLst>
            <pc:docMk/>
            <pc:sldMk cId="708745857" sldId="289"/>
            <ac:spMk id="5" creationId="{F10EB81D-A986-42AD-847E-FF3A1F656CEB}"/>
          </ac:spMkLst>
        </pc:spChg>
      </pc:sldChg>
      <pc:sldChg chg="modSp mod">
        <pc:chgData name="Heinrich Venter" userId="694de3c83518532c" providerId="LiveId" clId="{10CD68D7-CBE1-4750-A2D1-7DEE064E9363}" dt="2026-07-19T07:43:17.308" v="5453" actId="5793"/>
        <pc:sldMkLst>
          <pc:docMk/>
          <pc:sldMk cId="1027777261" sldId="290"/>
        </pc:sldMkLst>
        <pc:spChg chg="mod">
          <ac:chgData name="Heinrich Venter" userId="694de3c83518532c" providerId="LiveId" clId="{10CD68D7-CBE1-4750-A2D1-7DEE064E9363}" dt="2026-07-19T07:43:17.308" v="5453" actId="5793"/>
          <ac:spMkLst>
            <pc:docMk/>
            <pc:sldMk cId="1027777261" sldId="290"/>
            <ac:spMk id="5" creationId="{50C57F65-7853-E45D-CA58-31BCC9DE7B02}"/>
          </ac:spMkLst>
        </pc:spChg>
        <pc:spChg chg="mod">
          <ac:chgData name="Heinrich Venter" userId="694de3c83518532c" providerId="LiveId" clId="{10CD68D7-CBE1-4750-A2D1-7DEE064E9363}" dt="2026-07-19T07:42:53.567" v="5450" actId="5793"/>
          <ac:spMkLst>
            <pc:docMk/>
            <pc:sldMk cId="1027777261" sldId="290"/>
            <ac:spMk id="11" creationId="{E3D936A8-CA08-48BB-AA98-F3A8B43B31CF}"/>
          </ac:spMkLst>
        </pc:spChg>
      </pc:sldChg>
      <pc:sldChg chg="modSp mod">
        <pc:chgData name="Heinrich Venter" userId="694de3c83518532c" providerId="LiveId" clId="{10CD68D7-CBE1-4750-A2D1-7DEE064E9363}" dt="2026-07-19T07:43:50.635" v="5455" actId="27636"/>
        <pc:sldMkLst>
          <pc:docMk/>
          <pc:sldMk cId="733961800" sldId="291"/>
        </pc:sldMkLst>
        <pc:spChg chg="mod">
          <ac:chgData name="Heinrich Venter" userId="694de3c83518532c" providerId="LiveId" clId="{10CD68D7-CBE1-4750-A2D1-7DEE064E9363}" dt="2026-07-19T07:43:50.635" v="5455" actId="27636"/>
          <ac:spMkLst>
            <pc:docMk/>
            <pc:sldMk cId="733961800" sldId="291"/>
            <ac:spMk id="5" creationId="{208AF426-607B-1936-143C-7541AD8896ED}"/>
          </ac:spMkLst>
        </pc:spChg>
      </pc:sldChg>
      <pc:sldChg chg="modSp mod">
        <pc:chgData name="Heinrich Venter" userId="694de3c83518532c" providerId="LiveId" clId="{10CD68D7-CBE1-4750-A2D1-7DEE064E9363}" dt="2026-07-19T07:48:47.637" v="5509" actId="20577"/>
        <pc:sldMkLst>
          <pc:docMk/>
          <pc:sldMk cId="3091740916" sldId="292"/>
        </pc:sldMkLst>
        <pc:spChg chg="mod">
          <ac:chgData name="Heinrich Venter" userId="694de3c83518532c" providerId="LiveId" clId="{10CD68D7-CBE1-4750-A2D1-7DEE064E9363}" dt="2026-07-19T07:48:47.637" v="5509" actId="20577"/>
          <ac:spMkLst>
            <pc:docMk/>
            <pc:sldMk cId="3091740916" sldId="292"/>
            <ac:spMk id="3" creationId="{109C2FE0-6991-DDAF-C4F7-B3415EC34474}"/>
          </ac:spMkLst>
        </pc:spChg>
        <pc:spChg chg="mod">
          <ac:chgData name="Heinrich Venter" userId="694de3c83518532c" providerId="LiveId" clId="{10CD68D7-CBE1-4750-A2D1-7DEE064E9363}" dt="2026-07-19T07:45:04.755" v="5460" actId="113"/>
          <ac:spMkLst>
            <pc:docMk/>
            <pc:sldMk cId="3091740916" sldId="292"/>
            <ac:spMk id="5" creationId="{F10EB81D-A986-42AD-847E-FF3A1F656CEB}"/>
          </ac:spMkLst>
        </pc:spChg>
      </pc:sldChg>
      <pc:sldChg chg="modSp mod">
        <pc:chgData name="Heinrich Venter" userId="694de3c83518532c" providerId="LiveId" clId="{10CD68D7-CBE1-4750-A2D1-7DEE064E9363}" dt="2026-07-19T07:45:38.419" v="5463" actId="113"/>
        <pc:sldMkLst>
          <pc:docMk/>
          <pc:sldMk cId="3290795109" sldId="293"/>
        </pc:sldMkLst>
        <pc:spChg chg="mod">
          <ac:chgData name="Heinrich Venter" userId="694de3c83518532c" providerId="LiveId" clId="{10CD68D7-CBE1-4750-A2D1-7DEE064E9363}" dt="2026-07-19T07:45:38.419" v="5463" actId="113"/>
          <ac:spMkLst>
            <pc:docMk/>
            <pc:sldMk cId="3290795109" sldId="293"/>
            <ac:spMk id="11" creationId="{E3D936A8-CA08-48BB-AA98-F3A8B43B31CF}"/>
          </ac:spMkLst>
        </pc:spChg>
      </pc:sldChg>
      <pc:sldChg chg="modSp mod">
        <pc:chgData name="Heinrich Venter" userId="694de3c83518532c" providerId="LiveId" clId="{10CD68D7-CBE1-4750-A2D1-7DEE064E9363}" dt="2026-07-19T07:48:24.589" v="5499" actId="20577"/>
        <pc:sldMkLst>
          <pc:docMk/>
          <pc:sldMk cId="2380697536" sldId="295"/>
        </pc:sldMkLst>
        <pc:spChg chg="mod">
          <ac:chgData name="Heinrich Venter" userId="694de3c83518532c" providerId="LiveId" clId="{10CD68D7-CBE1-4750-A2D1-7DEE064E9363}" dt="2026-07-19T07:48:24.589" v="5499" actId="20577"/>
          <ac:spMkLst>
            <pc:docMk/>
            <pc:sldMk cId="2380697536" sldId="295"/>
            <ac:spMk id="3" creationId="{109C2FE0-6991-DDAF-C4F7-B3415EC34474}"/>
          </ac:spMkLst>
        </pc:spChg>
        <pc:spChg chg="mod">
          <ac:chgData name="Heinrich Venter" userId="694de3c83518532c" providerId="LiveId" clId="{10CD68D7-CBE1-4750-A2D1-7DEE064E9363}" dt="2026-07-19T07:46:26.812" v="5468" actId="113"/>
          <ac:spMkLst>
            <pc:docMk/>
            <pc:sldMk cId="2380697536" sldId="295"/>
            <ac:spMk id="5" creationId="{F10EB81D-A986-42AD-847E-FF3A1F656CEB}"/>
          </ac:spMkLst>
        </pc:spChg>
      </pc:sldChg>
      <pc:sldChg chg="modSp mod">
        <pc:chgData name="Heinrich Venter" userId="694de3c83518532c" providerId="LiveId" clId="{10CD68D7-CBE1-4750-A2D1-7DEE064E9363}" dt="2026-07-19T07:47:24.773" v="5471" actId="113"/>
        <pc:sldMkLst>
          <pc:docMk/>
          <pc:sldMk cId="1324961155" sldId="296"/>
        </pc:sldMkLst>
        <pc:spChg chg="mod">
          <ac:chgData name="Heinrich Venter" userId="694de3c83518532c" providerId="LiveId" clId="{10CD68D7-CBE1-4750-A2D1-7DEE064E9363}" dt="2026-07-19T07:47:24.773" v="5471" actId="113"/>
          <ac:spMkLst>
            <pc:docMk/>
            <pc:sldMk cId="1324961155" sldId="296"/>
            <ac:spMk id="5" creationId="{50C57F65-7853-E45D-CA58-31BCC9DE7B02}"/>
          </ac:spMkLst>
        </pc:spChg>
      </pc:sldChg>
      <pc:sldChg chg="delSp modSp add mod">
        <pc:chgData name="Heinrich Venter" userId="694de3c83518532c" providerId="LiveId" clId="{10CD68D7-CBE1-4750-A2D1-7DEE064E9363}" dt="2026-07-19T07:33:22.639" v="5412" actId="27636"/>
        <pc:sldMkLst>
          <pc:docMk/>
          <pc:sldMk cId="2786755706" sldId="297"/>
        </pc:sldMkLst>
        <pc:spChg chg="del mod">
          <ac:chgData name="Heinrich Venter" userId="694de3c83518532c" providerId="LiveId" clId="{10CD68D7-CBE1-4750-A2D1-7DEE064E9363}" dt="2026-07-19T07:29:56.896" v="5334" actId="478"/>
          <ac:spMkLst>
            <pc:docMk/>
            <pc:sldMk cId="2786755706" sldId="297"/>
            <ac:spMk id="2" creationId="{94DDEAAA-AF49-3DC7-1377-01361DDFF102}"/>
          </ac:spMkLst>
        </pc:spChg>
        <pc:spChg chg="mod">
          <ac:chgData name="Heinrich Venter" userId="694de3c83518532c" providerId="LiveId" clId="{10CD68D7-CBE1-4750-A2D1-7DEE064E9363}" dt="2026-07-19T07:33:22.639" v="5412" actId="27636"/>
          <ac:spMkLst>
            <pc:docMk/>
            <pc:sldMk cId="2786755706" sldId="297"/>
            <ac:spMk id="3" creationId="{5ACC3126-8DD8-8C54-83C8-B51AC26F67BA}"/>
          </ac:spMkLst>
        </pc:spChg>
      </pc:sldChg>
    </pc:docChg>
  </pc:docChgLst>
</pc:chgInfo>
</file>

<file path=ppt/comments/modernComment_10D_B08B0791.xml><?xml version="1.0" encoding="utf-8"?>
<p188:cmLst xmlns:a="http://schemas.openxmlformats.org/drawingml/2006/main" xmlns:r="http://schemas.openxmlformats.org/officeDocument/2006/relationships" xmlns:p188="http://schemas.microsoft.com/office/powerpoint/2018/8/main">
  <p188:cm id="{439A6A2D-3C6E-47F9-9737-920456A2F210}" authorId="{13C077F8-8573-EEE0-B7B7-42F83088B50D}" created="2026-06-01T23:41:17.764">
    <ac:deMkLst xmlns:ac="http://schemas.microsoft.com/office/drawing/2013/main/command">
      <pc:docMk xmlns:pc="http://schemas.microsoft.com/office/powerpoint/2013/main/command"/>
      <pc:sldMk xmlns:pc="http://schemas.microsoft.com/office/powerpoint/2013/main/command" cId="2961901457" sldId="269"/>
      <ac:spMk id="3" creationId="{A52EF0A1-3D21-8BB7-02F3-33253F2DFB43}"/>
    </ac:deMkLst>
    <p188:txBody>
      <a:bodyPr/>
      <a:lstStyle/>
      <a:p>
        <a:r>
          <a:rPr lang="en-NZ"/>
          <a:t>Break this into parts use two slides if possible and use headings</a:t>
        </a:r>
      </a:p>
    </p188:txBody>
  </p188:cm>
</p188:cmLst>
</file>

<file path=ppt/comments/modernComment_11D_F491498A.xml><?xml version="1.0" encoding="utf-8"?>
<p188:cmLst xmlns:a="http://schemas.openxmlformats.org/drawingml/2006/main" xmlns:r="http://schemas.openxmlformats.org/officeDocument/2006/relationships" xmlns:p188="http://schemas.microsoft.com/office/powerpoint/2018/8/main">
  <p188:cm id="{BCCFE238-01DD-4648-9036-2578AD0A7E92}" authorId="{13C077F8-8573-EEE0-B7B7-42F83088B50D}" created="2026-06-01T23:40:54.990">
    <pc:sldMkLst xmlns:pc="http://schemas.microsoft.com/office/powerpoint/2013/main/command">
      <pc:docMk/>
      <pc:sldMk cId="4103162250" sldId="285"/>
    </pc:sldMkLst>
    <p188:txBody>
      <a:bodyPr/>
      <a:lstStyle/>
      <a:p>
        <a:r>
          <a:rPr lang="en-NZ"/>
          <a:t>Doesn’t show that you understand
For example: I am using I2C between this and that. The way I2C works is
The reason why I am using it is</a:t>
        </a:r>
      </a:p>
    </p188:txBody>
  </p188:cm>
</p188:cmLst>
</file>

<file path=ppt/comments/modernComment_101_FFE3B6F5.xml><?xml version="1.0" encoding="utf-8"?>
<p188:cmLst xmlns:a="http://schemas.openxmlformats.org/drawingml/2006/main" xmlns:r="http://schemas.openxmlformats.org/officeDocument/2006/relationships" xmlns:p188="http://schemas.microsoft.com/office/powerpoint/2018/8/main">
  <p188:cm id="{9462C05B-E1ED-4E00-AD90-239CB99C6C27}" authorId="{13C077F8-8573-EEE0-B7B7-42F83088B50D}" created="2026-06-01T23:35:41.899">
    <ac:deMkLst xmlns:ac="http://schemas.microsoft.com/office/drawing/2013/main/command">
      <pc:docMk xmlns:pc="http://schemas.microsoft.com/office/powerpoint/2013/main/command"/>
      <pc:sldMk xmlns:pc="http://schemas.microsoft.com/office/powerpoint/2013/main/command" cId="4293113589" sldId="257"/>
      <ac:spMk id="3" creationId="{EB73A0B0-8C2E-99B2-DFB1-974EF0CDEB52}"/>
    </ac:deMkLst>
    <p188:txBody>
      <a:bodyPr/>
      <a:lstStyle/>
      <a:p>
        <a:r>
          <a:rPr lang="en-NZ"/>
          <a:t>With this try and talk about exactly what your project is, it is not clear with this. Get really specific about the electronics parts of this outcome</a:t>
        </a:r>
      </a:p>
    </p188:txBody>
  </p188:cm>
</p188:cmLst>
</file>

<file path=ppt/comments/modernComment_102_8F82B503.xml><?xml version="1.0" encoding="utf-8"?>
<p188:cmLst xmlns:a="http://schemas.openxmlformats.org/drawingml/2006/main" xmlns:r="http://schemas.openxmlformats.org/officeDocument/2006/relationships" xmlns:p188="http://schemas.microsoft.com/office/powerpoint/2018/8/main">
  <p188:cm id="{4366C09B-AEC2-46F9-A41F-DF04B9AB752B}" authorId="{13C077F8-8573-EEE0-B7B7-42F83088B50D}" created="2026-06-01T23:36:47.084">
    <ac:deMkLst xmlns:ac="http://schemas.microsoft.com/office/drawing/2013/main/command">
      <pc:docMk xmlns:pc="http://schemas.microsoft.com/office/powerpoint/2013/main/command"/>
      <pc:sldMk xmlns:pc="http://schemas.microsoft.com/office/powerpoint/2013/main/command" cId="2407707907" sldId="258"/>
      <ac:spMk id="3" creationId="{48517805-ABAD-9125-D5EB-9C37B582DC52}"/>
    </ac:deMkLst>
    <p188:txBody>
      <a:bodyPr/>
      <a:lstStyle/>
      <a:p>
        <a:r>
          <a:rPr lang="en-NZ"/>
          <a:t>Re write in own words, and don’t go too much in depth all it is asking is how you are meeting these techniques. So simply :I am going meet this by including x</a:t>
        </a:r>
      </a:p>
    </p188:txBody>
  </p188:cm>
</p188:cmLst>
</file>

<file path=ppt/comments/modernComment_117_E97C5DDB.xml><?xml version="1.0" encoding="utf-8"?>
<p188:cmLst xmlns:a="http://schemas.openxmlformats.org/drawingml/2006/main" xmlns:r="http://schemas.openxmlformats.org/officeDocument/2006/relationships" xmlns:p188="http://schemas.microsoft.com/office/powerpoint/2018/8/main">
  <p188:cm id="{14EA2BAC-3D7E-4AD0-8925-75C71D51EC5E}" authorId="{13C077F8-8573-EEE0-B7B7-42F83088B50D}" created="2026-06-01T23:42:31.183">
    <pc:sldMkLst xmlns:pc="http://schemas.microsoft.com/office/powerpoint/2013/main/command">
      <pc:docMk/>
      <pc:sldMk cId="3917241819" sldId="279"/>
    </pc:sldMkLst>
    <p188:txBody>
      <a:bodyPr/>
      <a:lstStyle/>
      <a:p>
        <a:r>
          <a:rPr lang="en-NZ"/>
          <a:t>Really use own language</a:t>
        </a:r>
      </a:p>
    </p188:txBody>
  </p188:cm>
</p188:cmLst>
</file>

<file path=ppt/comments/modernComment_120_B005E26D.xml><?xml version="1.0" encoding="utf-8"?>
<p188:cmLst xmlns:a="http://schemas.openxmlformats.org/drawingml/2006/main" xmlns:r="http://schemas.openxmlformats.org/officeDocument/2006/relationships" xmlns:p188="http://schemas.microsoft.com/office/powerpoint/2018/8/main">
  <p188:cm id="{7BCE5537-69C4-4ECE-925D-538EA70AB39C}" authorId="{13C077F8-8573-EEE0-B7B7-42F83088B50D}" created="2026-06-01T23:42:42.580">
    <ac:deMkLst xmlns:ac="http://schemas.microsoft.com/office/drawing/2013/main/command">
      <pc:docMk xmlns:pc="http://schemas.microsoft.com/office/powerpoint/2013/main/command"/>
      <pc:sldMk xmlns:pc="http://schemas.microsoft.com/office/powerpoint/2013/main/command" cId="2953175661" sldId="288"/>
      <ac:spMk id="5" creationId="{208AF426-607B-1936-143C-7541AD8896ED}"/>
    </ac:deMkLst>
    <p188:txBody>
      <a:bodyPr/>
      <a:lstStyle/>
      <a:p>
        <a:r>
          <a:rPr lang="en-NZ"/>
          <a:t>AI</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98D9B-145B-9A82-3C38-BCF48D31EC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Z"/>
          </a:p>
        </p:txBody>
      </p:sp>
      <p:sp>
        <p:nvSpPr>
          <p:cNvPr id="3" name="Subtitle 2">
            <a:extLst>
              <a:ext uri="{FF2B5EF4-FFF2-40B4-BE49-F238E27FC236}">
                <a16:creationId xmlns:a16="http://schemas.microsoft.com/office/drawing/2014/main" id="{D910AC99-C740-9F4C-428D-D41BD763F9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Z"/>
          </a:p>
        </p:txBody>
      </p:sp>
      <p:sp>
        <p:nvSpPr>
          <p:cNvPr id="4" name="Date Placeholder 3">
            <a:extLst>
              <a:ext uri="{FF2B5EF4-FFF2-40B4-BE49-F238E27FC236}">
                <a16:creationId xmlns:a16="http://schemas.microsoft.com/office/drawing/2014/main" id="{23176CC6-7CE4-1664-EB37-BB0D71D727FC}"/>
              </a:ext>
            </a:extLst>
          </p:cNvPr>
          <p:cNvSpPr>
            <a:spLocks noGrp="1"/>
          </p:cNvSpPr>
          <p:nvPr>
            <p:ph type="dt" sz="half" idx="10"/>
          </p:nvPr>
        </p:nvSpPr>
        <p:spPr/>
        <p:txBody>
          <a:bodyPr/>
          <a:lstStyle/>
          <a:p>
            <a:fld id="{A609F6A2-FEED-40EB-83D5-ADDC04076AF0}" type="datetimeFigureOut">
              <a:rPr lang="en-NZ" smtClean="0"/>
              <a:t>19/07/2026</a:t>
            </a:fld>
            <a:endParaRPr lang="en-NZ"/>
          </a:p>
        </p:txBody>
      </p:sp>
      <p:sp>
        <p:nvSpPr>
          <p:cNvPr id="5" name="Footer Placeholder 4">
            <a:extLst>
              <a:ext uri="{FF2B5EF4-FFF2-40B4-BE49-F238E27FC236}">
                <a16:creationId xmlns:a16="http://schemas.microsoft.com/office/drawing/2014/main" id="{B43E30A3-92C6-7271-0C2C-AB9E109D3C70}"/>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FD50F3C-19C2-B4E3-B4EA-637F2C2E4B2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7438893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69629F-D34A-E636-2CA2-AE6B6F56B57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002ABDA8-63AE-671D-2E21-D0FB6949135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DE5F8534-6E58-6E88-9523-8A8949DC31B9}"/>
              </a:ext>
            </a:extLst>
          </p:cNvPr>
          <p:cNvSpPr>
            <a:spLocks noGrp="1"/>
          </p:cNvSpPr>
          <p:nvPr>
            <p:ph type="dt" sz="half" idx="10"/>
          </p:nvPr>
        </p:nvSpPr>
        <p:spPr/>
        <p:txBody>
          <a:bodyPr/>
          <a:lstStyle/>
          <a:p>
            <a:fld id="{A609F6A2-FEED-40EB-83D5-ADDC04076AF0}" type="datetimeFigureOut">
              <a:rPr lang="en-NZ" smtClean="0"/>
              <a:t>19/07/2026</a:t>
            </a:fld>
            <a:endParaRPr lang="en-NZ"/>
          </a:p>
        </p:txBody>
      </p:sp>
      <p:sp>
        <p:nvSpPr>
          <p:cNvPr id="5" name="Footer Placeholder 4">
            <a:extLst>
              <a:ext uri="{FF2B5EF4-FFF2-40B4-BE49-F238E27FC236}">
                <a16:creationId xmlns:a16="http://schemas.microsoft.com/office/drawing/2014/main" id="{A86B0705-725B-15CC-440D-F9EEA72763DC}"/>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02E39DF6-4133-D5EE-3739-6782A856E400}"/>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984747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0A79A-EC40-F1E2-4DB6-8E6EEC72769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Z"/>
          </a:p>
        </p:txBody>
      </p:sp>
      <p:sp>
        <p:nvSpPr>
          <p:cNvPr id="3" name="Text Placeholder 2">
            <a:extLst>
              <a:ext uri="{FF2B5EF4-FFF2-40B4-BE49-F238E27FC236}">
                <a16:creationId xmlns:a16="http://schemas.microsoft.com/office/drawing/2014/main" id="{1EB7B16D-87B6-817E-24DE-DFDCEE57F00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7DBC8AE-A43E-F7C5-2810-A28B0248A132}"/>
              </a:ext>
            </a:extLst>
          </p:cNvPr>
          <p:cNvSpPr>
            <a:spLocks noGrp="1"/>
          </p:cNvSpPr>
          <p:nvPr>
            <p:ph type="dt" sz="half" idx="10"/>
          </p:nvPr>
        </p:nvSpPr>
        <p:spPr/>
        <p:txBody>
          <a:bodyPr/>
          <a:lstStyle/>
          <a:p>
            <a:fld id="{A609F6A2-FEED-40EB-83D5-ADDC04076AF0}" type="datetimeFigureOut">
              <a:rPr lang="en-NZ" smtClean="0"/>
              <a:t>19/07/2026</a:t>
            </a:fld>
            <a:endParaRPr lang="en-NZ"/>
          </a:p>
        </p:txBody>
      </p:sp>
      <p:sp>
        <p:nvSpPr>
          <p:cNvPr id="5" name="Footer Placeholder 4">
            <a:extLst>
              <a:ext uri="{FF2B5EF4-FFF2-40B4-BE49-F238E27FC236}">
                <a16:creationId xmlns:a16="http://schemas.microsoft.com/office/drawing/2014/main" id="{22B1CE41-420D-F947-C83A-891FECF3F762}"/>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073B702-0953-8462-419A-57BAA3CEDC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91937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037A3C-1B8D-954F-2FDA-2882C7DF2BA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47269A1E-630D-115D-AA60-9319B17A6F6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Content Placeholder 3">
            <a:extLst>
              <a:ext uri="{FF2B5EF4-FFF2-40B4-BE49-F238E27FC236}">
                <a16:creationId xmlns:a16="http://schemas.microsoft.com/office/drawing/2014/main" id="{2FC8FE08-3D2D-72A8-DFB0-1C6CFFEBAB6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Date Placeholder 4">
            <a:extLst>
              <a:ext uri="{FF2B5EF4-FFF2-40B4-BE49-F238E27FC236}">
                <a16:creationId xmlns:a16="http://schemas.microsoft.com/office/drawing/2014/main" id="{96241EFA-9139-CE4A-77BE-D32E836710E9}"/>
              </a:ext>
            </a:extLst>
          </p:cNvPr>
          <p:cNvSpPr>
            <a:spLocks noGrp="1"/>
          </p:cNvSpPr>
          <p:nvPr>
            <p:ph type="dt" sz="half" idx="10"/>
          </p:nvPr>
        </p:nvSpPr>
        <p:spPr/>
        <p:txBody>
          <a:bodyPr/>
          <a:lstStyle/>
          <a:p>
            <a:fld id="{A609F6A2-FEED-40EB-83D5-ADDC04076AF0}" type="datetimeFigureOut">
              <a:rPr lang="en-NZ" smtClean="0"/>
              <a:t>19/07/2026</a:t>
            </a:fld>
            <a:endParaRPr lang="en-NZ"/>
          </a:p>
        </p:txBody>
      </p:sp>
      <p:sp>
        <p:nvSpPr>
          <p:cNvPr id="6" name="Footer Placeholder 5">
            <a:extLst>
              <a:ext uri="{FF2B5EF4-FFF2-40B4-BE49-F238E27FC236}">
                <a16:creationId xmlns:a16="http://schemas.microsoft.com/office/drawing/2014/main" id="{85E62D1A-AABB-A589-9AED-358678D3CEA5}"/>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CB9A46D8-E579-390A-E3D5-01F15AF61D36}"/>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274757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7B3BFC-2D18-C004-A241-FE4798E8CA24}"/>
              </a:ext>
            </a:extLst>
          </p:cNvPr>
          <p:cNvSpPr>
            <a:spLocks noGrp="1"/>
          </p:cNvSpPr>
          <p:nvPr>
            <p:ph type="title"/>
          </p:nvPr>
        </p:nvSpPr>
        <p:spPr>
          <a:xfrm>
            <a:off x="839788" y="365125"/>
            <a:ext cx="10515600" cy="1325563"/>
          </a:xfrm>
        </p:spPr>
        <p:txBody>
          <a:bodyPr/>
          <a:lstStyle/>
          <a:p>
            <a:r>
              <a:rPr lang="en-US"/>
              <a:t>Click to edit Master title style</a:t>
            </a:r>
            <a:endParaRPr lang="en-NZ"/>
          </a:p>
        </p:txBody>
      </p:sp>
      <p:sp>
        <p:nvSpPr>
          <p:cNvPr id="3" name="Text Placeholder 2">
            <a:extLst>
              <a:ext uri="{FF2B5EF4-FFF2-40B4-BE49-F238E27FC236}">
                <a16:creationId xmlns:a16="http://schemas.microsoft.com/office/drawing/2014/main" id="{A88DB30A-BC29-1BD7-BF26-EB3DB6EFE74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B44B81-C8FA-6360-8BCF-95CC6E0862B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Text Placeholder 4">
            <a:extLst>
              <a:ext uri="{FF2B5EF4-FFF2-40B4-BE49-F238E27FC236}">
                <a16:creationId xmlns:a16="http://schemas.microsoft.com/office/drawing/2014/main" id="{D2A9765F-1BA1-58FC-A1ED-234A797664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2FF36E5-6546-4D0B-4617-68A9685259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7" name="Date Placeholder 6">
            <a:extLst>
              <a:ext uri="{FF2B5EF4-FFF2-40B4-BE49-F238E27FC236}">
                <a16:creationId xmlns:a16="http://schemas.microsoft.com/office/drawing/2014/main" id="{6E7D6AA3-F308-55AE-34F3-4ACD72807321}"/>
              </a:ext>
            </a:extLst>
          </p:cNvPr>
          <p:cNvSpPr>
            <a:spLocks noGrp="1"/>
          </p:cNvSpPr>
          <p:nvPr>
            <p:ph type="dt" sz="half" idx="10"/>
          </p:nvPr>
        </p:nvSpPr>
        <p:spPr/>
        <p:txBody>
          <a:bodyPr/>
          <a:lstStyle/>
          <a:p>
            <a:fld id="{A609F6A2-FEED-40EB-83D5-ADDC04076AF0}" type="datetimeFigureOut">
              <a:rPr lang="en-NZ" smtClean="0"/>
              <a:t>19/07/2026</a:t>
            </a:fld>
            <a:endParaRPr lang="en-NZ"/>
          </a:p>
        </p:txBody>
      </p:sp>
      <p:sp>
        <p:nvSpPr>
          <p:cNvPr id="8" name="Footer Placeholder 7">
            <a:extLst>
              <a:ext uri="{FF2B5EF4-FFF2-40B4-BE49-F238E27FC236}">
                <a16:creationId xmlns:a16="http://schemas.microsoft.com/office/drawing/2014/main" id="{98EF0DB1-9252-E187-E7A4-8396F47AFA86}"/>
              </a:ext>
            </a:extLst>
          </p:cNvPr>
          <p:cNvSpPr>
            <a:spLocks noGrp="1"/>
          </p:cNvSpPr>
          <p:nvPr>
            <p:ph type="ftr" sz="quarter" idx="11"/>
          </p:nvPr>
        </p:nvSpPr>
        <p:spPr/>
        <p:txBody>
          <a:bodyPr/>
          <a:lstStyle/>
          <a:p>
            <a:endParaRPr lang="en-NZ"/>
          </a:p>
        </p:txBody>
      </p:sp>
      <p:sp>
        <p:nvSpPr>
          <p:cNvPr id="9" name="Slide Number Placeholder 8">
            <a:extLst>
              <a:ext uri="{FF2B5EF4-FFF2-40B4-BE49-F238E27FC236}">
                <a16:creationId xmlns:a16="http://schemas.microsoft.com/office/drawing/2014/main" id="{EDCB405F-8CEC-2FBA-2092-12BBD10BA22B}"/>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342246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670DA-0052-E1B9-859C-040BC64A52BC}"/>
              </a:ext>
            </a:extLst>
          </p:cNvPr>
          <p:cNvSpPr>
            <a:spLocks noGrp="1"/>
          </p:cNvSpPr>
          <p:nvPr>
            <p:ph type="title"/>
          </p:nvPr>
        </p:nvSpPr>
        <p:spPr/>
        <p:txBody>
          <a:bodyPr/>
          <a:lstStyle/>
          <a:p>
            <a:r>
              <a:rPr lang="en-US"/>
              <a:t>Click to edit Master title style</a:t>
            </a:r>
            <a:endParaRPr lang="en-NZ"/>
          </a:p>
        </p:txBody>
      </p:sp>
      <p:sp>
        <p:nvSpPr>
          <p:cNvPr id="3" name="Date Placeholder 2">
            <a:extLst>
              <a:ext uri="{FF2B5EF4-FFF2-40B4-BE49-F238E27FC236}">
                <a16:creationId xmlns:a16="http://schemas.microsoft.com/office/drawing/2014/main" id="{DECE9831-6830-A6FB-EA6A-F6CCD39DF890}"/>
              </a:ext>
            </a:extLst>
          </p:cNvPr>
          <p:cNvSpPr>
            <a:spLocks noGrp="1"/>
          </p:cNvSpPr>
          <p:nvPr>
            <p:ph type="dt" sz="half" idx="10"/>
          </p:nvPr>
        </p:nvSpPr>
        <p:spPr/>
        <p:txBody>
          <a:bodyPr/>
          <a:lstStyle/>
          <a:p>
            <a:fld id="{A609F6A2-FEED-40EB-83D5-ADDC04076AF0}" type="datetimeFigureOut">
              <a:rPr lang="en-NZ" smtClean="0"/>
              <a:t>19/07/2026</a:t>
            </a:fld>
            <a:endParaRPr lang="en-NZ"/>
          </a:p>
        </p:txBody>
      </p:sp>
      <p:sp>
        <p:nvSpPr>
          <p:cNvPr id="4" name="Footer Placeholder 3">
            <a:extLst>
              <a:ext uri="{FF2B5EF4-FFF2-40B4-BE49-F238E27FC236}">
                <a16:creationId xmlns:a16="http://schemas.microsoft.com/office/drawing/2014/main" id="{DE93BEA7-507F-BDBD-D6F5-DA4CB7472FFA}"/>
              </a:ext>
            </a:extLst>
          </p:cNvPr>
          <p:cNvSpPr>
            <a:spLocks noGrp="1"/>
          </p:cNvSpPr>
          <p:nvPr>
            <p:ph type="ftr" sz="quarter" idx="11"/>
          </p:nvPr>
        </p:nvSpPr>
        <p:spPr/>
        <p:txBody>
          <a:bodyPr/>
          <a:lstStyle/>
          <a:p>
            <a:endParaRPr lang="en-NZ"/>
          </a:p>
        </p:txBody>
      </p:sp>
      <p:sp>
        <p:nvSpPr>
          <p:cNvPr id="5" name="Slide Number Placeholder 4">
            <a:extLst>
              <a:ext uri="{FF2B5EF4-FFF2-40B4-BE49-F238E27FC236}">
                <a16:creationId xmlns:a16="http://schemas.microsoft.com/office/drawing/2014/main" id="{0702DCD7-CB68-8F71-700F-DB432500B83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0128052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5045C66-18CD-E8B1-074A-6E79530611A5}"/>
              </a:ext>
            </a:extLst>
          </p:cNvPr>
          <p:cNvSpPr>
            <a:spLocks noGrp="1"/>
          </p:cNvSpPr>
          <p:nvPr>
            <p:ph type="dt" sz="half" idx="10"/>
          </p:nvPr>
        </p:nvSpPr>
        <p:spPr/>
        <p:txBody>
          <a:bodyPr/>
          <a:lstStyle/>
          <a:p>
            <a:fld id="{A609F6A2-FEED-40EB-83D5-ADDC04076AF0}" type="datetimeFigureOut">
              <a:rPr lang="en-NZ" smtClean="0"/>
              <a:t>19/07/2026</a:t>
            </a:fld>
            <a:endParaRPr lang="en-NZ"/>
          </a:p>
        </p:txBody>
      </p:sp>
      <p:sp>
        <p:nvSpPr>
          <p:cNvPr id="3" name="Footer Placeholder 2">
            <a:extLst>
              <a:ext uri="{FF2B5EF4-FFF2-40B4-BE49-F238E27FC236}">
                <a16:creationId xmlns:a16="http://schemas.microsoft.com/office/drawing/2014/main" id="{6F9BA5B8-4E39-D65D-79D4-75F5ACCCCF81}"/>
              </a:ext>
            </a:extLst>
          </p:cNvPr>
          <p:cNvSpPr>
            <a:spLocks noGrp="1"/>
          </p:cNvSpPr>
          <p:nvPr>
            <p:ph type="ftr" sz="quarter" idx="11"/>
          </p:nvPr>
        </p:nvSpPr>
        <p:spPr/>
        <p:txBody>
          <a:bodyPr/>
          <a:lstStyle/>
          <a:p>
            <a:endParaRPr lang="en-NZ"/>
          </a:p>
        </p:txBody>
      </p:sp>
      <p:sp>
        <p:nvSpPr>
          <p:cNvPr id="4" name="Slide Number Placeholder 3">
            <a:extLst>
              <a:ext uri="{FF2B5EF4-FFF2-40B4-BE49-F238E27FC236}">
                <a16:creationId xmlns:a16="http://schemas.microsoft.com/office/drawing/2014/main" id="{C66761BF-00A0-A01E-FDAE-C61DEE4BF5D3}"/>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1386240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CEE19-727A-7893-45C2-FBD4D50BF3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Content Placeholder 2">
            <a:extLst>
              <a:ext uri="{FF2B5EF4-FFF2-40B4-BE49-F238E27FC236}">
                <a16:creationId xmlns:a16="http://schemas.microsoft.com/office/drawing/2014/main" id="{A30F136F-FCAA-326A-E070-17553D4249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Text Placeholder 3">
            <a:extLst>
              <a:ext uri="{FF2B5EF4-FFF2-40B4-BE49-F238E27FC236}">
                <a16:creationId xmlns:a16="http://schemas.microsoft.com/office/drawing/2014/main" id="{C73C8E90-582E-D30B-D58F-7263766E71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576D0E-8701-819C-ECB1-F93F0C679DCB}"/>
              </a:ext>
            </a:extLst>
          </p:cNvPr>
          <p:cNvSpPr>
            <a:spLocks noGrp="1"/>
          </p:cNvSpPr>
          <p:nvPr>
            <p:ph type="dt" sz="half" idx="10"/>
          </p:nvPr>
        </p:nvSpPr>
        <p:spPr/>
        <p:txBody>
          <a:bodyPr/>
          <a:lstStyle/>
          <a:p>
            <a:fld id="{A609F6A2-FEED-40EB-83D5-ADDC04076AF0}" type="datetimeFigureOut">
              <a:rPr lang="en-NZ" smtClean="0"/>
              <a:t>19/07/2026</a:t>
            </a:fld>
            <a:endParaRPr lang="en-NZ"/>
          </a:p>
        </p:txBody>
      </p:sp>
      <p:sp>
        <p:nvSpPr>
          <p:cNvPr id="6" name="Footer Placeholder 5">
            <a:extLst>
              <a:ext uri="{FF2B5EF4-FFF2-40B4-BE49-F238E27FC236}">
                <a16:creationId xmlns:a16="http://schemas.microsoft.com/office/drawing/2014/main" id="{4D0D1E14-7AA4-26B9-05B5-E19C9AD10B31}"/>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64128E01-59CA-40E7-CF16-56C2B576C9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5888167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F8DDC-10C7-4A38-8A08-3EC85B339D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Picture Placeholder 2">
            <a:extLst>
              <a:ext uri="{FF2B5EF4-FFF2-40B4-BE49-F238E27FC236}">
                <a16:creationId xmlns:a16="http://schemas.microsoft.com/office/drawing/2014/main" id="{9DBED555-6F02-7A8A-AACB-AFA7753CE2E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Z"/>
          </a:p>
        </p:txBody>
      </p:sp>
      <p:sp>
        <p:nvSpPr>
          <p:cNvPr id="4" name="Text Placeholder 3">
            <a:extLst>
              <a:ext uri="{FF2B5EF4-FFF2-40B4-BE49-F238E27FC236}">
                <a16:creationId xmlns:a16="http://schemas.microsoft.com/office/drawing/2014/main" id="{606C2024-3B03-1031-BB5C-EA2C0B730F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ED1CAB-C95C-7578-D2F6-0FBA9CE8540C}"/>
              </a:ext>
            </a:extLst>
          </p:cNvPr>
          <p:cNvSpPr>
            <a:spLocks noGrp="1"/>
          </p:cNvSpPr>
          <p:nvPr>
            <p:ph type="dt" sz="half" idx="10"/>
          </p:nvPr>
        </p:nvSpPr>
        <p:spPr/>
        <p:txBody>
          <a:bodyPr/>
          <a:lstStyle/>
          <a:p>
            <a:fld id="{A609F6A2-FEED-40EB-83D5-ADDC04076AF0}" type="datetimeFigureOut">
              <a:rPr lang="en-NZ" smtClean="0"/>
              <a:t>19/07/2026</a:t>
            </a:fld>
            <a:endParaRPr lang="en-NZ"/>
          </a:p>
        </p:txBody>
      </p:sp>
      <p:sp>
        <p:nvSpPr>
          <p:cNvPr id="6" name="Footer Placeholder 5">
            <a:extLst>
              <a:ext uri="{FF2B5EF4-FFF2-40B4-BE49-F238E27FC236}">
                <a16:creationId xmlns:a16="http://schemas.microsoft.com/office/drawing/2014/main" id="{2E5C889D-687B-6D21-2521-2E48E280C49A}"/>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09E8B18A-05A0-8990-60C0-CC2D3A9669F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372587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B9DED-4CC8-0775-C305-0BA5958BDA9F}"/>
              </a:ext>
            </a:extLst>
          </p:cNvPr>
          <p:cNvSpPr>
            <a:spLocks noGrp="1"/>
          </p:cNvSpPr>
          <p:nvPr>
            <p:ph type="title"/>
          </p:nvPr>
        </p:nvSpPr>
        <p:spPr/>
        <p:txBody>
          <a:bodyPr/>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B25FBF30-BD57-5FFF-1311-A965D1656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3100D33A-2062-3D9A-100B-4538EA4E4FF4}"/>
              </a:ext>
            </a:extLst>
          </p:cNvPr>
          <p:cNvSpPr>
            <a:spLocks noGrp="1"/>
          </p:cNvSpPr>
          <p:nvPr>
            <p:ph type="dt" sz="half" idx="10"/>
          </p:nvPr>
        </p:nvSpPr>
        <p:spPr/>
        <p:txBody>
          <a:bodyPr/>
          <a:lstStyle/>
          <a:p>
            <a:fld id="{A609F6A2-FEED-40EB-83D5-ADDC04076AF0}" type="datetimeFigureOut">
              <a:rPr lang="en-NZ" smtClean="0"/>
              <a:t>19/07/2026</a:t>
            </a:fld>
            <a:endParaRPr lang="en-NZ"/>
          </a:p>
        </p:txBody>
      </p:sp>
      <p:sp>
        <p:nvSpPr>
          <p:cNvPr id="5" name="Footer Placeholder 4">
            <a:extLst>
              <a:ext uri="{FF2B5EF4-FFF2-40B4-BE49-F238E27FC236}">
                <a16:creationId xmlns:a16="http://schemas.microsoft.com/office/drawing/2014/main" id="{D7318DDD-AA4F-B349-18B4-CE00017832C5}"/>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44B8D42C-2299-4C74-7CF8-D91A9860D3D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22932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802E1B-FA30-ABB1-6122-EA0890A75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C9580E44-6A9B-9801-E465-227F3A4BAE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CDF0CBD0-0D25-EF9C-D675-97F90869275A}"/>
              </a:ext>
            </a:extLst>
          </p:cNvPr>
          <p:cNvSpPr>
            <a:spLocks noGrp="1"/>
          </p:cNvSpPr>
          <p:nvPr>
            <p:ph type="dt" sz="half" idx="10"/>
          </p:nvPr>
        </p:nvSpPr>
        <p:spPr/>
        <p:txBody>
          <a:bodyPr/>
          <a:lstStyle/>
          <a:p>
            <a:fld id="{A609F6A2-FEED-40EB-83D5-ADDC04076AF0}" type="datetimeFigureOut">
              <a:rPr lang="en-NZ" smtClean="0"/>
              <a:t>19/07/2026</a:t>
            </a:fld>
            <a:endParaRPr lang="en-NZ"/>
          </a:p>
        </p:txBody>
      </p:sp>
      <p:sp>
        <p:nvSpPr>
          <p:cNvPr id="5" name="Footer Placeholder 4">
            <a:extLst>
              <a:ext uri="{FF2B5EF4-FFF2-40B4-BE49-F238E27FC236}">
                <a16:creationId xmlns:a16="http://schemas.microsoft.com/office/drawing/2014/main" id="{FBC9C4DB-6786-6065-BA16-13827628BD4F}"/>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9D3857E3-142B-B0DB-38D2-900C69066EF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871687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900159-0D37-0F36-A1AC-1D5DCF74E3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Z"/>
          </a:p>
        </p:txBody>
      </p:sp>
      <p:sp>
        <p:nvSpPr>
          <p:cNvPr id="3" name="Text Placeholder 2">
            <a:extLst>
              <a:ext uri="{FF2B5EF4-FFF2-40B4-BE49-F238E27FC236}">
                <a16:creationId xmlns:a16="http://schemas.microsoft.com/office/drawing/2014/main" id="{195CDB50-22F7-35EC-C321-276E58357BC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E63B15E4-1BB2-7A3F-C1AA-B1EC6AAAD2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609F6A2-FEED-40EB-83D5-ADDC04076AF0}" type="datetimeFigureOut">
              <a:rPr lang="en-NZ" smtClean="0"/>
              <a:t>19/07/2026</a:t>
            </a:fld>
            <a:endParaRPr lang="en-NZ"/>
          </a:p>
        </p:txBody>
      </p:sp>
      <p:sp>
        <p:nvSpPr>
          <p:cNvPr id="5" name="Footer Placeholder 4">
            <a:extLst>
              <a:ext uri="{FF2B5EF4-FFF2-40B4-BE49-F238E27FC236}">
                <a16:creationId xmlns:a16="http://schemas.microsoft.com/office/drawing/2014/main" id="{177AD27E-E574-A4C5-E499-9591875791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Z"/>
          </a:p>
        </p:txBody>
      </p:sp>
      <p:sp>
        <p:nvSpPr>
          <p:cNvPr id="6" name="Slide Number Placeholder 5">
            <a:extLst>
              <a:ext uri="{FF2B5EF4-FFF2-40B4-BE49-F238E27FC236}">
                <a16:creationId xmlns:a16="http://schemas.microsoft.com/office/drawing/2014/main" id="{D36CEBF1-0956-617C-328F-E2C20240326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187B0B8-57B5-4F3C-A1FC-0FF8A465CA3C}" type="slidenum">
              <a:rPr lang="en-NZ" smtClean="0"/>
              <a:t>‹#›</a:t>
            </a:fld>
            <a:endParaRPr lang="en-NZ"/>
          </a:p>
        </p:txBody>
      </p:sp>
    </p:spTree>
    <p:extLst>
      <p:ext uri="{BB962C8B-B14F-4D97-AF65-F5344CB8AC3E}">
        <p14:creationId xmlns:p14="http://schemas.microsoft.com/office/powerpoint/2010/main" val="215761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01_FFE3B6F5.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microsoft.com/office/2018/10/relationships/comments" Target="../comments/modernComment_102_8F82B50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microsoft.com/office/2018/10/relationships/comments" Target="../comments/modernComment_10D_B08B079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microsoft.com/office/2018/10/relationships/comments" Target="../comments/modernComment_11D_F491498A.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microsoft.com/office/2018/10/relationships/comments" Target="../comments/modernComment_117_E97C5DDB.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microsoft.com/office/2018/10/relationships/comments" Target="../comments/modernComment_120_B005E26D.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312B8-20B0-6CD5-0B3A-49E60F0ED368}"/>
              </a:ext>
            </a:extLst>
          </p:cNvPr>
          <p:cNvSpPr>
            <a:spLocks noGrp="1"/>
          </p:cNvSpPr>
          <p:nvPr>
            <p:ph type="ctrTitle"/>
          </p:nvPr>
        </p:nvSpPr>
        <p:spPr/>
        <p:txBody>
          <a:bodyPr/>
          <a:lstStyle/>
          <a:p>
            <a:r>
              <a:rPr lang="en-NZ" noProof="0" dirty="0"/>
              <a:t>AS91904 Electronics Outcome</a:t>
            </a:r>
          </a:p>
        </p:txBody>
      </p:sp>
      <p:sp>
        <p:nvSpPr>
          <p:cNvPr id="3" name="Subtitle 2">
            <a:extLst>
              <a:ext uri="{FF2B5EF4-FFF2-40B4-BE49-F238E27FC236}">
                <a16:creationId xmlns:a16="http://schemas.microsoft.com/office/drawing/2014/main" id="{F66D802B-CDB6-E9D2-44F0-86BC0E80FB38}"/>
              </a:ext>
            </a:extLst>
          </p:cNvPr>
          <p:cNvSpPr>
            <a:spLocks noGrp="1"/>
          </p:cNvSpPr>
          <p:nvPr>
            <p:ph type="subTitle" idx="1"/>
          </p:nvPr>
        </p:nvSpPr>
        <p:spPr/>
        <p:txBody>
          <a:bodyPr>
            <a:normAutofit/>
          </a:bodyPr>
          <a:lstStyle/>
          <a:p>
            <a:r>
              <a:rPr lang="en-NZ" noProof="0" dirty="0"/>
              <a:t>Student Name: Heinrich venter</a:t>
            </a:r>
            <a:br>
              <a:rPr lang="en-NZ" noProof="0" dirty="0"/>
            </a:br>
            <a:r>
              <a:rPr lang="en-NZ" noProof="0" dirty="0"/>
              <a:t>Project Name: Mark Sutherland</a:t>
            </a:r>
          </a:p>
          <a:p>
            <a:endParaRPr lang="en-NZ" noProof="0" dirty="0"/>
          </a:p>
        </p:txBody>
      </p:sp>
    </p:spTree>
    <p:extLst>
      <p:ext uri="{BB962C8B-B14F-4D97-AF65-F5344CB8AC3E}">
        <p14:creationId xmlns:p14="http://schemas.microsoft.com/office/powerpoint/2010/main" val="730004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FC11F-97EB-B839-6C45-028E3079F8C7}"/>
              </a:ext>
            </a:extLst>
          </p:cNvPr>
          <p:cNvSpPr>
            <a:spLocks noGrp="1"/>
          </p:cNvSpPr>
          <p:nvPr>
            <p:ph type="title"/>
          </p:nvPr>
        </p:nvSpPr>
        <p:spPr>
          <a:solidFill>
            <a:srgbClr val="FF5050"/>
          </a:solidFill>
        </p:spPr>
        <p:txBody>
          <a:bodyPr/>
          <a:lstStyle/>
          <a:p>
            <a:r>
              <a:rPr lang="en-NZ" noProof="0" dirty="0"/>
              <a:t>Project Details</a:t>
            </a:r>
          </a:p>
        </p:txBody>
      </p:sp>
      <p:sp>
        <p:nvSpPr>
          <p:cNvPr id="3" name="Content Placeholder 2">
            <a:extLst>
              <a:ext uri="{FF2B5EF4-FFF2-40B4-BE49-F238E27FC236}">
                <a16:creationId xmlns:a16="http://schemas.microsoft.com/office/drawing/2014/main" id="{EB73A0B0-8C2E-99B2-DFB1-974EF0CDEB52}"/>
              </a:ext>
            </a:extLst>
          </p:cNvPr>
          <p:cNvSpPr>
            <a:spLocks noGrp="1"/>
          </p:cNvSpPr>
          <p:nvPr>
            <p:ph idx="1"/>
          </p:nvPr>
        </p:nvSpPr>
        <p:spPr>
          <a:solidFill>
            <a:srgbClr val="FFCCCC"/>
          </a:solidFill>
        </p:spPr>
        <p:txBody>
          <a:bodyPr/>
          <a:lstStyle/>
          <a:p>
            <a:pPr marL="0" indent="0">
              <a:buNone/>
            </a:pPr>
            <a:r>
              <a:rPr lang="en-NZ" noProof="0" dirty="0"/>
              <a:t>Describe your project here:</a:t>
            </a:r>
            <a:r>
              <a:rPr lang="en-NZ" dirty="0"/>
              <a:t> This project is a hybrid 70cc pit bike that combines a petrol engine with an 800 W, 36 V electric motor to improve low-speed torque and acceleration. An Arduino Uno R4 </a:t>
            </a:r>
            <a:r>
              <a:rPr lang="en-NZ" dirty="0" err="1"/>
              <a:t>WiFi</a:t>
            </a:r>
            <a:r>
              <a:rPr lang="en-NZ" dirty="0"/>
              <a:t> uses analogue and digital Hall effect sensors to monitor throttle position and engine speed, then controls the electric motor through a motor controller. An electromagnetic clutch engages the motor only when assistance is needed, creating a hybrid drivetrain that combines mechanical and electronic systems.</a:t>
            </a:r>
            <a:br>
              <a:rPr lang="en-NZ" noProof="0" dirty="0"/>
            </a:br>
            <a:br>
              <a:rPr lang="en-NZ" noProof="0" dirty="0"/>
            </a:br>
            <a:br>
              <a:rPr lang="en-NZ" noProof="0" dirty="0"/>
            </a:br>
            <a:endParaRPr lang="en-NZ" noProof="0" dirty="0"/>
          </a:p>
        </p:txBody>
      </p:sp>
    </p:spTree>
    <p:extLst>
      <p:ext uri="{BB962C8B-B14F-4D97-AF65-F5344CB8AC3E}">
        <p14:creationId xmlns:p14="http://schemas.microsoft.com/office/powerpoint/2010/main" val="4293113589"/>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28E67-C358-B25E-8DC5-C2B61C5D2D10}"/>
              </a:ext>
            </a:extLst>
          </p:cNvPr>
          <p:cNvSpPr>
            <a:spLocks noGrp="1"/>
          </p:cNvSpPr>
          <p:nvPr>
            <p:ph type="title"/>
          </p:nvPr>
        </p:nvSpPr>
        <p:spPr>
          <a:solidFill>
            <a:srgbClr val="FF5050"/>
          </a:solidFill>
        </p:spPr>
        <p:txBody>
          <a:bodyPr/>
          <a:lstStyle/>
          <a:p>
            <a:r>
              <a:rPr lang="en-NZ" noProof="0" dirty="0"/>
              <a:t>Techniques used</a:t>
            </a:r>
          </a:p>
        </p:txBody>
      </p:sp>
      <p:sp>
        <p:nvSpPr>
          <p:cNvPr id="3" name="Content Placeholder 2">
            <a:extLst>
              <a:ext uri="{FF2B5EF4-FFF2-40B4-BE49-F238E27FC236}">
                <a16:creationId xmlns:a16="http://schemas.microsoft.com/office/drawing/2014/main" id="{48517805-ABAD-9125-D5EB-9C37B582DC52}"/>
              </a:ext>
            </a:extLst>
          </p:cNvPr>
          <p:cNvSpPr>
            <a:spLocks noGrp="1"/>
          </p:cNvSpPr>
          <p:nvPr>
            <p:ph idx="1"/>
          </p:nvPr>
        </p:nvSpPr>
        <p:spPr>
          <a:xfrm>
            <a:off x="838201" y="1825625"/>
            <a:ext cx="3419167" cy="4351338"/>
          </a:xfrm>
          <a:solidFill>
            <a:srgbClr val="FFCCCC"/>
          </a:solidFill>
        </p:spPr>
        <p:txBody>
          <a:bodyPr>
            <a:normAutofit fontScale="70000" lnSpcReduction="20000"/>
          </a:bodyPr>
          <a:lstStyle/>
          <a:p>
            <a:pPr marL="0" indent="0">
              <a:buNone/>
            </a:pPr>
            <a:r>
              <a:rPr lang="en-NZ" noProof="0" dirty="0"/>
              <a:t>Technique 1: Implementing communication protocols</a:t>
            </a:r>
          </a:p>
          <a:p>
            <a:pPr marL="0" indent="0">
              <a:buNone/>
            </a:pPr>
            <a:endParaRPr lang="en-NZ" noProof="0" dirty="0"/>
          </a:p>
          <a:p>
            <a:pPr marL="0" indent="0">
              <a:buNone/>
            </a:pPr>
            <a:r>
              <a:rPr lang="en-NZ" noProof="0" dirty="0"/>
              <a:t>Evidence:</a:t>
            </a:r>
          </a:p>
          <a:p>
            <a:pPr marL="0" indent="0">
              <a:buNone/>
            </a:pPr>
            <a:r>
              <a:rPr lang="en-NZ" dirty="0"/>
              <a:t>I will meet this requirement by using I2C communication to connect the Arduino Uno R4 </a:t>
            </a:r>
            <a:r>
              <a:rPr lang="en-NZ" dirty="0" err="1"/>
              <a:t>WiFi</a:t>
            </a:r>
            <a:r>
              <a:rPr lang="en-NZ" dirty="0"/>
              <a:t> to the OLED dashboard display. This allows important information such as speed and RPM data to be transferred to the display while only using two communication pins, leaving the remaining pins available for other sensors and system components.</a:t>
            </a:r>
            <a:endParaRPr lang="en-NZ" noProof="0" dirty="0"/>
          </a:p>
        </p:txBody>
      </p:sp>
      <p:sp>
        <p:nvSpPr>
          <p:cNvPr id="4" name="Content Placeholder 2">
            <a:extLst>
              <a:ext uri="{FF2B5EF4-FFF2-40B4-BE49-F238E27FC236}">
                <a16:creationId xmlns:a16="http://schemas.microsoft.com/office/drawing/2014/main" id="{6748CEDE-0DB3-164E-E438-A407CD2F953C}"/>
              </a:ext>
            </a:extLst>
          </p:cNvPr>
          <p:cNvSpPr txBox="1">
            <a:spLocks/>
          </p:cNvSpPr>
          <p:nvPr/>
        </p:nvSpPr>
        <p:spPr>
          <a:xfrm>
            <a:off x="7580671" y="1825625"/>
            <a:ext cx="3773129" cy="4351338"/>
          </a:xfrm>
          <a:prstGeom prst="rect">
            <a:avLst/>
          </a:prstGeom>
          <a:solidFill>
            <a:srgbClr val="FFCC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NZ" noProof="0" dirty="0"/>
              <a:t>Technique 2: </a:t>
            </a:r>
            <a:r>
              <a:rPr lang="en-US" dirty="0"/>
              <a:t>Filtering, noise and EMI suppression</a:t>
            </a:r>
          </a:p>
          <a:p>
            <a:pPr marL="0" indent="0">
              <a:buFont typeface="Arial" panose="020B0604020202020204" pitchFamily="34" charset="0"/>
              <a:buNone/>
            </a:pPr>
            <a:endParaRPr lang="en-NZ" noProof="0" dirty="0"/>
          </a:p>
          <a:p>
            <a:pPr marL="0" indent="0">
              <a:buFont typeface="Arial" panose="020B0604020202020204" pitchFamily="34" charset="0"/>
              <a:buNone/>
            </a:pPr>
            <a:r>
              <a:rPr lang="en-NZ" noProof="0" dirty="0"/>
              <a:t>Evidence:</a:t>
            </a:r>
          </a:p>
          <a:p>
            <a:pPr marL="0" indent="0">
              <a:buNone/>
            </a:pPr>
            <a:r>
              <a:rPr lang="en-NZ" dirty="0"/>
              <a:t>I will meet this requirement by adding filtering components, such as 0.1µF ceramic capacitors, to reduce electrical noise caused by the high-current electric motor. This will improve the reliability of the Hall effect sensors, LED indicators, and battery monitoring system by providing more stable and accurate readings.</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EED03FF5-47BD-3A7B-FF9B-170CD3F3BE90}"/>
              </a:ext>
            </a:extLst>
          </p:cNvPr>
          <p:cNvSpPr txBox="1">
            <a:spLocks/>
          </p:cNvSpPr>
          <p:nvPr/>
        </p:nvSpPr>
        <p:spPr>
          <a:xfrm>
            <a:off x="4161504" y="1825625"/>
            <a:ext cx="3419167" cy="4351338"/>
          </a:xfrm>
          <a:prstGeom prst="rect">
            <a:avLst/>
          </a:prstGeom>
          <a:solidFill>
            <a:schemeClr val="bg2">
              <a:lumMod val="75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2000" noProof="0" dirty="0"/>
              <a:t>Techniques could be:</a:t>
            </a:r>
          </a:p>
          <a:p>
            <a:r>
              <a:rPr lang="en-NZ" sz="2000" b="1" dirty="0"/>
              <a:t>implementing communication protocols</a:t>
            </a:r>
          </a:p>
          <a:p>
            <a:r>
              <a:rPr lang="en-NZ" sz="2000" dirty="0"/>
              <a:t>Wireless transfer of information</a:t>
            </a:r>
          </a:p>
          <a:p>
            <a:r>
              <a:rPr lang="en-NZ" sz="2000" dirty="0"/>
              <a:t>Feedback control</a:t>
            </a:r>
          </a:p>
          <a:p>
            <a:r>
              <a:rPr lang="en-US" sz="2000" dirty="0"/>
              <a:t>Implementing software flags and interrupts </a:t>
            </a:r>
          </a:p>
          <a:p>
            <a:r>
              <a:rPr lang="en-US" sz="2000" dirty="0"/>
              <a:t>CAD design, 3D printing, CNC, PCB making </a:t>
            </a:r>
          </a:p>
          <a:p>
            <a:r>
              <a:rPr lang="en-US" sz="2000" dirty="0"/>
              <a:t>filtering, noise and EMI suppression.</a:t>
            </a:r>
            <a:endParaRPr lang="en-NZ" sz="2000" noProof="0" dirty="0"/>
          </a:p>
        </p:txBody>
      </p:sp>
    </p:spTree>
    <p:extLst>
      <p:ext uri="{BB962C8B-B14F-4D97-AF65-F5344CB8AC3E}">
        <p14:creationId xmlns:p14="http://schemas.microsoft.com/office/powerpoint/2010/main" val="2407707907"/>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B2FDF-320D-4BBD-D480-A4F954A02710}"/>
              </a:ext>
            </a:extLst>
          </p:cNvPr>
          <p:cNvSpPr>
            <a:spLocks noGrp="1"/>
          </p:cNvSpPr>
          <p:nvPr>
            <p:ph type="title"/>
          </p:nvPr>
        </p:nvSpPr>
        <p:spPr/>
        <p:txBody>
          <a:bodyPr/>
          <a:lstStyle/>
          <a:p>
            <a:r>
              <a:rPr lang="en-NZ" noProof="0" dirty="0"/>
              <a:t>Relevant Implications</a:t>
            </a:r>
          </a:p>
        </p:txBody>
      </p:sp>
      <p:graphicFrame>
        <p:nvGraphicFramePr>
          <p:cNvPr id="5" name="Table 4">
            <a:extLst>
              <a:ext uri="{FF2B5EF4-FFF2-40B4-BE49-F238E27FC236}">
                <a16:creationId xmlns:a16="http://schemas.microsoft.com/office/drawing/2014/main" id="{F519459D-F748-3377-4E55-D51E89AF6AC2}"/>
              </a:ext>
            </a:extLst>
          </p:cNvPr>
          <p:cNvGraphicFramePr>
            <a:graphicFrameLocks noGrp="1"/>
          </p:cNvGraphicFramePr>
          <p:nvPr>
            <p:extLst>
              <p:ext uri="{D42A27DB-BD31-4B8C-83A1-F6EECF244321}">
                <p14:modId xmlns:p14="http://schemas.microsoft.com/office/powerpoint/2010/main" val="567602920"/>
              </p:ext>
            </p:extLst>
          </p:nvPr>
        </p:nvGraphicFramePr>
        <p:xfrm>
          <a:off x="392784" y="1951294"/>
          <a:ext cx="11406432" cy="10778791"/>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Description of Implication</a:t>
                      </a:r>
                      <a:br>
                        <a:rPr lang="en-NZ" noProof="0" dirty="0"/>
                      </a:br>
                      <a:r>
                        <a:rPr lang="en-NZ" noProof="0" dirty="0"/>
                        <a:t>(What Where Why)</a:t>
                      </a:r>
                    </a:p>
                  </a:txBody>
                  <a:tcPr>
                    <a:solidFill>
                      <a:srgbClr val="FF5050"/>
                    </a:solidFill>
                  </a:tcPr>
                </a:tc>
                <a:tc>
                  <a:txBody>
                    <a:bodyPr/>
                    <a:lstStyle/>
                    <a:p>
                      <a:r>
                        <a:rPr lang="en-NZ" noProof="0" dirty="0"/>
                        <a:t>Explanation of Implication</a:t>
                      </a:r>
                      <a:br>
                        <a:rPr lang="en-NZ" noProof="0" dirty="0"/>
                      </a:br>
                      <a:r>
                        <a:rPr lang="en-NZ" noProof="0" dirty="0"/>
                        <a:t>(How, Why)</a:t>
                      </a:r>
                    </a:p>
                  </a:txBody>
                  <a:tcPr>
                    <a:solidFill>
                      <a:srgbClr val="FF5050"/>
                    </a:solidFill>
                  </a:tcPr>
                </a:tc>
                <a:tc>
                  <a:txBody>
                    <a:bodyPr/>
                    <a:lstStyle/>
                    <a:p>
                      <a:r>
                        <a:rPr lang="en-NZ" noProof="0" dirty="0"/>
                        <a:t>Evidence of addressing.</a:t>
                      </a:r>
                    </a:p>
                  </a:txBody>
                  <a:tcPr>
                    <a:solidFill>
                      <a:srgbClr val="FF5050"/>
                    </a:solidFill>
                  </a:tcPr>
                </a:tc>
                <a:extLst>
                  <a:ext uri="{0D108BD9-81ED-4DB2-BD59-A6C34878D82A}">
                    <a16:rowId xmlns:a16="http://schemas.microsoft.com/office/drawing/2014/main" val="2823653061"/>
                  </a:ext>
                </a:extLst>
              </a:tr>
              <a:tr h="811831">
                <a:tc>
                  <a:txBody>
                    <a:bodyPr/>
                    <a:lstStyle/>
                    <a:p>
                      <a:r>
                        <a:rPr lang="en-US" sz="1800" b="1" kern="1200" dirty="0">
                          <a:solidFill>
                            <a:schemeClr val="dk1"/>
                          </a:solidFill>
                          <a:effectLst/>
                          <a:latin typeface="+mn-lt"/>
                          <a:ea typeface="+mn-ea"/>
                          <a:cs typeface="+mn-cs"/>
                        </a:rPr>
                        <a:t>Accessibility </a:t>
                      </a:r>
                      <a:r>
                        <a:rPr lang="en-US" sz="1800" kern="1200" dirty="0">
                          <a:solidFill>
                            <a:schemeClr val="dk1"/>
                          </a:solidFill>
                          <a:effectLst/>
                          <a:latin typeface="+mn-lt"/>
                          <a:ea typeface="+mn-ea"/>
                          <a:cs typeface="+mn-cs"/>
                        </a:rPr>
                        <a:t>for the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means the bike’s controls, indicators, and basic functions need to be understandable and manageable for a range of riders. This includes clear visual indicators, easy-to-reach switches, and controls that don’t require excessive strength.</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riders need to operate the hybrid system, throttle, and display safely without confusion. I will address this by using clearly labelled switches, simple control layouts, and making sure components like the electric–petrol mode indicator are easy to read.</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r>
                        <a:rPr lang="en-NZ" sz="1800" kern="1200" dirty="0">
                          <a:solidFill>
                            <a:schemeClr val="dk1"/>
                          </a:solidFill>
                          <a:effectLst/>
                          <a:latin typeface="+mn-lt"/>
                          <a:ea typeface="+mn-ea"/>
                          <a:cs typeface="+mn-cs"/>
                        </a:rPr>
                        <a:t>Usability relates to how easy it is to understand and use the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hybrid systems, such as switching modes, checking battery levels, or starting the bike. The design needs to feel intuitive even for new riders.</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matters because if the interface is confusing, the rider could misuse the bike or struggle during operation. I will address this by keeping the hybrid controls simple, limiting unnecessary switches, and providing a logical layout similar to standard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so it feels familiar.</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r>
                        <a:rPr lang="en-US" sz="1800" kern="1200" dirty="0">
                          <a:solidFill>
                            <a:schemeClr val="dk1"/>
                          </a:solidFill>
                          <a:effectLst/>
                          <a:latin typeface="+mn-lt"/>
                          <a:ea typeface="+mn-ea"/>
                          <a:cs typeface="+mn-cs"/>
                        </a:rPr>
                        <a:t>Functionality refers to how well the 70cc hybrid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performs its intended purpose—delivering reliable petrol and electric operation, smooth power delivery, and stable riding. It also includes ensuring the components (battery, controller, mechanical systems) work together correctly.</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the bike must be reliable and safe. I will address this by testing the hybrid system regularly, checking wiring, ensuring the mechanical and electrical parts don’t interfere with each other, and confirming that power output remains stable.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r>
                        <a:rPr lang="en-NZ" sz="1800" kern="1200" dirty="0">
                          <a:solidFill>
                            <a:schemeClr val="dk1"/>
                          </a:solidFill>
                          <a:effectLst/>
                          <a:latin typeface="+mn-lt"/>
                          <a:ea typeface="+mn-ea"/>
                          <a:cs typeface="+mn-cs"/>
                        </a:rPr>
                        <a:t>Aesthetics for the </a:t>
                      </a:r>
                      <a:r>
                        <a:rPr lang="en-NZ" sz="1800" kern="1200" dirty="0" err="1">
                          <a:solidFill>
                            <a:schemeClr val="dk1"/>
                          </a:solidFill>
                          <a:effectLst/>
                          <a:latin typeface="+mn-lt"/>
                          <a:ea typeface="+mn-ea"/>
                          <a:cs typeface="+mn-cs"/>
                        </a:rPr>
                        <a:t>pitbike</a:t>
                      </a:r>
                      <a:r>
                        <a:rPr lang="en-NZ" sz="1800" kern="1200" dirty="0">
                          <a:solidFill>
                            <a:schemeClr val="dk1"/>
                          </a:solidFill>
                          <a:effectLst/>
                          <a:latin typeface="+mn-lt"/>
                          <a:ea typeface="+mn-ea"/>
                          <a:cs typeface="+mn-cs"/>
                        </a:rPr>
                        <a:t> include the visual design—how the hybrid components are integrated, how tidy the wiring is, and the overall look of the bike. A clean, professional aesthetic helps the bike feel intentional rather than thrown together.</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a well-presented bike improves user confidence and makes maintenance easier. I will address this by organising wiring neatly, using matching colours or covers, and ensuring added components blend with the original frame so the hybrid upgrade looks cohesive.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4279029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E497E-C549-2DAD-64FC-FE29C099443A}"/>
              </a:ext>
            </a:extLst>
          </p:cNvPr>
          <p:cNvSpPr>
            <a:spLocks noGrp="1"/>
          </p:cNvSpPr>
          <p:nvPr>
            <p:ph type="title"/>
          </p:nvPr>
        </p:nvSpPr>
        <p:spPr>
          <a:solidFill>
            <a:srgbClr val="FF5050"/>
          </a:solidFill>
        </p:spPr>
        <p:txBody>
          <a:bodyPr/>
          <a:lstStyle/>
          <a:p>
            <a:r>
              <a:rPr lang="en-NZ" noProof="0" dirty="0"/>
              <a:t>Original Design</a:t>
            </a:r>
          </a:p>
        </p:txBody>
      </p:sp>
      <p:sp>
        <p:nvSpPr>
          <p:cNvPr id="3" name="Content Placeholder 2">
            <a:extLst>
              <a:ext uri="{FF2B5EF4-FFF2-40B4-BE49-F238E27FC236}">
                <a16:creationId xmlns:a16="http://schemas.microsoft.com/office/drawing/2014/main" id="{DA45C6F8-39B2-B16D-3499-DEBD85A6474C}"/>
              </a:ext>
            </a:extLst>
          </p:cNvPr>
          <p:cNvSpPr>
            <a:spLocks noGrp="1"/>
          </p:cNvSpPr>
          <p:nvPr>
            <p:ph idx="1"/>
          </p:nvPr>
        </p:nvSpPr>
        <p:spPr/>
        <p:txBody>
          <a:bodyPr/>
          <a:lstStyle/>
          <a:p>
            <a:pPr marL="0" indent="0">
              <a:buNone/>
            </a:pPr>
            <a:r>
              <a:rPr lang="en-NZ" noProof="0" dirty="0"/>
              <a:t>Insert diagram here of electronics outcome</a:t>
            </a:r>
          </a:p>
        </p:txBody>
      </p:sp>
    </p:spTree>
    <p:extLst>
      <p:ext uri="{BB962C8B-B14F-4D97-AF65-F5344CB8AC3E}">
        <p14:creationId xmlns:p14="http://schemas.microsoft.com/office/powerpoint/2010/main" val="1365950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Behaviour and function</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solidFill>
            <a:srgbClr val="FFCCCC"/>
          </a:solidFill>
        </p:spPr>
        <p:txBody>
          <a:bodyPr>
            <a:normAutofit fontScale="85000" lnSpcReduction="10000"/>
          </a:bodyPr>
          <a:lstStyle/>
          <a:p>
            <a:pPr marL="0" indent="0">
              <a:buNone/>
            </a:pPr>
            <a:r>
              <a:rPr lang="en-US" sz="1800" i="1" noProof="0" dirty="0"/>
              <a:t>The </a:t>
            </a:r>
            <a:r>
              <a:rPr lang="en-US" sz="1800" i="1" noProof="0" dirty="0" err="1"/>
              <a:t>behaviour</a:t>
            </a:r>
            <a:r>
              <a:rPr lang="en-US" sz="1800" i="1" noProof="0" dirty="0"/>
              <a:t> of the electronics is as follows. </a:t>
            </a:r>
          </a:p>
          <a:p>
            <a:pPr marL="0" indent="0">
              <a:buNone/>
            </a:pPr>
            <a:r>
              <a:rPr lang="en-NZ" sz="1800" u="sng" dirty="0"/>
              <a:t>Electric Motor Control</a:t>
            </a:r>
          </a:p>
          <a:p>
            <a:pPr marL="0" indent="0">
              <a:buNone/>
            </a:pPr>
            <a:r>
              <a:rPr lang="en-NZ" sz="1800" dirty="0"/>
              <a:t>An analogue Hall effect sensor is used as the throttle input to send a signal to the 36 V motor controller, which controls the 800 W electric motor. </a:t>
            </a:r>
          </a:p>
          <a:p>
            <a:pPr marL="0" indent="0">
              <a:buNone/>
            </a:pPr>
            <a:r>
              <a:rPr lang="en-NZ" sz="1800" dirty="0"/>
              <a:t>A 36 V to 12 V DC-DC buck converter is used to safely power the Arduino Uno R4 </a:t>
            </a:r>
            <a:r>
              <a:rPr lang="en-NZ" sz="1800" dirty="0" err="1"/>
              <a:t>WiFi</a:t>
            </a:r>
            <a:r>
              <a:rPr lang="en-NZ" sz="1800" dirty="0"/>
              <a:t> from the bike’s main battery system. </a:t>
            </a:r>
          </a:p>
          <a:p>
            <a:pPr marL="0" indent="0">
              <a:buNone/>
            </a:pPr>
            <a:r>
              <a:rPr lang="en-NZ" sz="1800" u="sng" dirty="0"/>
              <a:t>Hybrid Power Switching</a:t>
            </a:r>
          </a:p>
          <a:p>
            <a:pPr marL="0" indent="0">
              <a:buNone/>
            </a:pPr>
            <a:r>
              <a:rPr lang="en-NZ" sz="1800" dirty="0"/>
              <a:t>A 24 V electromagnetic clutch is used to connect and disconnect the electric motor from the drivetrain. </a:t>
            </a:r>
          </a:p>
          <a:p>
            <a:pPr marL="0" indent="0">
              <a:buNone/>
            </a:pPr>
            <a:r>
              <a:rPr lang="en-NZ" sz="1800" dirty="0"/>
              <a:t>Both the petrol engine and electric motor provide power during acceleration to improve low-speed torque. </a:t>
            </a:r>
          </a:p>
          <a:p>
            <a:pPr marL="0" indent="0">
              <a:buNone/>
            </a:pPr>
            <a:r>
              <a:rPr lang="en-NZ" sz="1800" dirty="0"/>
              <a:t>At higher speeds, the electric motor disengages because the petrol engine can operate at a higher RPM. </a:t>
            </a:r>
          </a:p>
          <a:p>
            <a:pPr marL="0" indent="0">
              <a:buNone/>
            </a:pPr>
            <a:r>
              <a:rPr lang="en-NZ" sz="1800" dirty="0"/>
              <a:t>A second Hall effect sensor is connected to the clutch lever, allowing the rider to manually disengage the electric motor when required. </a:t>
            </a:r>
          </a:p>
          <a:p>
            <a:pPr marL="0" indent="0">
              <a:buNone/>
            </a:pPr>
            <a:r>
              <a:rPr lang="en-NZ" sz="1800" u="sng" dirty="0"/>
              <a:t>RPM Matching System</a:t>
            </a:r>
          </a:p>
          <a:p>
            <a:pPr marL="0" indent="0">
              <a:buNone/>
            </a:pPr>
            <a:r>
              <a:rPr lang="en-NZ" sz="1800" dirty="0"/>
              <a:t>Two digital Hall effect sensors measure the RPM on both sides of the electromagnetic clutch. </a:t>
            </a:r>
          </a:p>
          <a:p>
            <a:pPr marL="0" indent="0">
              <a:buNone/>
            </a:pPr>
            <a:r>
              <a:rPr lang="en-NZ" sz="1800" dirty="0"/>
              <a:t>The Arduino uses this data to match the electric motor speed with the drivetrain before engaging the clutch, preventing drivetrain damage and sudden speed changes.</a:t>
            </a:r>
          </a:p>
          <a:p>
            <a:pPr marL="0" indent="0">
              <a:buNone/>
            </a:pPr>
            <a:endParaRPr lang="en-NZ" sz="1800" i="1" noProof="0" dirty="0"/>
          </a:p>
        </p:txBody>
      </p:sp>
    </p:spTree>
    <p:extLst>
      <p:ext uri="{BB962C8B-B14F-4D97-AF65-F5344CB8AC3E}">
        <p14:creationId xmlns:p14="http://schemas.microsoft.com/office/powerpoint/2010/main" val="2961901457"/>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63D47-06A1-3925-FCDA-1F2C3981A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ACC3126-8DD8-8C54-83C8-B51AC26F67BA}"/>
              </a:ext>
            </a:extLst>
          </p:cNvPr>
          <p:cNvSpPr>
            <a:spLocks noGrp="1"/>
          </p:cNvSpPr>
          <p:nvPr>
            <p:ph idx="1"/>
          </p:nvPr>
        </p:nvSpPr>
        <p:spPr>
          <a:xfrm>
            <a:off x="838200" y="612648"/>
            <a:ext cx="10515600" cy="5564315"/>
          </a:xfrm>
          <a:solidFill>
            <a:srgbClr val="FFCCCC"/>
          </a:solidFill>
        </p:spPr>
        <p:txBody>
          <a:bodyPr>
            <a:normAutofit/>
          </a:bodyPr>
          <a:lstStyle/>
          <a:p>
            <a:pPr marL="0" indent="0">
              <a:buNone/>
            </a:pPr>
            <a:r>
              <a:rPr lang="en-NZ" sz="1900" u="sng" dirty="0"/>
              <a:t>Speed Monitoring</a:t>
            </a:r>
          </a:p>
          <a:p>
            <a:pPr marL="0" indent="0">
              <a:buNone/>
            </a:pPr>
            <a:r>
              <a:rPr lang="en-NZ" sz="1900" dirty="0"/>
              <a:t>A digital Hall effect sensor mounted near the rear wheel measures wheel rotation speed. </a:t>
            </a:r>
          </a:p>
          <a:p>
            <a:pPr marL="0" indent="0">
              <a:buNone/>
            </a:pPr>
            <a:r>
              <a:rPr lang="en-NZ" sz="1900" dirty="0"/>
              <a:t>The Arduino calculates the bike’s speed and displays it on the dashboard. </a:t>
            </a:r>
          </a:p>
          <a:p>
            <a:pPr marL="0" indent="0">
              <a:buNone/>
            </a:pPr>
            <a:r>
              <a:rPr lang="en-NZ" sz="1900" u="sng" dirty="0"/>
              <a:t>Battery and Fuel Monitoring</a:t>
            </a:r>
          </a:p>
          <a:p>
            <a:pPr marL="0" indent="0">
              <a:buNone/>
            </a:pPr>
            <a:r>
              <a:rPr lang="en-NZ" sz="1900" dirty="0"/>
              <a:t>A resistor and capacitor voltage divider circuit measures battery voltage and sends a readable signal to the Arduino. </a:t>
            </a:r>
          </a:p>
          <a:p>
            <a:pPr marL="0" indent="0">
              <a:buNone/>
            </a:pPr>
            <a:r>
              <a:rPr lang="en-NZ" sz="1900" dirty="0"/>
              <a:t>A fuel flow sensor detects fuel movement through the fuel line, allowing the system to estimate fuel availability. </a:t>
            </a:r>
          </a:p>
          <a:p>
            <a:pPr marL="0" indent="0">
              <a:buNone/>
            </a:pPr>
            <a:r>
              <a:rPr lang="en-NZ" sz="1900" u="sng" dirty="0"/>
              <a:t>Dashboard Display</a:t>
            </a:r>
          </a:p>
          <a:p>
            <a:pPr marL="0" indent="0">
              <a:buNone/>
            </a:pPr>
            <a:r>
              <a:rPr lang="en-NZ" sz="1900" dirty="0"/>
              <a:t>An OLED display and LED indicators provide the rider with real-time information. </a:t>
            </a:r>
          </a:p>
          <a:p>
            <a:pPr marL="0" indent="0">
              <a:buNone/>
            </a:pPr>
            <a:r>
              <a:rPr lang="en-NZ" sz="1900" dirty="0"/>
              <a:t>The dashboard displays: </a:t>
            </a:r>
          </a:p>
          <a:p>
            <a:pPr marL="0" indent="0">
              <a:buNone/>
            </a:pPr>
            <a:r>
              <a:rPr lang="en-NZ" sz="1900" dirty="0"/>
              <a:t>Vehicle speed </a:t>
            </a:r>
          </a:p>
          <a:p>
            <a:pPr marL="0" indent="0">
              <a:buNone/>
            </a:pPr>
            <a:r>
              <a:rPr lang="en-NZ" sz="1900" dirty="0"/>
              <a:t>Engine RPM </a:t>
            </a:r>
          </a:p>
          <a:p>
            <a:pPr marL="0" indent="0">
              <a:buNone/>
            </a:pPr>
            <a:r>
              <a:rPr lang="en-NZ" sz="1900" dirty="0"/>
              <a:t>Electric motor RPM </a:t>
            </a:r>
          </a:p>
          <a:p>
            <a:pPr marL="0" indent="0">
              <a:buNone/>
            </a:pPr>
            <a:r>
              <a:rPr lang="en-NZ" sz="1900" dirty="0"/>
              <a:t>Battery percentage </a:t>
            </a:r>
          </a:p>
          <a:p>
            <a:pPr marL="0" indent="0">
              <a:buNone/>
            </a:pPr>
            <a:endParaRPr lang="en-NZ" sz="1800" i="1" noProof="0" dirty="0"/>
          </a:p>
        </p:txBody>
      </p:sp>
    </p:spTree>
    <p:extLst>
      <p:ext uri="{BB962C8B-B14F-4D97-AF65-F5344CB8AC3E}">
        <p14:creationId xmlns:p14="http://schemas.microsoft.com/office/powerpoint/2010/main" val="27867557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Explaining relevant communication protocols</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xfrm>
            <a:off x="838200" y="1825625"/>
            <a:ext cx="10515600" cy="2205601"/>
          </a:xfrm>
          <a:solidFill>
            <a:srgbClr val="FFCCCC"/>
          </a:solidFill>
        </p:spPr>
        <p:txBody>
          <a:bodyPr>
            <a:normAutofit/>
          </a:bodyPr>
          <a:lstStyle/>
          <a:p>
            <a:pPr marL="0" indent="0">
              <a:buNone/>
            </a:pPr>
            <a:r>
              <a:rPr lang="en-NZ" sz="1800" dirty="0"/>
              <a:t>I am using I2C communication between the Arduino Uno R4 </a:t>
            </a:r>
            <a:r>
              <a:rPr lang="en-NZ" sz="1800" dirty="0" err="1"/>
              <a:t>WiFi</a:t>
            </a:r>
            <a:r>
              <a:rPr lang="en-NZ" sz="1800" dirty="0"/>
              <a:t> and the OLED dashboard display. I2C works by using two communication lines: SDA (Serial Data) to transfer information and SCL (Serial Clock) to synchronise the data transfer. The Arduino acts as the master device, sending information to the OLED display, which acts as the slave device. This allows the system to display real-time information such as speed, RPM, and battery voltage.</a:t>
            </a:r>
            <a:endParaRPr lang="en-NZ" sz="1800" i="1" noProof="0" dirty="0"/>
          </a:p>
        </p:txBody>
      </p:sp>
      <p:sp>
        <p:nvSpPr>
          <p:cNvPr id="4" name="Content Placeholder 2">
            <a:extLst>
              <a:ext uri="{FF2B5EF4-FFF2-40B4-BE49-F238E27FC236}">
                <a16:creationId xmlns:a16="http://schemas.microsoft.com/office/drawing/2014/main" id="{733B3A00-9BAD-4EED-A5B0-1F15087135FA}"/>
              </a:ext>
            </a:extLst>
          </p:cNvPr>
          <p:cNvSpPr txBox="1">
            <a:spLocks/>
          </p:cNvSpPr>
          <p:nvPr/>
        </p:nvSpPr>
        <p:spPr>
          <a:xfrm>
            <a:off x="838200" y="4166163"/>
            <a:ext cx="10515600" cy="2205601"/>
          </a:xfrm>
          <a:prstGeom prst="rect">
            <a:avLst/>
          </a:prstGeom>
          <a:solidFill>
            <a:schemeClr val="accent6">
              <a:lumMod val="40000"/>
              <a:lumOff val="6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1800" dirty="0"/>
              <a:t>I selected I2C because it only requires two Arduino pins, leaving more available pins for the other sensors used in the bike, such as Hall effect sensors and RPM sensors. I2C also provides enough communication speed for a small OLED display while allowing additional devices to be added to the same communication bus in the future.</a:t>
            </a:r>
            <a:endParaRPr lang="en-NZ" sz="1800" i="1" dirty="0"/>
          </a:p>
        </p:txBody>
      </p:sp>
    </p:spTree>
    <p:extLst>
      <p:ext uri="{BB962C8B-B14F-4D97-AF65-F5344CB8AC3E}">
        <p14:creationId xmlns:p14="http://schemas.microsoft.com/office/powerpoint/2010/main" val="4103162250"/>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556D0-C1D9-5C68-8845-C708DF5F31D1}"/>
              </a:ext>
            </a:extLst>
          </p:cNvPr>
          <p:cNvSpPr>
            <a:spLocks noGrp="1"/>
          </p:cNvSpPr>
          <p:nvPr>
            <p:ph type="title"/>
          </p:nvPr>
        </p:nvSpPr>
        <p:spPr>
          <a:solidFill>
            <a:schemeClr val="accent6">
              <a:lumMod val="40000"/>
              <a:lumOff val="60000"/>
            </a:schemeClr>
          </a:solidFill>
        </p:spPr>
        <p:txBody>
          <a:bodyPr/>
          <a:lstStyle/>
          <a:p>
            <a:r>
              <a:rPr lang="en-NZ" noProof="0" dirty="0"/>
              <a:t>Iterated Design</a:t>
            </a:r>
          </a:p>
        </p:txBody>
      </p:sp>
      <p:sp>
        <p:nvSpPr>
          <p:cNvPr id="3" name="Content Placeholder 2">
            <a:extLst>
              <a:ext uri="{FF2B5EF4-FFF2-40B4-BE49-F238E27FC236}">
                <a16:creationId xmlns:a16="http://schemas.microsoft.com/office/drawing/2014/main" id="{4ECA3479-9DD9-B6D5-BE2D-ABCAF7C76293}"/>
              </a:ext>
            </a:extLst>
          </p:cNvPr>
          <p:cNvSpPr>
            <a:spLocks noGrp="1"/>
          </p:cNvSpPr>
          <p:nvPr>
            <p:ph idx="1"/>
          </p:nvPr>
        </p:nvSpPr>
        <p:spPr>
          <a:xfrm>
            <a:off x="838200" y="1825625"/>
            <a:ext cx="10515600" cy="878246"/>
          </a:xfrm>
          <a:solidFill>
            <a:schemeClr val="accent6">
              <a:lumMod val="40000"/>
              <a:lumOff val="60000"/>
            </a:schemeClr>
          </a:solidFill>
        </p:spPr>
        <p:txBody>
          <a:bodyPr/>
          <a:lstStyle/>
          <a:p>
            <a:pPr marL="0" indent="0">
              <a:buNone/>
            </a:pPr>
            <a:r>
              <a:rPr lang="en-NZ" noProof="0" dirty="0"/>
              <a:t>Feedback:</a:t>
            </a:r>
          </a:p>
        </p:txBody>
      </p:sp>
      <p:sp>
        <p:nvSpPr>
          <p:cNvPr id="4" name="Content Placeholder 2">
            <a:extLst>
              <a:ext uri="{FF2B5EF4-FFF2-40B4-BE49-F238E27FC236}">
                <a16:creationId xmlns:a16="http://schemas.microsoft.com/office/drawing/2014/main" id="{0BDD2F55-C254-2B6C-E842-EDF49DD5A11C}"/>
              </a:ext>
            </a:extLst>
          </p:cNvPr>
          <p:cNvSpPr txBox="1">
            <a:spLocks/>
          </p:cNvSpPr>
          <p:nvPr/>
        </p:nvSpPr>
        <p:spPr>
          <a:xfrm>
            <a:off x="838200" y="3047999"/>
            <a:ext cx="10515600" cy="31289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Insert updated diagram here of electronics outcome</a:t>
            </a:r>
          </a:p>
        </p:txBody>
      </p:sp>
    </p:spTree>
    <p:extLst>
      <p:ext uri="{BB962C8B-B14F-4D97-AF65-F5344CB8AC3E}">
        <p14:creationId xmlns:p14="http://schemas.microsoft.com/office/powerpoint/2010/main" val="9745590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B56BB34-A33E-CA54-E3A0-74010D4B0A63}"/>
              </a:ext>
            </a:extLst>
          </p:cNvPr>
          <p:cNvSpPr>
            <a:spLocks noGrp="1"/>
          </p:cNvSpPr>
          <p:nvPr>
            <p:ph type="ctrTitle"/>
          </p:nvPr>
        </p:nvSpPr>
        <p:spPr/>
        <p:txBody>
          <a:bodyPr/>
          <a:lstStyle/>
          <a:p>
            <a:r>
              <a:rPr lang="en-NZ" noProof="0" dirty="0"/>
              <a:t>Components and Systems</a:t>
            </a:r>
          </a:p>
        </p:txBody>
      </p:sp>
      <p:sp>
        <p:nvSpPr>
          <p:cNvPr id="5" name="Subtitle 4">
            <a:extLst>
              <a:ext uri="{FF2B5EF4-FFF2-40B4-BE49-F238E27FC236}">
                <a16:creationId xmlns:a16="http://schemas.microsoft.com/office/drawing/2014/main" id="{E04ACEFA-C5B9-70D8-D43C-68A151E2A2DE}"/>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4403621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1: controller</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Font typeface="Arial" panose="020B0604020202020204" pitchFamily="34" charset="0"/>
              <a:buNone/>
            </a:pPr>
            <a:r>
              <a:rPr lang="en-NZ" dirty="0"/>
              <a:t>I chose the Arduino r4 over the </a:t>
            </a:r>
            <a:r>
              <a:rPr lang="en-NZ" dirty="0" err="1"/>
              <a:t>esp</a:t>
            </a:r>
            <a:r>
              <a:rPr lang="en-NZ" dirty="0"/>
              <a:t> 32 because is have a fundamental </a:t>
            </a:r>
            <a:r>
              <a:rPr lang="en-NZ" dirty="0" err="1"/>
              <a:t>understranding</a:t>
            </a:r>
            <a:r>
              <a:rPr lang="en-NZ" dirty="0"/>
              <a:t> on the workings of the Arduino compared to a the esp32 which </a:t>
            </a:r>
            <a:r>
              <a:rPr lang="en-NZ" dirty="0" err="1"/>
              <a:t>ive</a:t>
            </a:r>
            <a:r>
              <a:rPr lang="en-NZ" dirty="0"/>
              <a:t> never used before. I chose the r4 over the r3 because the r4 has a </a:t>
            </a:r>
            <a:r>
              <a:rPr lang="en-NZ" dirty="0" err="1"/>
              <a:t>wifi</a:t>
            </a:r>
            <a:r>
              <a:rPr lang="en-NZ" dirty="0"/>
              <a:t> chip on board which means  that I can made a </a:t>
            </a:r>
            <a:r>
              <a:rPr lang="en-NZ" dirty="0" err="1"/>
              <a:t>ui</a:t>
            </a:r>
            <a:r>
              <a:rPr lang="en-NZ" dirty="0"/>
              <a:t> to adjust settings like throttle logic and sensitivity and when I need to do maintenance I can turn stuff of  like the clutch for example</a:t>
            </a: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lstStyle/>
          <a:p>
            <a:pPr marL="0" indent="0">
              <a:buNone/>
            </a:pPr>
            <a:r>
              <a:rPr lang="en-NZ" noProof="0" dirty="0"/>
              <a:t>Chosen</a:t>
            </a:r>
          </a:p>
          <a:p>
            <a:pPr marL="0" indent="0">
              <a:buNone/>
            </a:pPr>
            <a:r>
              <a:rPr lang="en-NZ" dirty="0" err="1"/>
              <a:t>Ardunio</a:t>
            </a:r>
            <a:r>
              <a:rPr lang="en-NZ" dirty="0"/>
              <a:t> R4</a:t>
            </a: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Esp 32</a:t>
            </a:r>
            <a:r>
              <a:rPr lang="en-NZ" noProof="0" dirty="0"/>
              <a:t> </a:t>
            </a:r>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Arduino r3</a:t>
            </a:r>
            <a:r>
              <a:rPr lang="en-NZ" noProof="0" dirty="0"/>
              <a:t> </a:t>
            </a:r>
          </a:p>
        </p:txBody>
      </p:sp>
    </p:spTree>
    <p:extLst>
      <p:ext uri="{BB962C8B-B14F-4D97-AF65-F5344CB8AC3E}">
        <p14:creationId xmlns:p14="http://schemas.microsoft.com/office/powerpoint/2010/main" val="41883027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1</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70000" lnSpcReduction="20000"/>
          </a:bodyPr>
          <a:lstStyle/>
          <a:p>
            <a:pPr marL="0" indent="0">
              <a:buNone/>
            </a:pPr>
            <a:r>
              <a:rPr lang="en-NZ" noProof="0" dirty="0"/>
              <a:t>Explanation </a:t>
            </a:r>
            <a:r>
              <a:rPr lang="en-NZ" noProof="0"/>
              <a:t>of component-brain</a:t>
            </a:r>
            <a:endParaRPr lang="en-NZ" noProof="0" dirty="0"/>
          </a:p>
          <a:p>
            <a:pPr marL="0" indent="0">
              <a:buNone/>
            </a:pPr>
            <a:r>
              <a:rPr lang="en-NZ" dirty="0"/>
              <a:t>The Arduino Uno R4 </a:t>
            </a:r>
            <a:r>
              <a:rPr lang="en-NZ" dirty="0" err="1"/>
              <a:t>WiFi</a:t>
            </a:r>
            <a:r>
              <a:rPr lang="en-NZ" dirty="0"/>
              <a:t> is the main microcontroller used in my project. It uses a 32-bit processor, which gives it more processing power compared to older Arduino boards, and it also includes built-in </a:t>
            </a:r>
            <a:r>
              <a:rPr lang="en-NZ" dirty="0" err="1"/>
              <a:t>WiFi</a:t>
            </a:r>
            <a:r>
              <a:rPr lang="en-NZ" dirty="0"/>
              <a:t> and Bluetooth capabilities. I chose this board because it has enough processing power to handle multiple sensors, control systems, and communication with the dashboard while still keeping the simple Arduino layout and 5V compatibility.</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500284"/>
            <a:ext cx="5471651"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500283"/>
            <a:ext cx="4753897"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 very easy to control and upload code through a cable but still working on the uploading over </a:t>
            </a:r>
            <a:r>
              <a:rPr lang="en-NZ" noProof="0" dirty="0" err="1"/>
              <a:t>wifi</a:t>
            </a:r>
            <a:r>
              <a:rPr lang="en-NZ" noProof="0" dirty="0"/>
              <a:t>.</a:t>
            </a:r>
          </a:p>
          <a:p>
            <a:pPr marL="0" indent="0">
              <a:buFont typeface="Arial" panose="020B0604020202020204" pitchFamily="34" charset="0"/>
              <a:buNone/>
            </a:pPr>
            <a:endParaRPr lang="en-NZ" noProof="0" dirty="0"/>
          </a:p>
        </p:txBody>
      </p:sp>
      <p:pic>
        <p:nvPicPr>
          <p:cNvPr id="1026" name="Picture 2" descr="Arduino UNO R4 WiFi - HobbyElectronica">
            <a:extLst>
              <a:ext uri="{FF2B5EF4-FFF2-40B4-BE49-F238E27FC236}">
                <a16:creationId xmlns:a16="http://schemas.microsoft.com/office/drawing/2014/main" id="{F6F76BE5-4844-9D9B-EDC2-816CC06C42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3897" y="3896865"/>
            <a:ext cx="2894824" cy="2894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7241819"/>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 through feedback </a:t>
            </a:r>
            <a:r>
              <a:rPr lang="en-NZ" noProof="0" dirty="0" err="1"/>
              <a:t>ive</a:t>
            </a:r>
            <a:r>
              <a:rPr lang="en-NZ" noProof="0" dirty="0"/>
              <a:t> found </a:t>
            </a:r>
            <a:r>
              <a:rPr lang="en-NZ" noProof="0" dirty="0" err="1"/>
              <a:t>tha</a:t>
            </a:r>
            <a:r>
              <a:rPr lang="en-NZ" dirty="0"/>
              <a:t>t incorporating a 0.1uf capacitor across the signal and ground wires of the sensors it can smoot the signal out to a very clear and stable signal, adding a 1k </a:t>
            </a:r>
            <a:r>
              <a:rPr lang="en-NZ" dirty="0" err="1"/>
              <a:t>resisitor</a:t>
            </a:r>
            <a:r>
              <a:rPr lang="en-NZ" dirty="0"/>
              <a:t> to the </a:t>
            </a:r>
            <a:r>
              <a:rPr lang="en-NZ" dirty="0" err="1"/>
              <a:t>leds</a:t>
            </a:r>
            <a:r>
              <a:rPr lang="en-NZ" dirty="0"/>
              <a:t> can make it slightly dimmer and can also make its longevity of the </a:t>
            </a:r>
            <a:r>
              <a:rPr lang="en-NZ" dirty="0" err="1"/>
              <a:t>leds</a:t>
            </a:r>
            <a:r>
              <a:rPr lang="en-NZ" dirty="0"/>
              <a:t> much greater cause the heat is greatly decreased, meaning that the chance of it blowing goes down cause the voltage is decreased that goes to the led itself</a:t>
            </a: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Multiple test</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 the </a:t>
            </a:r>
            <a:r>
              <a:rPr lang="en-NZ" dirty="0" err="1"/>
              <a:t>analog</a:t>
            </a:r>
            <a:r>
              <a:rPr lang="en-NZ" dirty="0"/>
              <a:t> hall sensors have a very jumpy signal </a:t>
            </a:r>
            <a:endParaRPr lang="en-NZ" noProof="0" dirty="0"/>
          </a:p>
        </p:txBody>
      </p:sp>
    </p:spTree>
    <p:extLst>
      <p:ext uri="{BB962C8B-B14F-4D97-AF65-F5344CB8AC3E}">
        <p14:creationId xmlns:p14="http://schemas.microsoft.com/office/powerpoint/2010/main" val="34691564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a:t>
            </a:r>
            <a:r>
              <a:rPr lang="en-NZ" dirty="0"/>
              <a:t>2</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NZ" dirty="0"/>
              <a:t>The chosen 1.3" I2C OLED display was selected because it provides a clear and efficient way to display information from the Arduino. Its 128x64 resolution allows it to show detailed data such as speed, RPM, and battery levels while using very little power. Compared to a standard LCD, the OLED has better viewing angles and does not require a power-hungry backlight. I also chose it over an SPI TFT display because I2C only uses two communication pins (SDA and SCL), leaving more Arduino pins available for the other sensors and reducing wiring complexity.</a:t>
            </a: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lstStyle/>
          <a:p>
            <a:pPr marL="0" indent="0">
              <a:buNone/>
            </a:pPr>
            <a:r>
              <a:rPr lang="en-NZ" noProof="0" dirty="0"/>
              <a:t>Chosen</a:t>
            </a:r>
          </a:p>
          <a:p>
            <a:pPr marL="0" indent="0">
              <a:buNone/>
            </a:pPr>
            <a:r>
              <a:rPr lang="en-NZ" dirty="0"/>
              <a:t>1.3” i2c </a:t>
            </a:r>
            <a:r>
              <a:rPr lang="en-NZ" dirty="0" err="1"/>
              <a:t>Oled</a:t>
            </a:r>
            <a:r>
              <a:rPr lang="en-NZ" dirty="0"/>
              <a:t> screen</a:t>
            </a: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Lcd screen</a:t>
            </a:r>
            <a:r>
              <a:rPr lang="en-NZ" noProof="0" dirty="0"/>
              <a:t> </a:t>
            </a:r>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 SPI TFT colour display</a:t>
            </a:r>
            <a:r>
              <a:rPr lang="en-NZ" noProof="0" dirty="0"/>
              <a:t> </a:t>
            </a:r>
          </a:p>
        </p:txBody>
      </p:sp>
    </p:spTree>
    <p:extLst>
      <p:ext uri="{BB962C8B-B14F-4D97-AF65-F5344CB8AC3E}">
        <p14:creationId xmlns:p14="http://schemas.microsoft.com/office/powerpoint/2010/main" val="2953175661"/>
      </p:ext>
    </p:extLst>
  </p:cSld>
  <p:clrMapOvr>
    <a:masterClrMapping/>
  </p:clrMapOvr>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2</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55000" lnSpcReduction="20000"/>
          </a:bodyPr>
          <a:lstStyle/>
          <a:p>
            <a:pPr marL="0" indent="0">
              <a:buNone/>
            </a:pPr>
            <a:r>
              <a:rPr lang="en-NZ" noProof="0" dirty="0"/>
              <a:t>Explanation of component-speed/rpm sensing</a:t>
            </a:r>
          </a:p>
          <a:p>
            <a:pPr marL="0" indent="0">
              <a:buNone/>
            </a:pPr>
            <a:r>
              <a:rPr lang="en-NZ" dirty="0"/>
              <a:t>The speed and RPM tracking system uses digital Hall effect sensors with neodymium magnets attached to the rotating parts of the bike, including the clutches and rear wheel. When the magnet passes the sensor, it detects the change in the magnetic field and sends a digital signal (0V or 5V) to the Arduino. These signals are used by the Arduino to calculate the RPM of the drivetrain and the speed of the bike by measuring the time between each pulse.</a:t>
            </a:r>
          </a:p>
          <a:p>
            <a:pPr marL="0" indent="0">
              <a:buNone/>
            </a:pPr>
            <a:br>
              <a:rPr lang="en-US" dirty="0"/>
            </a:br>
            <a:endParaRPr lang="en-US" dirty="0"/>
          </a:p>
          <a:p>
            <a:pPr marL="0" indent="0">
              <a:buNone/>
            </a:pP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A 0.1µF smoothing capacitor was added between the signal and ground lines to reduce electrical noise and stabilise the sensor readings. After adding the capacitor, the Arduino received cleaner and more consistent signals, with no missed pulses or false readings during testing. This confirmed that the subsystem was working correctly and passed the test.</a:t>
            </a:r>
            <a:endParaRPr lang="en-NZ" noProof="0" dirty="0"/>
          </a:p>
        </p:txBody>
      </p:sp>
    </p:spTree>
    <p:extLst>
      <p:ext uri="{BB962C8B-B14F-4D97-AF65-F5344CB8AC3E}">
        <p14:creationId xmlns:p14="http://schemas.microsoft.com/office/powerpoint/2010/main" val="708745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Analysis Notes from Testing and Changes to be Made:</a:t>
            </a:r>
            <a:br>
              <a:rPr lang="en-NZ" dirty="0"/>
            </a:br>
            <a:r>
              <a:rPr lang="en-NZ" dirty="0"/>
              <a:t>The 0.1µF ceramic capacitor will be permanently added to the PCB near the sensor input pins to help reduce electrical noise and improve signal stability. For future versions, shielded twisted-pair cables could be used for external sensor connections to further reduce interference from the engine and other electrical components.</a:t>
            </a:r>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Reliability Notes from Testing:</a:t>
            </a:r>
            <a:br>
              <a:rPr lang="en-NZ" dirty="0"/>
            </a:br>
            <a:r>
              <a:rPr lang="en-NZ" dirty="0"/>
              <a:t>A 0.1µF decoupling capacitor was added between the signal line and ground before trial 5 to reduce electrical noise. After this change, the sensor readings became much more stable. During the remaining six trials, the sensor produced consistent results with no false triggers, showing that the system was reliable and repeatable.</a:t>
            </a:r>
          </a:p>
        </p:txBody>
      </p:sp>
    </p:spTree>
    <p:extLst>
      <p:ext uri="{BB962C8B-B14F-4D97-AF65-F5344CB8AC3E}">
        <p14:creationId xmlns:p14="http://schemas.microsoft.com/office/powerpoint/2010/main" val="10277772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3</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NZ" dirty="0"/>
              <a:t>The custom resistor voltage divider was chosen because it provides a simple and low-cost way to measure the battery voltage safely with the Arduino. The voltage divider reduces the higher battery voltage down to a 0-5V signal that the Arduino can read. A pre-built voltage sensor module was not used because it performs the same function but takes up more space and increases the cost of the system. A digital I2C ADC module was also unnecessary because the Arduino’s built-in ADC has enough accuracy for monitoring the battery level. A 0.1µF capacitor was added to reduce electrical noise from the motor and improve the stability of the voltage readings.</a:t>
            </a: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normAutofit fontScale="85000" lnSpcReduction="20000"/>
          </a:bodyPr>
          <a:lstStyle/>
          <a:p>
            <a:pPr marL="0" indent="0">
              <a:buNone/>
            </a:pPr>
            <a:r>
              <a:rPr lang="en-NZ" noProof="0" dirty="0"/>
              <a:t>Chosen</a:t>
            </a:r>
          </a:p>
          <a:p>
            <a:pPr marL="0" indent="0">
              <a:buNone/>
            </a:pPr>
            <a:r>
              <a:rPr lang="en-US" dirty="0"/>
              <a:t>Resistor Voltage Divider Circuit with a 0.1 </a:t>
            </a:r>
            <a:r>
              <a:rPr lang="en-US" dirty="0" err="1"/>
              <a:t>uf</a:t>
            </a:r>
            <a:r>
              <a:rPr lang="en-US" dirty="0"/>
              <a:t> filtering capacitor</a:t>
            </a: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None/>
            </a:pPr>
            <a:r>
              <a:rPr lang="en-NZ" dirty="0"/>
              <a:t>Dedicated Analog Voltage Sensor Module (</a:t>
            </a:r>
            <a:r>
              <a:rPr lang="en-NZ" dirty="0" err="1"/>
              <a:t>eg</a:t>
            </a:r>
            <a:r>
              <a:rPr lang="en-NZ" dirty="0"/>
              <a:t>, ZMPT101B or standard voltage sensor breakout).</a:t>
            </a:r>
            <a:r>
              <a:rPr lang="en-NZ" noProof="0" dirty="0"/>
              <a:t> </a:t>
            </a:r>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 </a:t>
            </a:r>
          </a:p>
          <a:p>
            <a:pPr marL="0" indent="0">
              <a:buNone/>
            </a:pPr>
            <a:r>
              <a:rPr lang="nn-NO" dirty="0"/>
              <a:t>Digital I2C Analog-to-Digital Converter (ADC) Module (eg, ADS1115 breakout).</a:t>
            </a:r>
            <a:endParaRPr lang="en-NZ" noProof="0" dirty="0"/>
          </a:p>
        </p:txBody>
      </p:sp>
    </p:spTree>
    <p:extLst>
      <p:ext uri="{BB962C8B-B14F-4D97-AF65-F5344CB8AC3E}">
        <p14:creationId xmlns:p14="http://schemas.microsoft.com/office/powerpoint/2010/main" val="7339618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a:t>
            </a:r>
            <a:r>
              <a:rPr lang="en-NZ" dirty="0"/>
              <a:t>3</a:t>
            </a:r>
            <a:endParaRPr lang="en-NZ" noProof="0" dirty="0"/>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70000" lnSpcReduction="20000"/>
          </a:bodyPr>
          <a:lstStyle/>
          <a:p>
            <a:pPr marL="0" indent="0">
              <a:buNone/>
            </a:pPr>
            <a:r>
              <a:rPr lang="en-NZ" noProof="0" dirty="0"/>
              <a:t>Explanation of component-dashboard</a:t>
            </a:r>
          </a:p>
          <a:p>
            <a:pPr marL="0" indent="0">
              <a:buNone/>
            </a:pPr>
            <a:r>
              <a:rPr lang="en-NZ" dirty="0"/>
              <a:t>The visual indicator system uses LEDs to provide the rider with quick information about the bike’s condition, such as low battery warnings or system errors. Each LED has a 1kΩ resistor connected in series to limit the current and protect both the LED and the Arduino output pins from damage. The Arduino controls the LEDs through its digital pins by switching them between HIGH and LOW states depending on the sensor information it receives.</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The purpose of this test was to check that the LED indicators could switch on and off correctly without causing issues for the Arduino pins or flickering during operation. The LED circuit was built with a 1kΩ resistor in series to limit current. During initial testing, the LEDs worked correctly, but electrical noise from the motor power system caused slight flickering. A 0.1µF capacitor was added to help smooth the signal and remove the fluctuations. After this change, the LEDs operated consistently through ten test cycles with no failures, confirming that the system passed.</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30917409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789263" y="4869118"/>
            <a:ext cx="10225548" cy="1623757"/>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a:t>
            </a:r>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Reliability Notes from Testing:</a:t>
            </a:r>
            <a:br>
              <a:rPr lang="en-NZ" dirty="0"/>
            </a:br>
            <a:r>
              <a:rPr lang="en-NZ" dirty="0"/>
              <a:t>The LED indicator circuit was tested through 10 switching cycles to check its reliability during operation. During the first three tests, the LEDs showed some flickering when the 800W motor was running, which was caused by electrical noise affecting the Arduino’s output signal. Before the fourth trial, a 0.1µF capacitor was added to smooth the output signal along with the 1kΩ current-limiting resistor. In the remaining seven tests, the LEDs operated consistently with no flickering or signal issues, showing that the changes improved the reliability of the system.</a:t>
            </a:r>
          </a:p>
          <a:p>
            <a:pPr marL="0" indent="0">
              <a:buNone/>
            </a:pPr>
            <a:endParaRPr lang="en-NZ" noProof="0" dirty="0"/>
          </a:p>
        </p:txBody>
      </p:sp>
    </p:spTree>
    <p:extLst>
      <p:ext uri="{BB962C8B-B14F-4D97-AF65-F5344CB8AC3E}">
        <p14:creationId xmlns:p14="http://schemas.microsoft.com/office/powerpoint/2010/main" val="32907951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a:t>
            </a:r>
            <a:r>
              <a:rPr lang="en-NZ" dirty="0"/>
              <a:t>4</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normAutofit fontScale="85000" lnSpcReduction="20000"/>
          </a:bodyPr>
          <a:lstStyle/>
          <a:p>
            <a:pPr marL="0" indent="0">
              <a:buNone/>
            </a:pPr>
            <a:r>
              <a:rPr lang="en-NZ" noProof="0" dirty="0"/>
              <a:t>Chosen</a:t>
            </a:r>
          </a:p>
          <a:p>
            <a:pPr marL="0" indent="0">
              <a:buNone/>
            </a:pPr>
            <a:r>
              <a:rPr lang="en-US" dirty="0"/>
              <a:t>Manual Lever-Operated Clutch with Electronic Position Sensor.</a:t>
            </a: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None/>
            </a:pPr>
            <a:r>
              <a:rPr lang="en-NZ" dirty="0"/>
              <a:t>Automatic Centrifugal Clutch Mechanism.</a:t>
            </a: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None/>
            </a:pPr>
            <a:r>
              <a:rPr lang="en-US" dirty="0"/>
              <a:t>Direct Drive System (No Clutch).</a:t>
            </a:r>
            <a:endParaRPr lang="en-NZ" noProof="0" dirty="0"/>
          </a:p>
        </p:txBody>
      </p:sp>
    </p:spTree>
    <p:extLst>
      <p:ext uri="{BB962C8B-B14F-4D97-AF65-F5344CB8AC3E}">
        <p14:creationId xmlns:p14="http://schemas.microsoft.com/office/powerpoint/2010/main" val="34636448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4</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62500" lnSpcReduction="20000"/>
          </a:bodyPr>
          <a:lstStyle/>
          <a:p>
            <a:pPr marL="0" indent="0">
              <a:buNone/>
            </a:pPr>
            <a:r>
              <a:rPr lang="en-NZ" noProof="0" dirty="0"/>
              <a:t>Explanation of component-electromagnetic clutch</a:t>
            </a:r>
          </a:p>
          <a:p>
            <a:pPr marL="0" indent="0">
              <a:buNone/>
            </a:pPr>
            <a:r>
              <a:rPr lang="en-NZ" dirty="0"/>
              <a:t>The clutch system is used to connect and disconnect the 800W electric motor from the drivetrain. It uses a mechanical clutch mechanism controlled by a lever, with a sensor attached to detect when the clutch is being used. When the rider pulls the lever, the clutch disengages the motor from the drivetrain, allowing the motor to be safely disconnected. The sensor sends this information to the Arduino, allowing it to stop motor assistance and adjust the system accordingly.</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The purpose of this test was to check that the manual clutch could reliably engage and disengage the 800W motor from the drivetrain. The clutch was connected to the motor system and tested under load to ensure it could separate the drive components correctly. Initial testing showed some resistance in the lever mechanism, causing the clutch plates to separate slowly. The linkage was cleaned, adjusted, and lubricated to fix this issue. After these changes, the clutch successfully completed ten engagement and disengagement tests without slipping, confirming that it worked correctly.</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23806975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Analysis Notes from Testing and Changes to be Made:</a:t>
            </a:r>
            <a:br>
              <a:rPr lang="en-NZ" dirty="0"/>
            </a:br>
            <a:r>
              <a:rPr lang="en-NZ" dirty="0"/>
              <a:t>Testing showed that the high torque produced by the 800W motor puts significant load on the clutch assembly, making correct alignment important for reliable operation. Small amounts of misalignment can cause extra stress and increased wear on the drivetrain components. To improve the strength and reliability of the system, a custom sleeve will be manufactured to act as a central alignment piece. This will help keep the clutch and drivetrain components correctly positioned, reducing movement and improving long-term durability.</a:t>
            </a: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a:t>
            </a:r>
          </a:p>
          <a:p>
            <a:pPr marL="0" indent="0">
              <a:buNone/>
            </a:pPr>
            <a:r>
              <a:rPr lang="en-US" dirty="0"/>
              <a:t>Manual clutch assembly stress trials revealed initial instability and wobble, which were corrected by manually aligning the central hub to ensure proper clearance. Following this adjustment, the system demonstrated consistent, reliable performance throughout the remaining tests without mechanical failure.</a:t>
            </a:r>
            <a:endParaRPr lang="en-NZ"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13249611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31A39-8EBC-4C64-E2A9-B136F0E6ACF8}"/>
              </a:ext>
            </a:extLst>
          </p:cNvPr>
          <p:cNvSpPr>
            <a:spLocks noGrp="1"/>
          </p:cNvSpPr>
          <p:nvPr>
            <p:ph type="title"/>
          </p:nvPr>
        </p:nvSpPr>
        <p:spPr>
          <a:solidFill>
            <a:srgbClr val="FF5050"/>
          </a:solidFill>
        </p:spPr>
        <p:txBody>
          <a:bodyPr/>
          <a:lstStyle/>
          <a:p>
            <a:r>
              <a:rPr lang="en-NZ" dirty="0"/>
              <a:t>Final Outcome, Before Testing</a:t>
            </a:r>
          </a:p>
        </p:txBody>
      </p:sp>
      <p:sp>
        <p:nvSpPr>
          <p:cNvPr id="3" name="Content Placeholder 2">
            <a:extLst>
              <a:ext uri="{FF2B5EF4-FFF2-40B4-BE49-F238E27FC236}">
                <a16:creationId xmlns:a16="http://schemas.microsoft.com/office/drawing/2014/main" id="{C72A0CE0-5AE0-CAD3-C4C6-81694DF4EFBC}"/>
              </a:ext>
            </a:extLst>
          </p:cNvPr>
          <p:cNvSpPr>
            <a:spLocks noGrp="1"/>
          </p:cNvSpPr>
          <p:nvPr>
            <p:ph idx="1"/>
          </p:nvPr>
        </p:nvSpPr>
        <p:spPr>
          <a:solidFill>
            <a:srgbClr val="FFCCCC"/>
          </a:solidFill>
        </p:spPr>
        <p:txBody>
          <a:bodyPr/>
          <a:lstStyle/>
          <a:p>
            <a:pPr marL="0" indent="0">
              <a:buNone/>
            </a:pPr>
            <a:r>
              <a:rPr lang="en-NZ" dirty="0"/>
              <a:t>Include a screenshot/video of the final outcome working before </a:t>
            </a:r>
            <a:r>
              <a:rPr lang="en-NZ"/>
              <a:t>testing here</a:t>
            </a:r>
          </a:p>
          <a:p>
            <a:pPr marL="0" indent="0">
              <a:buNone/>
            </a:pPr>
            <a:endParaRPr lang="en-NZ" dirty="0"/>
          </a:p>
        </p:txBody>
      </p:sp>
    </p:spTree>
    <p:extLst>
      <p:ext uri="{BB962C8B-B14F-4D97-AF65-F5344CB8AC3E}">
        <p14:creationId xmlns:p14="http://schemas.microsoft.com/office/powerpoint/2010/main" val="29589822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122C3-DA0F-3AD2-E281-79AA20F8162C}"/>
              </a:ext>
            </a:extLst>
          </p:cNvPr>
          <p:cNvSpPr>
            <a:spLocks noGrp="1"/>
          </p:cNvSpPr>
          <p:nvPr>
            <p:ph type="title"/>
          </p:nvPr>
        </p:nvSpPr>
        <p:spPr>
          <a:solidFill>
            <a:schemeClr val="accent6">
              <a:lumMod val="40000"/>
              <a:lumOff val="60000"/>
            </a:schemeClr>
          </a:solidFill>
        </p:spPr>
        <p:txBody>
          <a:bodyPr/>
          <a:lstStyle/>
          <a:p>
            <a:r>
              <a:rPr lang="en-NZ" noProof="0" dirty="0"/>
              <a:t>Iteration of Development</a:t>
            </a:r>
          </a:p>
        </p:txBody>
      </p:sp>
      <p:sp>
        <p:nvSpPr>
          <p:cNvPr id="3" name="Content Placeholder 2">
            <a:extLst>
              <a:ext uri="{FF2B5EF4-FFF2-40B4-BE49-F238E27FC236}">
                <a16:creationId xmlns:a16="http://schemas.microsoft.com/office/drawing/2014/main" id="{42CC82DB-ADCC-6B9B-6B86-C4BA2CC7A228}"/>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on reliability and functionality of the system:</a:t>
            </a:r>
          </a:p>
        </p:txBody>
      </p:sp>
      <p:sp>
        <p:nvSpPr>
          <p:cNvPr id="4" name="Content Placeholder 2">
            <a:extLst>
              <a:ext uri="{FF2B5EF4-FFF2-40B4-BE49-F238E27FC236}">
                <a16:creationId xmlns:a16="http://schemas.microsoft.com/office/drawing/2014/main" id="{5A500152-C527-1813-62FC-FA1AC31145DD}"/>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5483784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17F74F-859F-B048-3AAF-AC6611F9A4FD}"/>
              </a:ext>
            </a:extLst>
          </p:cNvPr>
          <p:cNvSpPr>
            <a:spLocks noGrp="1"/>
          </p:cNvSpPr>
          <p:nvPr>
            <p:ph type="ctrTitle"/>
          </p:nvPr>
        </p:nvSpPr>
        <p:spPr/>
        <p:txBody>
          <a:bodyPr/>
          <a:lstStyle/>
          <a:p>
            <a:r>
              <a:rPr lang="en-NZ" noProof="0" dirty="0"/>
              <a:t>Testing and Debugging</a:t>
            </a:r>
          </a:p>
        </p:txBody>
      </p:sp>
      <p:sp>
        <p:nvSpPr>
          <p:cNvPr id="5" name="Subtitle 4">
            <a:extLst>
              <a:ext uri="{FF2B5EF4-FFF2-40B4-BE49-F238E27FC236}">
                <a16:creationId xmlns:a16="http://schemas.microsoft.com/office/drawing/2014/main" id="{F00B0B72-A873-F49A-39ED-F80EF8712470}"/>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9011346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686A53-61F8-FFEC-036E-DC7EB8729098}"/>
              </a:ext>
            </a:extLst>
          </p:cNvPr>
          <p:cNvSpPr>
            <a:spLocks noGrp="1"/>
          </p:cNvSpPr>
          <p:nvPr>
            <p:ph type="title"/>
          </p:nvPr>
        </p:nvSpPr>
        <p:spPr>
          <a:solidFill>
            <a:srgbClr val="FF5050"/>
          </a:solidFill>
        </p:spPr>
        <p:txBody>
          <a:bodyPr/>
          <a:lstStyle/>
          <a:p>
            <a:r>
              <a:rPr lang="en-NZ" noProof="0" dirty="0"/>
              <a:t>Testing for functionality</a:t>
            </a:r>
          </a:p>
        </p:txBody>
      </p:sp>
      <p:graphicFrame>
        <p:nvGraphicFramePr>
          <p:cNvPr id="4" name="Table 3">
            <a:extLst>
              <a:ext uri="{FF2B5EF4-FFF2-40B4-BE49-F238E27FC236}">
                <a16:creationId xmlns:a16="http://schemas.microsoft.com/office/drawing/2014/main" id="{F61ED25F-F8C6-770A-0FAD-E0AAB8D900DA}"/>
              </a:ext>
            </a:extLst>
          </p:cNvPr>
          <p:cNvGraphicFramePr>
            <a:graphicFrameLocks noGrp="1"/>
          </p:cNvGraphicFramePr>
          <p:nvPr>
            <p:extLst>
              <p:ext uri="{D42A27DB-BD31-4B8C-83A1-F6EECF244321}">
                <p14:modId xmlns:p14="http://schemas.microsoft.com/office/powerpoint/2010/main" val="3393806545"/>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Project Specification</a:t>
                      </a:r>
                    </a:p>
                  </a:txBody>
                  <a:tcPr>
                    <a:solidFill>
                      <a:srgbClr val="FF5050"/>
                    </a:solidFill>
                  </a:tcPr>
                </a:tc>
                <a:tc>
                  <a:txBody>
                    <a:bodyPr/>
                    <a:lstStyle/>
                    <a:p>
                      <a:r>
                        <a:rPr lang="en-NZ" noProof="0" dirty="0"/>
                        <a:t>Test</a:t>
                      </a:r>
                    </a:p>
                  </a:txBody>
                  <a:tcPr>
                    <a:solidFill>
                      <a:srgbClr val="FF5050"/>
                    </a:solidFill>
                  </a:tcPr>
                </a:tc>
                <a:tc>
                  <a:txBody>
                    <a:bodyPr/>
                    <a:lstStyle/>
                    <a:p>
                      <a:r>
                        <a:rPr lang="en-NZ" noProof="0" dirty="0"/>
                        <a:t>Issues to be fixed, debugging, Notes</a:t>
                      </a:r>
                    </a:p>
                  </a:txBody>
                  <a:tcPr>
                    <a:solidFill>
                      <a:srgbClr val="FF5050"/>
                    </a:solidFill>
                  </a:tcPr>
                </a:tc>
                <a:extLst>
                  <a:ext uri="{0D108BD9-81ED-4DB2-BD59-A6C34878D82A}">
                    <a16:rowId xmlns:a16="http://schemas.microsoft.com/office/drawing/2014/main" val="282365306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
        <p:nvSpPr>
          <p:cNvPr id="6" name="TextBox 5">
            <a:extLst>
              <a:ext uri="{FF2B5EF4-FFF2-40B4-BE49-F238E27FC236}">
                <a16:creationId xmlns:a16="http://schemas.microsoft.com/office/drawing/2014/main" id="{5BAC52E2-2C3C-BC90-EF54-64DBDDEEF08B}"/>
              </a:ext>
            </a:extLst>
          </p:cNvPr>
          <p:cNvSpPr txBox="1"/>
          <p:nvPr/>
        </p:nvSpPr>
        <p:spPr>
          <a:xfrm>
            <a:off x="274290" y="6080458"/>
            <a:ext cx="11406432" cy="584775"/>
          </a:xfrm>
          <a:prstGeom prst="rect">
            <a:avLst/>
          </a:prstGeom>
          <a:noFill/>
        </p:spPr>
        <p:txBody>
          <a:bodyPr wrap="square">
            <a:spAutoFit/>
          </a:bodyPr>
          <a:lstStyle/>
          <a:p>
            <a:r>
              <a:rPr lang="en-NZ" sz="1600" noProof="0" dirty="0"/>
              <a:t>Examples of testing, modifying and debugging include: using testing devices and testing strategies, testing expected, boundary and invalid inputs, changing board layout, improving component selection. </a:t>
            </a:r>
            <a:r>
              <a:rPr lang="en-NZ" sz="1600" b="1" noProof="0" dirty="0"/>
              <a:t>You may test as you go</a:t>
            </a:r>
          </a:p>
        </p:txBody>
      </p:sp>
    </p:spTree>
    <p:extLst>
      <p:ext uri="{BB962C8B-B14F-4D97-AF65-F5344CB8AC3E}">
        <p14:creationId xmlns:p14="http://schemas.microsoft.com/office/powerpoint/2010/main" val="11829003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C6662-2585-4ECB-7C1E-AAA5D4E70521}"/>
              </a:ext>
            </a:extLst>
          </p:cNvPr>
          <p:cNvSpPr>
            <a:spLocks noGrp="1"/>
          </p:cNvSpPr>
          <p:nvPr>
            <p:ph type="title"/>
          </p:nvPr>
        </p:nvSpPr>
        <p:spPr/>
        <p:txBody>
          <a:bodyPr/>
          <a:lstStyle/>
          <a:p>
            <a:r>
              <a:rPr lang="en-NZ" noProof="0" dirty="0"/>
              <a:t>Testing for reliability</a:t>
            </a:r>
          </a:p>
        </p:txBody>
      </p:sp>
      <p:graphicFrame>
        <p:nvGraphicFramePr>
          <p:cNvPr id="6" name="Table 5">
            <a:extLst>
              <a:ext uri="{FF2B5EF4-FFF2-40B4-BE49-F238E27FC236}">
                <a16:creationId xmlns:a16="http://schemas.microsoft.com/office/drawing/2014/main" id="{613A281D-E603-3C09-229D-4F4B7BF80DC1}"/>
              </a:ext>
            </a:extLst>
          </p:cNvPr>
          <p:cNvGraphicFramePr>
            <a:graphicFrameLocks noGrp="1"/>
          </p:cNvGraphicFramePr>
          <p:nvPr>
            <p:extLst>
              <p:ext uri="{D42A27DB-BD31-4B8C-83A1-F6EECF244321}">
                <p14:modId xmlns:p14="http://schemas.microsoft.com/office/powerpoint/2010/main" val="3787679186"/>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solidFill>
                            <a:schemeClr val="tx1"/>
                          </a:solidFill>
                        </a:rPr>
                        <a:t>Potential problem, original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Test and change for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Issues to be fixed, debugging, Notes</a:t>
                      </a:r>
                    </a:p>
                  </a:txBody>
                  <a:tcPr>
                    <a:lnB w="12700" cap="flat" cmpd="sng" algn="ctr">
                      <a:solidFill>
                        <a:schemeClr val="tx1"/>
                      </a:solidFill>
                      <a:prstDash val="solid"/>
                      <a:round/>
                      <a:headEnd type="none" w="med" len="med"/>
                      <a:tailEnd type="none" w="med" len="med"/>
                    </a:lnB>
                    <a:solidFill>
                      <a:srgbClr val="FFFF99"/>
                    </a:solidFill>
                  </a:tcPr>
                </a:tc>
                <a:extLst>
                  <a:ext uri="{0D108BD9-81ED-4DB2-BD59-A6C34878D82A}">
                    <a16:rowId xmlns:a16="http://schemas.microsoft.com/office/drawing/2014/main" val="282365306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120864744"/>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570688745"/>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68672831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37138593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6D362-3543-DD4C-FC34-7275B256AC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95E1F7-B585-9982-CC75-E7379A9C4248}"/>
              </a:ext>
            </a:extLst>
          </p:cNvPr>
          <p:cNvSpPr>
            <a:spLocks noGrp="1"/>
          </p:cNvSpPr>
          <p:nvPr>
            <p:ph type="title"/>
          </p:nvPr>
        </p:nvSpPr>
        <p:spPr>
          <a:solidFill>
            <a:schemeClr val="accent6">
              <a:lumMod val="40000"/>
              <a:lumOff val="60000"/>
            </a:schemeClr>
          </a:solidFill>
        </p:spPr>
        <p:txBody>
          <a:bodyPr/>
          <a:lstStyle/>
          <a:p>
            <a:r>
              <a:rPr lang="en-NZ" noProof="0" dirty="0"/>
              <a:t>Iteration after testing</a:t>
            </a:r>
          </a:p>
        </p:txBody>
      </p:sp>
      <p:sp>
        <p:nvSpPr>
          <p:cNvPr id="3" name="Content Placeholder 2">
            <a:extLst>
              <a:ext uri="{FF2B5EF4-FFF2-40B4-BE49-F238E27FC236}">
                <a16:creationId xmlns:a16="http://schemas.microsoft.com/office/drawing/2014/main" id="{5A1D233B-220B-493E-C461-4F4088BAB28F}"/>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a:t>
            </a:r>
            <a:r>
              <a:rPr lang="en-NZ" noProof="0"/>
              <a:t>after testing:</a:t>
            </a:r>
            <a:endParaRPr lang="en-NZ" noProof="0" dirty="0"/>
          </a:p>
        </p:txBody>
      </p:sp>
      <p:sp>
        <p:nvSpPr>
          <p:cNvPr id="4" name="Content Placeholder 2">
            <a:extLst>
              <a:ext uri="{FF2B5EF4-FFF2-40B4-BE49-F238E27FC236}">
                <a16:creationId xmlns:a16="http://schemas.microsoft.com/office/drawing/2014/main" id="{699A2878-C266-8972-451C-90B30E57A1FB}"/>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8304955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3348783e-0638-4a30-9f7a-26b4cfbb0058}" enabled="0" method="" siteId="{3348783e-0638-4a30-9f7a-26b4cfbb0058}" removed="1"/>
</clbl:labelList>
</file>

<file path=docProps/app.xml><?xml version="1.0" encoding="utf-8"?>
<Properties xmlns="http://schemas.openxmlformats.org/officeDocument/2006/extended-properties" xmlns:vt="http://schemas.openxmlformats.org/officeDocument/2006/docPropsVTypes">
  <TotalTime>1005</TotalTime>
  <Words>2901</Words>
  <Application>Microsoft Office PowerPoint</Application>
  <PresentationFormat>Widescreen</PresentationFormat>
  <Paragraphs>160</Paragraphs>
  <Slides>28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Aptos</vt:lpstr>
      <vt:lpstr>Aptos Display</vt:lpstr>
      <vt:lpstr>Arial</vt:lpstr>
      <vt:lpstr>Office Theme</vt:lpstr>
      <vt:lpstr>AS91904 Electronics Outcome</vt:lpstr>
      <vt:lpstr>Project Details</vt:lpstr>
      <vt:lpstr>Techniques used</vt:lpstr>
      <vt:lpstr>Relevant Implications</vt:lpstr>
      <vt:lpstr>Original Design</vt:lpstr>
      <vt:lpstr>Behaviour and function</vt:lpstr>
      <vt:lpstr>PowerPoint Presentation</vt:lpstr>
      <vt:lpstr>Explaining relevant communication protocols</vt:lpstr>
      <vt:lpstr>Iterated Design</vt:lpstr>
      <vt:lpstr>Components and Systems</vt:lpstr>
      <vt:lpstr>Choice of Component/System 1: controller</vt:lpstr>
      <vt:lpstr>Component/System 1</vt:lpstr>
      <vt:lpstr>Reliability Testing</vt:lpstr>
      <vt:lpstr>Choice of Component/System 2</vt:lpstr>
      <vt:lpstr>Component/System 2</vt:lpstr>
      <vt:lpstr>Reliability Testing</vt:lpstr>
      <vt:lpstr>Choice of Component/System 3</vt:lpstr>
      <vt:lpstr>Component/System 3</vt:lpstr>
      <vt:lpstr>Reliability Testing</vt:lpstr>
      <vt:lpstr>Choice of Component/System 4</vt:lpstr>
      <vt:lpstr>Component/System 4</vt:lpstr>
      <vt:lpstr>Reliability Testing</vt:lpstr>
      <vt:lpstr>Final Outcome, Before Testing</vt:lpstr>
      <vt:lpstr>Iteration of Development</vt:lpstr>
      <vt:lpstr>Testing and Debugging</vt:lpstr>
      <vt:lpstr>Testing for functionality</vt:lpstr>
      <vt:lpstr>Testing for reliability</vt:lpstr>
      <vt:lpstr>Iteration after testing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AS91904 Electronics Outcome</dc:title>
  <dc:creator>Mark Sutherland</dc:creator>
  <cp:lastModifiedBy>Heinrich Venter</cp:lastModifiedBy>
  <cp:revision>3</cp:revision>
  <dcterms:created xsi:type="dcterms:W3CDTF">2025-11-11T22:30:20Z</dcterms:created>
  <dcterms:modified xsi:type="dcterms:W3CDTF">2026-07-19T07:49:20Z</dcterms:modified>
</cp:coreProperties>
</file>